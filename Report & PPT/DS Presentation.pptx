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6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00CC99"/>
    <a:srgbClr val="000099"/>
    <a:srgbClr val="FF7C80"/>
    <a:srgbClr val="996633"/>
    <a:srgbClr val="00FFCC"/>
    <a:srgbClr val="FF66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 autoAdjust="0"/>
    <p:restoredTop sz="94660"/>
  </p:normalViewPr>
  <p:slideViewPr>
    <p:cSldViewPr snapToGrid="0">
      <p:cViewPr varScale="1">
        <p:scale>
          <a:sx n="48" d="100"/>
          <a:sy n="48" d="100"/>
        </p:scale>
        <p:origin x="53" y="10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3FEEA-7EF8-4B4F-B647-AD5DE229E75B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9EBBD-D052-4B1B-97A1-FED2D203A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50551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21C35-106D-45D2-98A3-D27A656E76DB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554F3-B0BD-42B2-A7DD-86BA5FCB81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83174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13962-4865-4228-81E3-00D3CFBC0BFA}" type="datetime1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8300" y="6445250"/>
            <a:ext cx="2743200" cy="365125"/>
          </a:xfrm>
        </p:spPr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172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9816-9E0E-4378-B675-9EC54FD6E1EE}" type="datetime1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273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0435-5393-459B-B8D1-48E7839C38C5}" type="datetime1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543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6B79-AEBC-4F2D-871B-4F95F7AD7A80}" type="datetime1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643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545F7-ABF2-4D18-ACD2-7BD0A8EF4B83}" type="datetime1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33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66FB-CD15-47C6-89EF-F7FE10D1EED8}" type="datetime1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89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808B-F1D3-4175-85AD-E8FCCDE72517}" type="datetime1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769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C0D1-6746-44E2-8941-ACBF328B313B}" type="datetime1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092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EB3B-693B-49EE-AD0C-7C04F31CDB5B}" type="datetime1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721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663D-5144-4E9D-ACC1-AE116A0B35F1}" type="datetime1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193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2366-8802-4337-B04F-63ED80D84AF4}" type="datetime1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85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04D1D-AFCB-4734-808E-3BDFE7C445A8}" type="datetime1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38A635C9-4A98-4745-BD96-9D0E32025E6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77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4232" y="2966411"/>
            <a:ext cx="12192000" cy="707886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IN" altLang="ko-KR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districtwise-sll-crimes-2017-onwards</a:t>
            </a:r>
            <a:endParaRPr lang="ko-KR" altLang="en-US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2798011" y="5632528"/>
            <a:ext cx="657982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Symbiosis Institute of Technology, Nagpur Campus</a:t>
            </a:r>
            <a:endParaRPr lang="ko-KR" altLang="en-US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1133105" y="1565205"/>
            <a:ext cx="985356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DS Presentation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2914170" y="3991692"/>
            <a:ext cx="6390099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Alakshendra Pratap Singh</a:t>
            </a:r>
          </a:p>
          <a:p>
            <a:pPr algn="ctr"/>
            <a:r>
              <a:rPr lang="en-US" altLang="ko-KR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Sem: 7th</a:t>
            </a:r>
          </a:p>
          <a:p>
            <a:pPr algn="ctr"/>
            <a:r>
              <a:rPr lang="en-US" altLang="ko-KR" sz="20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Under the guidance of </a:t>
            </a:r>
          </a:p>
          <a:p>
            <a:pPr algn="ctr"/>
            <a:r>
              <a:rPr lang="en-US" altLang="ko-KR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Dr. Piyush Chauhan</a:t>
            </a:r>
          </a:p>
        </p:txBody>
      </p:sp>
      <p:grpSp>
        <p:nvGrpSpPr>
          <p:cNvPr id="85" name="Group 84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5B2E5E-F1FB-4B49-A15E-DFC13B08436B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65E93E9-4624-4300-9736-8AD2206DEEDC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C028FEAF-D49A-46B9-89E4-097BE7C65526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3D876396-B2E8-4260-95F0-7F807CEBB336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E54FF9D1-6089-4D74-8D8E-6D1177695082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C588BD84-AC78-42E3-8E80-878DF5182085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ED1FACAF-51FC-4BC7-B86A-37A0AE818A30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A1F696F5-C936-4257-ABAE-CFB663A4F5B9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2E7360DC-5C0F-466D-84A8-E0EE6E3AB0F1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08DE8446-7C37-470B-9371-440B4896B7BB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79F2E292-A6A3-445D-9144-E683946C0A17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E1355B59-DD0D-4CAB-945D-A12DD9E80FEC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791E57E2-15BD-41FF-A3AD-FEF3ACD07BAD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ACC6ABAB-5C29-44A4-B49A-A3C7C7F7BCBE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4A71DD83-8022-4143-A93D-17DDAFFAB86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01418661-1F77-4FAD-B4FD-28B2B041E7F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D05CCC8A-C19B-40FE-BEEF-912A84A1EF92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95FBCACE-24A6-48D1-B13B-8F9FE1203886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12CB76F8-C735-44B5-9A98-9F2B9379252C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555127DA-3EE1-42DE-BA8E-69E101C286EB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C2C10520-9F80-4BE2-B993-5B905B809DE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EDB92882-0CF1-413E-8743-7A1E01EF2B8A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0932F542-36CC-4138-A432-576700346F8C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3B6B041A-5F1A-40C1-9584-D5563AB6A193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3C697974-1EFD-497C-8F1B-DEAA82EB7A7C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C5C2CAB8-8604-4E04-9F23-99A720B6CD62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78959DD7-B4AB-4F69-BB5B-9840CF94E3CA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A7EB0FDD-9AD7-4386-8559-CE3745BCEC8C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EABA9570-C479-4F46-AD41-88F10E265791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696970B8-F5CB-412E-8251-9AF0578354D0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3D00D20E-2B63-4792-A233-43481FD84B2F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7873ECCA-6F31-4A69-856A-82645EA1C11F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2821AFFC-1334-4BF1-A96A-FBE5CE0E32B4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DFA386D3-FCFC-4630-B8F1-3144BCEA5BF3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53EF3BC0-98DA-4218-B9E8-F47FA1C11F36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67645674-65CD-4C60-AE13-2D7A5DFAF5C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91FC57F3-C93D-4A02-AA2A-37F81573623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65E93E9-4624-4300-9736-8AD2206DEEDC}"/>
              </a:ext>
            </a:extLst>
          </p:cNvPr>
          <p:cNvGrpSpPr/>
          <p:nvPr/>
        </p:nvGrpSpPr>
        <p:grpSpPr>
          <a:xfrm>
            <a:off x="450920" y="6490548"/>
            <a:ext cx="4247655" cy="273466"/>
            <a:chOff x="4366684" y="2926127"/>
            <a:chExt cx="3278335" cy="2571063"/>
          </a:xfrm>
        </p:grpSpPr>
        <p:sp>
          <p:nvSpPr>
            <p:cNvPr id="196" name="Freeform: Shape 4">
              <a:extLst>
                <a:ext uri="{FF2B5EF4-FFF2-40B4-BE49-F238E27FC236}">
                  <a16:creationId xmlns:a16="http://schemas.microsoft.com/office/drawing/2014/main" id="{C028FEAF-D49A-46B9-89E4-097BE7C65526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7" name="Freeform: Shape 5">
              <a:extLst>
                <a:ext uri="{FF2B5EF4-FFF2-40B4-BE49-F238E27FC236}">
                  <a16:creationId xmlns:a16="http://schemas.microsoft.com/office/drawing/2014/main" id="{3D876396-B2E8-4260-95F0-7F807CEBB336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8" name="Freeform: Shape 6">
              <a:extLst>
                <a:ext uri="{FF2B5EF4-FFF2-40B4-BE49-F238E27FC236}">
                  <a16:creationId xmlns:a16="http://schemas.microsoft.com/office/drawing/2014/main" id="{E54FF9D1-6089-4D74-8D8E-6D1177695082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9" name="Freeform: Shape 7">
              <a:extLst>
                <a:ext uri="{FF2B5EF4-FFF2-40B4-BE49-F238E27FC236}">
                  <a16:creationId xmlns:a16="http://schemas.microsoft.com/office/drawing/2014/main" id="{C588BD84-AC78-42E3-8E80-878DF5182085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0" name="Freeform: Shape 8">
              <a:extLst>
                <a:ext uri="{FF2B5EF4-FFF2-40B4-BE49-F238E27FC236}">
                  <a16:creationId xmlns:a16="http://schemas.microsoft.com/office/drawing/2014/main" id="{ED1FACAF-51FC-4BC7-B86A-37A0AE818A30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1" name="Freeform: Shape 9">
              <a:extLst>
                <a:ext uri="{FF2B5EF4-FFF2-40B4-BE49-F238E27FC236}">
                  <a16:creationId xmlns:a16="http://schemas.microsoft.com/office/drawing/2014/main" id="{A1F696F5-C936-4257-ABAE-CFB663A4F5B9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2" name="Freeform: Shape 10">
              <a:extLst>
                <a:ext uri="{FF2B5EF4-FFF2-40B4-BE49-F238E27FC236}">
                  <a16:creationId xmlns:a16="http://schemas.microsoft.com/office/drawing/2014/main" id="{2E7360DC-5C0F-466D-84A8-E0EE6E3AB0F1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3" name="Freeform: Shape 11">
              <a:extLst>
                <a:ext uri="{FF2B5EF4-FFF2-40B4-BE49-F238E27FC236}">
                  <a16:creationId xmlns:a16="http://schemas.microsoft.com/office/drawing/2014/main" id="{08DE8446-7C37-470B-9371-440B4896B7BB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4" name="Freeform: Shape 12">
              <a:extLst>
                <a:ext uri="{FF2B5EF4-FFF2-40B4-BE49-F238E27FC236}">
                  <a16:creationId xmlns:a16="http://schemas.microsoft.com/office/drawing/2014/main" id="{79F2E292-A6A3-445D-9144-E683946C0A17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" name="Freeform: Shape 13">
              <a:extLst>
                <a:ext uri="{FF2B5EF4-FFF2-40B4-BE49-F238E27FC236}">
                  <a16:creationId xmlns:a16="http://schemas.microsoft.com/office/drawing/2014/main" id="{E1355B59-DD0D-4CAB-945D-A12DD9E80FEC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6" name="Freeform: Shape 14">
              <a:extLst>
                <a:ext uri="{FF2B5EF4-FFF2-40B4-BE49-F238E27FC236}">
                  <a16:creationId xmlns:a16="http://schemas.microsoft.com/office/drawing/2014/main" id="{791E57E2-15BD-41FF-A3AD-FEF3ACD07BAD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7" name="Freeform: Shape 15">
              <a:extLst>
                <a:ext uri="{FF2B5EF4-FFF2-40B4-BE49-F238E27FC236}">
                  <a16:creationId xmlns:a16="http://schemas.microsoft.com/office/drawing/2014/main" id="{ACC6ABAB-5C29-44A4-B49A-A3C7C7F7BCBE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8" name="Freeform: Shape 16">
              <a:extLst>
                <a:ext uri="{FF2B5EF4-FFF2-40B4-BE49-F238E27FC236}">
                  <a16:creationId xmlns:a16="http://schemas.microsoft.com/office/drawing/2014/main" id="{4A71DD83-8022-4143-A93D-17DDAFFAB864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9" name="Freeform: Shape 17">
              <a:extLst>
                <a:ext uri="{FF2B5EF4-FFF2-40B4-BE49-F238E27FC236}">
                  <a16:creationId xmlns:a16="http://schemas.microsoft.com/office/drawing/2014/main" id="{01418661-1F77-4FAD-B4FD-28B2B041E7F8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0" name="Freeform: Shape 18">
              <a:extLst>
                <a:ext uri="{FF2B5EF4-FFF2-40B4-BE49-F238E27FC236}">
                  <a16:creationId xmlns:a16="http://schemas.microsoft.com/office/drawing/2014/main" id="{D05CCC8A-C19B-40FE-BEEF-912A84A1EF92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1" name="Freeform: Shape 19">
              <a:extLst>
                <a:ext uri="{FF2B5EF4-FFF2-40B4-BE49-F238E27FC236}">
                  <a16:creationId xmlns:a16="http://schemas.microsoft.com/office/drawing/2014/main" id="{95FBCACE-24A6-48D1-B13B-8F9FE120388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2" name="Freeform: Shape 20">
              <a:extLst>
                <a:ext uri="{FF2B5EF4-FFF2-40B4-BE49-F238E27FC236}">
                  <a16:creationId xmlns:a16="http://schemas.microsoft.com/office/drawing/2014/main" id="{12CB76F8-C735-44B5-9A98-9F2B9379252C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3" name="Freeform: Shape 21">
              <a:extLst>
                <a:ext uri="{FF2B5EF4-FFF2-40B4-BE49-F238E27FC236}">
                  <a16:creationId xmlns:a16="http://schemas.microsoft.com/office/drawing/2014/main" id="{555127DA-3EE1-42DE-BA8E-69E101C286EB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4" name="Freeform: Shape 22">
              <a:extLst>
                <a:ext uri="{FF2B5EF4-FFF2-40B4-BE49-F238E27FC236}">
                  <a16:creationId xmlns:a16="http://schemas.microsoft.com/office/drawing/2014/main" id="{C2C10520-9F80-4BE2-B993-5B905B809DE6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5" name="Freeform: Shape 23">
              <a:extLst>
                <a:ext uri="{FF2B5EF4-FFF2-40B4-BE49-F238E27FC236}">
                  <a16:creationId xmlns:a16="http://schemas.microsoft.com/office/drawing/2014/main" id="{EDB92882-0CF1-413E-8743-7A1E01EF2B8A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6" name="Freeform: Shape 24">
              <a:extLst>
                <a:ext uri="{FF2B5EF4-FFF2-40B4-BE49-F238E27FC236}">
                  <a16:creationId xmlns:a16="http://schemas.microsoft.com/office/drawing/2014/main" id="{0932F542-36CC-4138-A432-576700346F8C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7" name="Freeform: Shape 25">
              <a:extLst>
                <a:ext uri="{FF2B5EF4-FFF2-40B4-BE49-F238E27FC236}">
                  <a16:creationId xmlns:a16="http://schemas.microsoft.com/office/drawing/2014/main" id="{3B6B041A-5F1A-40C1-9584-D5563AB6A193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8" name="Freeform: Shape 26">
              <a:extLst>
                <a:ext uri="{FF2B5EF4-FFF2-40B4-BE49-F238E27FC236}">
                  <a16:creationId xmlns:a16="http://schemas.microsoft.com/office/drawing/2014/main" id="{3C697974-1EFD-497C-8F1B-DEAA82EB7A7C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9" name="Freeform: Shape 27">
              <a:extLst>
                <a:ext uri="{FF2B5EF4-FFF2-40B4-BE49-F238E27FC236}">
                  <a16:creationId xmlns:a16="http://schemas.microsoft.com/office/drawing/2014/main" id="{C5C2CAB8-8604-4E04-9F23-99A720B6CD62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0" name="Freeform: Shape 28">
              <a:extLst>
                <a:ext uri="{FF2B5EF4-FFF2-40B4-BE49-F238E27FC236}">
                  <a16:creationId xmlns:a16="http://schemas.microsoft.com/office/drawing/2014/main" id="{78959DD7-B4AB-4F69-BB5B-9840CF94E3CA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1" name="Freeform: Shape 29">
              <a:extLst>
                <a:ext uri="{FF2B5EF4-FFF2-40B4-BE49-F238E27FC236}">
                  <a16:creationId xmlns:a16="http://schemas.microsoft.com/office/drawing/2014/main" id="{A7EB0FDD-9AD7-4386-8559-CE3745BCEC8C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2" name="Freeform: Shape 30">
              <a:extLst>
                <a:ext uri="{FF2B5EF4-FFF2-40B4-BE49-F238E27FC236}">
                  <a16:creationId xmlns:a16="http://schemas.microsoft.com/office/drawing/2014/main" id="{EABA9570-C479-4F46-AD41-88F10E265791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3" name="Freeform: Shape 31">
              <a:extLst>
                <a:ext uri="{FF2B5EF4-FFF2-40B4-BE49-F238E27FC236}">
                  <a16:creationId xmlns:a16="http://schemas.microsoft.com/office/drawing/2014/main" id="{696970B8-F5CB-412E-8251-9AF0578354D0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4" name="Freeform: Shape 32">
              <a:extLst>
                <a:ext uri="{FF2B5EF4-FFF2-40B4-BE49-F238E27FC236}">
                  <a16:creationId xmlns:a16="http://schemas.microsoft.com/office/drawing/2014/main" id="{3D00D20E-2B63-4792-A233-43481FD84B2F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5" name="Freeform: Shape 33">
              <a:extLst>
                <a:ext uri="{FF2B5EF4-FFF2-40B4-BE49-F238E27FC236}">
                  <a16:creationId xmlns:a16="http://schemas.microsoft.com/office/drawing/2014/main" id="{7873ECCA-6F31-4A69-856A-82645EA1C11F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6" name="Freeform: Shape 34">
              <a:extLst>
                <a:ext uri="{FF2B5EF4-FFF2-40B4-BE49-F238E27FC236}">
                  <a16:creationId xmlns:a16="http://schemas.microsoft.com/office/drawing/2014/main" id="{2821AFFC-1334-4BF1-A96A-FBE5CE0E32B4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7" name="Freeform: Shape 35">
              <a:extLst>
                <a:ext uri="{FF2B5EF4-FFF2-40B4-BE49-F238E27FC236}">
                  <a16:creationId xmlns:a16="http://schemas.microsoft.com/office/drawing/2014/main" id="{DFA386D3-FCFC-4630-B8F1-3144BCEA5BF3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8" name="Freeform: Shape 36">
              <a:extLst>
                <a:ext uri="{FF2B5EF4-FFF2-40B4-BE49-F238E27FC236}">
                  <a16:creationId xmlns:a16="http://schemas.microsoft.com/office/drawing/2014/main" id="{53EF3BC0-98DA-4218-B9E8-F47FA1C11F36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9" name="Freeform: Shape 37">
              <a:extLst>
                <a:ext uri="{FF2B5EF4-FFF2-40B4-BE49-F238E27FC236}">
                  <a16:creationId xmlns:a16="http://schemas.microsoft.com/office/drawing/2014/main" id="{67645674-65CD-4C60-AE13-2D7A5DFAF5C1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0" name="Freeform: Shape 38">
              <a:extLst>
                <a:ext uri="{FF2B5EF4-FFF2-40B4-BE49-F238E27FC236}">
                  <a16:creationId xmlns:a16="http://schemas.microsoft.com/office/drawing/2014/main" id="{91FC57F3-C93D-4A02-AA2A-37F815736233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21" y="190223"/>
            <a:ext cx="6879350" cy="999746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4815395" y="6382131"/>
            <a:ext cx="7369479" cy="465286"/>
            <a:chOff x="4817758" y="6382984"/>
            <a:chExt cx="7369479" cy="465286"/>
          </a:xfrm>
        </p:grpSpPr>
        <p:sp>
          <p:nvSpPr>
            <p:cNvPr id="3" name="Rectangle 2"/>
            <p:cNvSpPr/>
            <p:nvPr/>
          </p:nvSpPr>
          <p:spPr>
            <a:xfrm>
              <a:off x="4817758" y="6382984"/>
              <a:ext cx="7369479" cy="4652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3655" y="6397831"/>
              <a:ext cx="7281503" cy="41746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47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5B2E5E-F1FB-4B49-A15E-DFC13B08436B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65E93E9-4624-4300-9736-8AD2206DEEDC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C028FEAF-D49A-46B9-89E4-097BE7C65526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3D876396-B2E8-4260-95F0-7F807CEBB336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E54FF9D1-6089-4D74-8D8E-6D1177695082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C588BD84-AC78-42E3-8E80-878DF5182085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ED1FACAF-51FC-4BC7-B86A-37A0AE818A30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A1F696F5-C936-4257-ABAE-CFB663A4F5B9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2E7360DC-5C0F-466D-84A8-E0EE6E3AB0F1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08DE8446-7C37-470B-9371-440B4896B7BB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79F2E292-A6A3-445D-9144-E683946C0A17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E1355B59-DD0D-4CAB-945D-A12DD9E80FEC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791E57E2-15BD-41FF-A3AD-FEF3ACD07BAD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ACC6ABAB-5C29-44A4-B49A-A3C7C7F7BCBE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4A71DD83-8022-4143-A93D-17DDAFFAB86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01418661-1F77-4FAD-B4FD-28B2B041E7F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D05CCC8A-C19B-40FE-BEEF-912A84A1EF92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95FBCACE-24A6-48D1-B13B-8F9FE1203886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12CB76F8-C735-44B5-9A98-9F2B9379252C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555127DA-3EE1-42DE-BA8E-69E101C286EB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C2C10520-9F80-4BE2-B993-5B905B809DE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EDB92882-0CF1-413E-8743-7A1E01EF2B8A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0932F542-36CC-4138-A432-576700346F8C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3B6B041A-5F1A-40C1-9584-D5563AB6A193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3C697974-1EFD-497C-8F1B-DEAA82EB7A7C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C5C2CAB8-8604-4E04-9F23-99A720B6CD62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78959DD7-B4AB-4F69-BB5B-9840CF94E3CA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A7EB0FDD-9AD7-4386-8559-CE3745BCEC8C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EABA9570-C479-4F46-AD41-88F10E265791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696970B8-F5CB-412E-8251-9AF0578354D0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3D00D20E-2B63-4792-A233-43481FD84B2F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7873ECCA-6F31-4A69-856A-82645EA1C11F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2821AFFC-1334-4BF1-A96A-FBE5CE0E32B4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DFA386D3-FCFC-4630-B8F1-3144BCEA5BF3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53EF3BC0-98DA-4218-B9E8-F47FA1C11F36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67645674-65CD-4C60-AE13-2D7A5DFAF5C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91FC57F3-C93D-4A02-AA2A-37F81573623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65E93E9-4624-4300-9736-8AD2206DEEDC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C028FEAF-D49A-46B9-89E4-097BE7C65526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3D876396-B2E8-4260-95F0-7F807CEBB336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E54FF9D1-6089-4D74-8D8E-6D1177695082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C588BD84-AC78-42E3-8E80-878DF5182085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ED1FACAF-51FC-4BC7-B86A-37A0AE818A30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A1F696F5-C936-4257-ABAE-CFB663A4F5B9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2E7360DC-5C0F-466D-84A8-E0EE6E3AB0F1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08DE8446-7C37-470B-9371-440B4896B7BB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79F2E292-A6A3-445D-9144-E683946C0A17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E1355B59-DD0D-4CAB-945D-A12DD9E80FEC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791E57E2-15BD-41FF-A3AD-FEF3ACD07BAD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ACC6ABAB-5C29-44A4-B49A-A3C7C7F7BCBE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4A71DD83-8022-4143-A93D-17DDAFFAB864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01418661-1F77-4FAD-B4FD-28B2B041E7F8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D05CCC8A-C19B-40FE-BEEF-912A84A1EF92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95FBCACE-24A6-48D1-B13B-8F9FE120388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12CB76F8-C735-44B5-9A98-9F2B9379252C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555127DA-3EE1-42DE-BA8E-69E101C286EB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C2C10520-9F80-4BE2-B993-5B905B809DE6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EDB92882-0CF1-413E-8743-7A1E01EF2B8A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0932F542-36CC-4138-A432-576700346F8C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3B6B041A-5F1A-40C1-9584-D5563AB6A193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3C697974-1EFD-497C-8F1B-DEAA82EB7A7C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C5C2CAB8-8604-4E04-9F23-99A720B6CD62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78959DD7-B4AB-4F69-BB5B-9840CF94E3CA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A7EB0FDD-9AD7-4386-8559-CE3745BCEC8C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EABA9570-C479-4F46-AD41-88F10E265791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696970B8-F5CB-412E-8251-9AF0578354D0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3D00D20E-2B63-4792-A233-43481FD84B2F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7873ECCA-6F31-4A69-856A-82645EA1C11F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2821AFFC-1334-4BF1-A96A-FBE5CE0E32B4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DFA386D3-FCFC-4630-B8F1-3144BCEA5BF3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53EF3BC0-98DA-4218-B9E8-F47FA1C11F36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67645674-65CD-4C60-AE13-2D7A5DFAF5C1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91FC57F3-C93D-4A02-AA2A-37F815736233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About the dataset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2" name="TextBox 351"/>
          <p:cNvSpPr txBox="1"/>
          <p:nvPr/>
        </p:nvSpPr>
        <p:spPr>
          <a:xfrm>
            <a:off x="7483294" y="2282149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6095999" y="4927086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3436733" y="3563674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359" name="Freeform 6"/>
          <p:cNvSpPr>
            <a:spLocks noEditPoints="1"/>
          </p:cNvSpPr>
          <p:nvPr/>
        </p:nvSpPr>
        <p:spPr bwMode="auto">
          <a:xfrm>
            <a:off x="5133215" y="3730542"/>
            <a:ext cx="668338" cy="687387"/>
          </a:xfrm>
          <a:custGeom>
            <a:avLst/>
            <a:gdLst>
              <a:gd name="T0" fmla="*/ 1078 w 3366"/>
              <a:gd name="T1" fmla="*/ 2244 h 3464"/>
              <a:gd name="T2" fmla="*/ 1804 w 3366"/>
              <a:gd name="T3" fmla="*/ 2131 h 3464"/>
              <a:gd name="T4" fmla="*/ 1741 w 3366"/>
              <a:gd name="T5" fmla="*/ 452 h 3464"/>
              <a:gd name="T6" fmla="*/ 1878 w 3366"/>
              <a:gd name="T7" fmla="*/ 927 h 3464"/>
              <a:gd name="T8" fmla="*/ 1741 w 3366"/>
              <a:gd name="T9" fmla="*/ 452 h 3464"/>
              <a:gd name="T10" fmla="*/ 281 w 3366"/>
              <a:gd name="T11" fmla="*/ 3183 h 3464"/>
              <a:gd name="T12" fmla="*/ 2387 w 3366"/>
              <a:gd name="T13" fmla="*/ 1716 h 3464"/>
              <a:gd name="T14" fmla="*/ 2088 w 3366"/>
              <a:gd name="T15" fmla="*/ 2021 h 3464"/>
              <a:gd name="T16" fmla="*/ 1886 w 3366"/>
              <a:gd name="T17" fmla="*/ 2215 h 3464"/>
              <a:gd name="T18" fmla="*/ 2088 w 3366"/>
              <a:gd name="T19" fmla="*/ 2463 h 3464"/>
              <a:gd name="T20" fmla="*/ 580 w 3366"/>
              <a:gd name="T21" fmla="*/ 2604 h 3464"/>
              <a:gd name="T22" fmla="*/ 870 w 3366"/>
              <a:gd name="T23" fmla="*/ 2463 h 3464"/>
              <a:gd name="T24" fmla="*/ 580 w 3366"/>
              <a:gd name="T25" fmla="*/ 2021 h 3464"/>
              <a:gd name="T26" fmla="*/ 1110 w 3366"/>
              <a:gd name="T27" fmla="*/ 1880 h 3464"/>
              <a:gd name="T28" fmla="*/ 1366 w 3366"/>
              <a:gd name="T29" fmla="*/ 1438 h 3464"/>
              <a:gd name="T30" fmla="*/ 580 w 3366"/>
              <a:gd name="T31" fmla="*/ 1296 h 3464"/>
              <a:gd name="T32" fmla="*/ 1666 w 3366"/>
              <a:gd name="T33" fmla="*/ 1138 h 3464"/>
              <a:gd name="T34" fmla="*/ 1532 w 3366"/>
              <a:gd name="T35" fmla="*/ 281 h 3464"/>
              <a:gd name="T36" fmla="*/ 0 w 3366"/>
              <a:gd name="T37" fmla="*/ 0 h 3464"/>
              <a:gd name="T38" fmla="*/ 2241 w 3366"/>
              <a:gd name="T39" fmla="*/ 565 h 3464"/>
              <a:gd name="T40" fmla="*/ 2661 w 3366"/>
              <a:gd name="T41" fmla="*/ 150 h 3464"/>
              <a:gd name="T42" fmla="*/ 2712 w 3366"/>
              <a:gd name="T43" fmla="*/ 117 h 3464"/>
              <a:gd name="T44" fmla="*/ 2765 w 3366"/>
              <a:gd name="T45" fmla="*/ 97 h 3464"/>
              <a:gd name="T46" fmla="*/ 2816 w 3366"/>
              <a:gd name="T47" fmla="*/ 90 h 3464"/>
              <a:gd name="T48" fmla="*/ 2863 w 3366"/>
              <a:gd name="T49" fmla="*/ 100 h 3464"/>
              <a:gd name="T50" fmla="*/ 2900 w 3366"/>
              <a:gd name="T51" fmla="*/ 125 h 3464"/>
              <a:gd name="T52" fmla="*/ 3347 w 3366"/>
              <a:gd name="T53" fmla="*/ 578 h 3464"/>
              <a:gd name="T54" fmla="*/ 3364 w 3366"/>
              <a:gd name="T55" fmla="*/ 626 h 3464"/>
              <a:gd name="T56" fmla="*/ 3363 w 3366"/>
              <a:gd name="T57" fmla="*/ 680 h 3464"/>
              <a:gd name="T58" fmla="*/ 3344 w 3366"/>
              <a:gd name="T59" fmla="*/ 739 h 3464"/>
              <a:gd name="T60" fmla="*/ 3310 w 3366"/>
              <a:gd name="T61" fmla="*/ 796 h 3464"/>
              <a:gd name="T62" fmla="*/ 2668 w 3366"/>
              <a:gd name="T63" fmla="*/ 1437 h 3464"/>
              <a:gd name="T64" fmla="*/ 0 w 3366"/>
              <a:gd name="T65" fmla="*/ 3464 h 3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366" h="3464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" name="Freeform 11"/>
          <p:cNvSpPr>
            <a:spLocks noEditPoints="1"/>
          </p:cNvSpPr>
          <p:nvPr/>
        </p:nvSpPr>
        <p:spPr bwMode="auto">
          <a:xfrm>
            <a:off x="5130834" y="2538361"/>
            <a:ext cx="673100" cy="503238"/>
          </a:xfrm>
          <a:custGeom>
            <a:avLst/>
            <a:gdLst>
              <a:gd name="T0" fmla="*/ 2212 w 3390"/>
              <a:gd name="T1" fmla="*/ 1401 h 2540"/>
              <a:gd name="T2" fmla="*/ 2082 w 3390"/>
              <a:gd name="T3" fmla="*/ 1890 h 2540"/>
              <a:gd name="T4" fmla="*/ 2394 w 3390"/>
              <a:gd name="T5" fmla="*/ 2275 h 2540"/>
              <a:gd name="T6" fmla="*/ 2900 w 3390"/>
              <a:gd name="T7" fmla="*/ 2249 h 2540"/>
              <a:gd name="T8" fmla="*/ 3170 w 3390"/>
              <a:gd name="T9" fmla="*/ 1832 h 2540"/>
              <a:gd name="T10" fmla="*/ 2991 w 3390"/>
              <a:gd name="T11" fmla="*/ 1361 h 2540"/>
              <a:gd name="T12" fmla="*/ 707 w 3390"/>
              <a:gd name="T13" fmla="*/ 1223 h 2540"/>
              <a:gd name="T14" fmla="*/ 290 w 3390"/>
              <a:gd name="T15" fmla="*/ 1493 h 2540"/>
              <a:gd name="T16" fmla="*/ 264 w 3390"/>
              <a:gd name="T17" fmla="*/ 1999 h 2540"/>
              <a:gd name="T18" fmla="*/ 649 w 3390"/>
              <a:gd name="T19" fmla="*/ 2312 h 2540"/>
              <a:gd name="T20" fmla="*/ 1137 w 3390"/>
              <a:gd name="T21" fmla="*/ 2182 h 2540"/>
              <a:gd name="T22" fmla="*/ 1316 w 3390"/>
              <a:gd name="T23" fmla="*/ 1712 h 2540"/>
              <a:gd name="T24" fmla="*/ 1046 w 3390"/>
              <a:gd name="T25" fmla="*/ 1295 h 2540"/>
              <a:gd name="T26" fmla="*/ 1556 w 3390"/>
              <a:gd name="T27" fmla="*/ 896 h 2540"/>
              <a:gd name="T28" fmla="*/ 1337 w 3390"/>
              <a:gd name="T29" fmla="*/ 1029 h 2540"/>
              <a:gd name="T30" fmla="*/ 1556 w 3390"/>
              <a:gd name="T31" fmla="*/ 1160 h 2540"/>
              <a:gd name="T32" fmla="*/ 1947 w 3390"/>
              <a:gd name="T33" fmla="*/ 1130 h 2540"/>
              <a:gd name="T34" fmla="*/ 2024 w 3390"/>
              <a:gd name="T35" fmla="*/ 973 h 2540"/>
              <a:gd name="T36" fmla="*/ 1695 w 3390"/>
              <a:gd name="T37" fmla="*/ 886 h 2540"/>
              <a:gd name="T38" fmla="*/ 1950 w 3390"/>
              <a:gd name="T39" fmla="*/ 406 h 2540"/>
              <a:gd name="T40" fmla="*/ 2007 w 3390"/>
              <a:gd name="T41" fmla="*/ 460 h 2540"/>
              <a:gd name="T42" fmla="*/ 2283 w 3390"/>
              <a:gd name="T43" fmla="*/ 342 h 2540"/>
              <a:gd name="T44" fmla="*/ 2422 w 3390"/>
              <a:gd name="T45" fmla="*/ 372 h 2540"/>
              <a:gd name="T46" fmla="*/ 2439 w 3390"/>
              <a:gd name="T47" fmla="*/ 294 h 2540"/>
              <a:gd name="T48" fmla="*/ 2260 w 3390"/>
              <a:gd name="T49" fmla="*/ 260 h 2540"/>
              <a:gd name="T50" fmla="*/ 954 w 3390"/>
              <a:gd name="T51" fmla="*/ 292 h 2540"/>
              <a:gd name="T52" fmla="*/ 955 w 3390"/>
              <a:gd name="T53" fmla="*/ 371 h 2540"/>
              <a:gd name="T54" fmla="*/ 1078 w 3390"/>
              <a:gd name="T55" fmla="*/ 346 h 2540"/>
              <a:gd name="T56" fmla="*/ 1326 w 3390"/>
              <a:gd name="T57" fmla="*/ 400 h 2540"/>
              <a:gd name="T58" fmla="*/ 1445 w 3390"/>
              <a:gd name="T59" fmla="*/ 441 h 2540"/>
              <a:gd name="T60" fmla="*/ 1225 w 3390"/>
              <a:gd name="T61" fmla="*/ 268 h 2540"/>
              <a:gd name="T62" fmla="*/ 1449 w 3390"/>
              <a:gd name="T63" fmla="*/ 92 h 2540"/>
              <a:gd name="T64" fmla="*/ 1505 w 3390"/>
              <a:gd name="T65" fmla="*/ 324 h 2540"/>
              <a:gd name="T66" fmla="*/ 1529 w 3390"/>
              <a:gd name="T67" fmla="*/ 705 h 2540"/>
              <a:gd name="T68" fmla="*/ 1626 w 3390"/>
              <a:gd name="T69" fmla="*/ 626 h 2540"/>
              <a:gd name="T70" fmla="*/ 1745 w 3390"/>
              <a:gd name="T71" fmla="*/ 610 h 2540"/>
              <a:gd name="T72" fmla="*/ 1828 w 3390"/>
              <a:gd name="T73" fmla="*/ 699 h 2540"/>
              <a:gd name="T74" fmla="*/ 1879 w 3390"/>
              <a:gd name="T75" fmla="*/ 406 h 2540"/>
              <a:gd name="T76" fmla="*/ 1904 w 3390"/>
              <a:gd name="T77" fmla="*/ 153 h 2540"/>
              <a:gd name="T78" fmla="*/ 2166 w 3390"/>
              <a:gd name="T79" fmla="*/ 1 h 2540"/>
              <a:gd name="T80" fmla="*/ 2396 w 3390"/>
              <a:gd name="T81" fmla="*/ 155 h 2540"/>
              <a:gd name="T82" fmla="*/ 2582 w 3390"/>
              <a:gd name="T83" fmla="*/ 410 h 2540"/>
              <a:gd name="T84" fmla="*/ 2844 w 3390"/>
              <a:gd name="T85" fmla="*/ 783 h 2540"/>
              <a:gd name="T86" fmla="*/ 3126 w 3390"/>
              <a:gd name="T87" fmla="*/ 1187 h 2540"/>
              <a:gd name="T88" fmla="*/ 3292 w 3390"/>
              <a:gd name="T89" fmla="*/ 1426 h 2540"/>
              <a:gd name="T90" fmla="*/ 3390 w 3390"/>
              <a:gd name="T91" fmla="*/ 1772 h 2540"/>
              <a:gd name="T92" fmla="*/ 3166 w 3390"/>
              <a:gd name="T93" fmla="*/ 2314 h 2540"/>
              <a:gd name="T94" fmla="*/ 2624 w 3390"/>
              <a:gd name="T95" fmla="*/ 2540 h 2540"/>
              <a:gd name="T96" fmla="*/ 2082 w 3390"/>
              <a:gd name="T97" fmla="*/ 2314 h 2540"/>
              <a:gd name="T98" fmla="*/ 1859 w 3390"/>
              <a:gd name="T99" fmla="*/ 1772 h 2540"/>
              <a:gd name="T100" fmla="*/ 1805 w 3390"/>
              <a:gd name="T101" fmla="*/ 1469 h 2540"/>
              <a:gd name="T102" fmla="*/ 1547 w 3390"/>
              <a:gd name="T103" fmla="*/ 1507 h 2540"/>
              <a:gd name="T104" fmla="*/ 1468 w 3390"/>
              <a:gd name="T105" fmla="*/ 2101 h 2540"/>
              <a:gd name="T106" fmla="*/ 1039 w 3390"/>
              <a:gd name="T107" fmla="*/ 2491 h 2540"/>
              <a:gd name="T108" fmla="*/ 442 w 3390"/>
              <a:gd name="T109" fmla="*/ 2466 h 2540"/>
              <a:gd name="T110" fmla="*/ 48 w 3390"/>
              <a:gd name="T111" fmla="*/ 2039 h 2540"/>
              <a:gd name="T112" fmla="*/ 34 w 3390"/>
              <a:gd name="T113" fmla="*/ 1579 h 2540"/>
              <a:gd name="T114" fmla="*/ 170 w 3390"/>
              <a:gd name="T115" fmla="*/ 1318 h 2540"/>
              <a:gd name="T116" fmla="*/ 413 w 3390"/>
              <a:gd name="T117" fmla="*/ 972 h 2540"/>
              <a:gd name="T118" fmla="*/ 703 w 3390"/>
              <a:gd name="T119" fmla="*/ 558 h 2540"/>
              <a:gd name="T120" fmla="*/ 888 w 3390"/>
              <a:gd name="T121" fmla="*/ 294 h 2540"/>
              <a:gd name="T122" fmla="*/ 1124 w 3390"/>
              <a:gd name="T123" fmla="*/ 34 h 2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0" h="254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61" name="Group 14"/>
          <p:cNvGrpSpPr>
            <a:grpSpLocks noChangeAspect="1"/>
          </p:cNvGrpSpPr>
          <p:nvPr/>
        </p:nvGrpSpPr>
        <p:grpSpPr bwMode="auto">
          <a:xfrm>
            <a:off x="6345373" y="2438267"/>
            <a:ext cx="713404" cy="692800"/>
            <a:chOff x="638" y="291"/>
            <a:chExt cx="554" cy="538"/>
          </a:xfrm>
          <a:solidFill>
            <a:schemeClr val="bg1"/>
          </a:solidFill>
        </p:grpSpPr>
        <p:sp>
          <p:nvSpPr>
            <p:cNvPr id="362" name="Freeform 16"/>
            <p:cNvSpPr>
              <a:spLocks/>
            </p:cNvSpPr>
            <p:nvPr/>
          </p:nvSpPr>
          <p:spPr bwMode="auto">
            <a:xfrm>
              <a:off x="1120" y="444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1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6 h 371"/>
                <a:gd name="T16" fmla="*/ 330 w 341"/>
                <a:gd name="T17" fmla="*/ 111 h 371"/>
                <a:gd name="T18" fmla="*/ 338 w 341"/>
                <a:gd name="T19" fmla="*/ 141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1 h 371"/>
                <a:gd name="T32" fmla="*/ 280 w 341"/>
                <a:gd name="T33" fmla="*/ 331 h 371"/>
                <a:gd name="T34" fmla="*/ 257 w 341"/>
                <a:gd name="T35" fmla="*/ 349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Freeform 17"/>
            <p:cNvSpPr>
              <a:spLocks/>
            </p:cNvSpPr>
            <p:nvPr/>
          </p:nvSpPr>
          <p:spPr bwMode="auto">
            <a:xfrm>
              <a:off x="1120" y="517"/>
              <a:ext cx="57" cy="62"/>
            </a:xfrm>
            <a:custGeom>
              <a:avLst/>
              <a:gdLst>
                <a:gd name="T0" fmla="*/ 0 w 341"/>
                <a:gd name="T1" fmla="*/ 0 h 372"/>
                <a:gd name="T2" fmla="*/ 171 w 341"/>
                <a:gd name="T3" fmla="*/ 0 h 372"/>
                <a:gd name="T4" fmla="*/ 201 w 341"/>
                <a:gd name="T5" fmla="*/ 4 h 372"/>
                <a:gd name="T6" fmla="*/ 230 w 341"/>
                <a:gd name="T7" fmla="*/ 11 h 372"/>
                <a:gd name="T8" fmla="*/ 257 w 341"/>
                <a:gd name="T9" fmla="*/ 24 h 372"/>
                <a:gd name="T10" fmla="*/ 280 w 341"/>
                <a:gd name="T11" fmla="*/ 41 h 372"/>
                <a:gd name="T12" fmla="*/ 301 w 341"/>
                <a:gd name="T13" fmla="*/ 61 h 372"/>
                <a:gd name="T14" fmla="*/ 317 w 341"/>
                <a:gd name="T15" fmla="*/ 85 h 372"/>
                <a:gd name="T16" fmla="*/ 330 w 341"/>
                <a:gd name="T17" fmla="*/ 112 h 372"/>
                <a:gd name="T18" fmla="*/ 338 w 341"/>
                <a:gd name="T19" fmla="*/ 141 h 372"/>
                <a:gd name="T20" fmla="*/ 341 w 341"/>
                <a:gd name="T21" fmla="*/ 172 h 372"/>
                <a:gd name="T22" fmla="*/ 341 w 341"/>
                <a:gd name="T23" fmla="*/ 201 h 372"/>
                <a:gd name="T24" fmla="*/ 338 w 341"/>
                <a:gd name="T25" fmla="*/ 231 h 372"/>
                <a:gd name="T26" fmla="*/ 330 w 341"/>
                <a:gd name="T27" fmla="*/ 260 h 372"/>
                <a:gd name="T28" fmla="*/ 317 w 341"/>
                <a:gd name="T29" fmla="*/ 287 h 372"/>
                <a:gd name="T30" fmla="*/ 301 w 341"/>
                <a:gd name="T31" fmla="*/ 311 h 372"/>
                <a:gd name="T32" fmla="*/ 280 w 341"/>
                <a:gd name="T33" fmla="*/ 332 h 372"/>
                <a:gd name="T34" fmla="*/ 257 w 341"/>
                <a:gd name="T35" fmla="*/ 349 h 372"/>
                <a:gd name="T36" fmla="*/ 230 w 341"/>
                <a:gd name="T37" fmla="*/ 361 h 372"/>
                <a:gd name="T38" fmla="*/ 201 w 341"/>
                <a:gd name="T39" fmla="*/ 370 h 372"/>
                <a:gd name="T40" fmla="*/ 171 w 341"/>
                <a:gd name="T41" fmla="*/ 372 h 372"/>
                <a:gd name="T42" fmla="*/ 0 w 341"/>
                <a:gd name="T43" fmla="*/ 372 h 372"/>
                <a:gd name="T44" fmla="*/ 0 w 341"/>
                <a:gd name="T45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2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Freeform 18"/>
            <p:cNvSpPr>
              <a:spLocks/>
            </p:cNvSpPr>
            <p:nvPr/>
          </p:nvSpPr>
          <p:spPr bwMode="auto">
            <a:xfrm>
              <a:off x="1120" y="590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0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4 h 371"/>
                <a:gd name="T16" fmla="*/ 330 w 341"/>
                <a:gd name="T17" fmla="*/ 111 h 371"/>
                <a:gd name="T18" fmla="*/ 338 w 341"/>
                <a:gd name="T19" fmla="*/ 140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0 h 371"/>
                <a:gd name="T32" fmla="*/ 280 w 341"/>
                <a:gd name="T33" fmla="*/ 331 h 371"/>
                <a:gd name="T34" fmla="*/ 257 w 341"/>
                <a:gd name="T35" fmla="*/ 348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Freeform 19"/>
            <p:cNvSpPr>
              <a:spLocks/>
            </p:cNvSpPr>
            <p:nvPr/>
          </p:nvSpPr>
          <p:spPr bwMode="auto">
            <a:xfrm>
              <a:off x="1120" y="339"/>
              <a:ext cx="72" cy="72"/>
            </a:xfrm>
            <a:custGeom>
              <a:avLst/>
              <a:gdLst>
                <a:gd name="T0" fmla="*/ 317 w 430"/>
                <a:gd name="T1" fmla="*/ 0 h 433"/>
                <a:gd name="T2" fmla="*/ 341 w 430"/>
                <a:gd name="T3" fmla="*/ 3 h 433"/>
                <a:gd name="T4" fmla="*/ 362 w 430"/>
                <a:gd name="T5" fmla="*/ 10 h 433"/>
                <a:gd name="T6" fmla="*/ 382 w 430"/>
                <a:gd name="T7" fmla="*/ 22 h 433"/>
                <a:gd name="T8" fmla="*/ 398 w 430"/>
                <a:gd name="T9" fmla="*/ 37 h 433"/>
                <a:gd name="T10" fmla="*/ 411 w 430"/>
                <a:gd name="T11" fmla="*/ 56 h 433"/>
                <a:gd name="T12" fmla="*/ 421 w 430"/>
                <a:gd name="T13" fmla="*/ 77 h 433"/>
                <a:gd name="T14" fmla="*/ 427 w 430"/>
                <a:gd name="T15" fmla="*/ 102 h 433"/>
                <a:gd name="T16" fmla="*/ 430 w 430"/>
                <a:gd name="T17" fmla="*/ 129 h 433"/>
                <a:gd name="T18" fmla="*/ 430 w 430"/>
                <a:gd name="T19" fmla="*/ 153 h 433"/>
                <a:gd name="T20" fmla="*/ 426 w 430"/>
                <a:gd name="T21" fmla="*/ 189 h 433"/>
                <a:gd name="T22" fmla="*/ 416 w 430"/>
                <a:gd name="T23" fmla="*/ 225 h 433"/>
                <a:gd name="T24" fmla="*/ 402 w 430"/>
                <a:gd name="T25" fmla="*/ 259 h 433"/>
                <a:gd name="T26" fmla="*/ 383 w 430"/>
                <a:gd name="T27" fmla="*/ 291 h 433"/>
                <a:gd name="T28" fmla="*/ 358 w 430"/>
                <a:gd name="T29" fmla="*/ 321 h 433"/>
                <a:gd name="T30" fmla="*/ 331 w 430"/>
                <a:gd name="T31" fmla="*/ 345 h 433"/>
                <a:gd name="T32" fmla="*/ 301 w 430"/>
                <a:gd name="T33" fmla="*/ 366 h 433"/>
                <a:gd name="T34" fmla="*/ 269 w 430"/>
                <a:gd name="T35" fmla="*/ 382 h 433"/>
                <a:gd name="T36" fmla="*/ 0 w 430"/>
                <a:gd name="T37" fmla="*/ 433 h 433"/>
                <a:gd name="T38" fmla="*/ 0 w 430"/>
                <a:gd name="T39" fmla="*/ 37 h 433"/>
                <a:gd name="T40" fmla="*/ 266 w 430"/>
                <a:gd name="T41" fmla="*/ 6 h 433"/>
                <a:gd name="T42" fmla="*/ 293 w 430"/>
                <a:gd name="T43" fmla="*/ 1 h 433"/>
                <a:gd name="T44" fmla="*/ 317 w 430"/>
                <a:gd name="T45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0" h="433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Freeform 20"/>
            <p:cNvSpPr>
              <a:spLocks/>
            </p:cNvSpPr>
            <p:nvPr/>
          </p:nvSpPr>
          <p:spPr bwMode="auto">
            <a:xfrm>
              <a:off x="865" y="291"/>
              <a:ext cx="245" cy="420"/>
            </a:xfrm>
            <a:custGeom>
              <a:avLst/>
              <a:gdLst>
                <a:gd name="T0" fmla="*/ 1304 w 1472"/>
                <a:gd name="T1" fmla="*/ 0 h 2521"/>
                <a:gd name="T2" fmla="*/ 1363 w 1472"/>
                <a:gd name="T3" fmla="*/ 12 h 2521"/>
                <a:gd name="T4" fmla="*/ 1412 w 1472"/>
                <a:gd name="T5" fmla="*/ 40 h 2521"/>
                <a:gd name="T6" fmla="*/ 1449 w 1472"/>
                <a:gd name="T7" fmla="*/ 85 h 2521"/>
                <a:gd name="T8" fmla="*/ 1469 w 1472"/>
                <a:gd name="T9" fmla="*/ 140 h 2521"/>
                <a:gd name="T10" fmla="*/ 1472 w 1472"/>
                <a:gd name="T11" fmla="*/ 2351 h 2521"/>
                <a:gd name="T12" fmla="*/ 1461 w 1472"/>
                <a:gd name="T13" fmla="*/ 2411 h 2521"/>
                <a:gd name="T14" fmla="*/ 1432 w 1472"/>
                <a:gd name="T15" fmla="*/ 2461 h 2521"/>
                <a:gd name="T16" fmla="*/ 1388 w 1472"/>
                <a:gd name="T17" fmla="*/ 2498 h 2521"/>
                <a:gd name="T18" fmla="*/ 1334 w 1472"/>
                <a:gd name="T19" fmla="*/ 2519 h 2521"/>
                <a:gd name="T20" fmla="*/ 947 w 1472"/>
                <a:gd name="T21" fmla="*/ 2521 h 2521"/>
                <a:gd name="T22" fmla="*/ 955 w 1472"/>
                <a:gd name="T23" fmla="*/ 2488 h 2521"/>
                <a:gd name="T24" fmla="*/ 961 w 1472"/>
                <a:gd name="T25" fmla="*/ 2467 h 2521"/>
                <a:gd name="T26" fmla="*/ 977 w 1472"/>
                <a:gd name="T27" fmla="*/ 2383 h 2521"/>
                <a:gd name="T28" fmla="*/ 823 w 1472"/>
                <a:gd name="T29" fmla="*/ 2367 h 2521"/>
                <a:gd name="T30" fmla="*/ 838 w 1472"/>
                <a:gd name="T31" fmla="*/ 2330 h 2521"/>
                <a:gd name="T32" fmla="*/ 837 w 1472"/>
                <a:gd name="T33" fmla="*/ 2286 h 2521"/>
                <a:gd name="T34" fmla="*/ 816 w 1472"/>
                <a:gd name="T35" fmla="*/ 2244 h 2521"/>
                <a:gd name="T36" fmla="*/ 780 w 1472"/>
                <a:gd name="T37" fmla="*/ 2215 h 2521"/>
                <a:gd name="T38" fmla="*/ 733 w 1472"/>
                <a:gd name="T39" fmla="*/ 2203 h 2521"/>
                <a:gd name="T40" fmla="*/ 686 w 1472"/>
                <a:gd name="T41" fmla="*/ 2215 h 2521"/>
                <a:gd name="T42" fmla="*/ 650 w 1472"/>
                <a:gd name="T43" fmla="*/ 2244 h 2521"/>
                <a:gd name="T44" fmla="*/ 630 w 1472"/>
                <a:gd name="T45" fmla="*/ 2286 h 2521"/>
                <a:gd name="T46" fmla="*/ 629 w 1472"/>
                <a:gd name="T47" fmla="*/ 2330 h 2521"/>
                <a:gd name="T48" fmla="*/ 643 w 1472"/>
                <a:gd name="T49" fmla="*/ 2367 h 2521"/>
                <a:gd name="T50" fmla="*/ 360 w 1472"/>
                <a:gd name="T51" fmla="*/ 2383 h 2521"/>
                <a:gd name="T52" fmla="*/ 363 w 1472"/>
                <a:gd name="T53" fmla="*/ 2374 h 2521"/>
                <a:gd name="T54" fmla="*/ 369 w 1472"/>
                <a:gd name="T55" fmla="*/ 2356 h 2521"/>
                <a:gd name="T56" fmla="*/ 372 w 1472"/>
                <a:gd name="T57" fmla="*/ 2054 h 2521"/>
                <a:gd name="T58" fmla="*/ 1212 w 1472"/>
                <a:gd name="T59" fmla="*/ 2051 h 2521"/>
                <a:gd name="T60" fmla="*/ 1236 w 1472"/>
                <a:gd name="T61" fmla="*/ 2034 h 2521"/>
                <a:gd name="T62" fmla="*/ 1244 w 1472"/>
                <a:gd name="T63" fmla="*/ 2006 h 2521"/>
                <a:gd name="T64" fmla="*/ 1242 w 1472"/>
                <a:gd name="T65" fmla="*/ 313 h 2521"/>
                <a:gd name="T66" fmla="*/ 1226 w 1472"/>
                <a:gd name="T67" fmla="*/ 290 h 2521"/>
                <a:gd name="T68" fmla="*/ 1198 w 1472"/>
                <a:gd name="T69" fmla="*/ 281 h 2521"/>
                <a:gd name="T70" fmla="*/ 259 w 1472"/>
                <a:gd name="T71" fmla="*/ 284 h 2521"/>
                <a:gd name="T72" fmla="*/ 237 w 1472"/>
                <a:gd name="T73" fmla="*/ 300 h 2521"/>
                <a:gd name="T74" fmla="*/ 228 w 1472"/>
                <a:gd name="T75" fmla="*/ 328 h 2521"/>
                <a:gd name="T76" fmla="*/ 0 w 1472"/>
                <a:gd name="T77" fmla="*/ 1459 h 2521"/>
                <a:gd name="T78" fmla="*/ 3 w 1472"/>
                <a:gd name="T79" fmla="*/ 140 h 2521"/>
                <a:gd name="T80" fmla="*/ 23 w 1472"/>
                <a:gd name="T81" fmla="*/ 85 h 2521"/>
                <a:gd name="T82" fmla="*/ 60 w 1472"/>
                <a:gd name="T83" fmla="*/ 40 h 2521"/>
                <a:gd name="T84" fmla="*/ 110 w 1472"/>
                <a:gd name="T85" fmla="*/ 12 h 2521"/>
                <a:gd name="T86" fmla="*/ 169 w 1472"/>
                <a:gd name="T87" fmla="*/ 0 h 2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72" h="2521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Freeform 21"/>
            <p:cNvSpPr>
              <a:spLocks/>
            </p:cNvSpPr>
            <p:nvPr/>
          </p:nvSpPr>
          <p:spPr bwMode="auto">
            <a:xfrm>
              <a:off x="638" y="439"/>
              <a:ext cx="403" cy="390"/>
            </a:xfrm>
            <a:custGeom>
              <a:avLst/>
              <a:gdLst>
                <a:gd name="T0" fmla="*/ 1252 w 2416"/>
                <a:gd name="T1" fmla="*/ 666 h 2337"/>
                <a:gd name="T2" fmla="*/ 2225 w 2416"/>
                <a:gd name="T3" fmla="*/ 669 h 2337"/>
                <a:gd name="T4" fmla="*/ 2293 w 2416"/>
                <a:gd name="T5" fmla="*/ 689 h 2337"/>
                <a:gd name="T6" fmla="*/ 2349 w 2416"/>
                <a:gd name="T7" fmla="*/ 727 h 2337"/>
                <a:gd name="T8" fmla="*/ 2390 w 2416"/>
                <a:gd name="T9" fmla="*/ 780 h 2337"/>
                <a:gd name="T10" fmla="*/ 2413 w 2416"/>
                <a:gd name="T11" fmla="*/ 843 h 2337"/>
                <a:gd name="T12" fmla="*/ 2413 w 2416"/>
                <a:gd name="T13" fmla="*/ 912 h 2337"/>
                <a:gd name="T14" fmla="*/ 2390 w 2416"/>
                <a:gd name="T15" fmla="*/ 976 h 2337"/>
                <a:gd name="T16" fmla="*/ 2349 w 2416"/>
                <a:gd name="T17" fmla="*/ 1029 h 2337"/>
                <a:gd name="T18" fmla="*/ 2293 w 2416"/>
                <a:gd name="T19" fmla="*/ 1067 h 2337"/>
                <a:gd name="T20" fmla="*/ 2225 w 2416"/>
                <a:gd name="T21" fmla="*/ 1087 h 2337"/>
                <a:gd name="T22" fmla="*/ 1616 w 2416"/>
                <a:gd name="T23" fmla="*/ 1090 h 2337"/>
                <a:gd name="T24" fmla="*/ 1604 w 2416"/>
                <a:gd name="T25" fmla="*/ 1504 h 2337"/>
                <a:gd name="T26" fmla="*/ 1572 w 2416"/>
                <a:gd name="T27" fmla="*/ 1577 h 2337"/>
                <a:gd name="T28" fmla="*/ 1532 w 2416"/>
                <a:gd name="T29" fmla="*/ 1647 h 2337"/>
                <a:gd name="T30" fmla="*/ 1489 w 2416"/>
                <a:gd name="T31" fmla="*/ 1714 h 2337"/>
                <a:gd name="T32" fmla="*/ 1443 w 2416"/>
                <a:gd name="T33" fmla="*/ 1775 h 2337"/>
                <a:gd name="T34" fmla="*/ 1400 w 2416"/>
                <a:gd name="T35" fmla="*/ 1829 h 2337"/>
                <a:gd name="T36" fmla="*/ 1360 w 2416"/>
                <a:gd name="T37" fmla="*/ 1873 h 2337"/>
                <a:gd name="T38" fmla="*/ 1329 w 2416"/>
                <a:gd name="T39" fmla="*/ 1907 h 2337"/>
                <a:gd name="T40" fmla="*/ 1307 w 2416"/>
                <a:gd name="T41" fmla="*/ 1929 h 2337"/>
                <a:gd name="T42" fmla="*/ 1298 w 2416"/>
                <a:gd name="T43" fmla="*/ 1937 h 2337"/>
                <a:gd name="T44" fmla="*/ 1280 w 2416"/>
                <a:gd name="T45" fmla="*/ 1968 h 2337"/>
                <a:gd name="T46" fmla="*/ 1279 w 2416"/>
                <a:gd name="T47" fmla="*/ 2002 h 2337"/>
                <a:gd name="T48" fmla="*/ 1295 w 2416"/>
                <a:gd name="T49" fmla="*/ 2034 h 2337"/>
                <a:gd name="T50" fmla="*/ 1327 w 2416"/>
                <a:gd name="T51" fmla="*/ 2053 h 2337"/>
                <a:gd name="T52" fmla="*/ 1360 w 2416"/>
                <a:gd name="T53" fmla="*/ 2054 h 2337"/>
                <a:gd name="T54" fmla="*/ 1390 w 2416"/>
                <a:gd name="T55" fmla="*/ 2037 h 2337"/>
                <a:gd name="T56" fmla="*/ 1401 w 2416"/>
                <a:gd name="T57" fmla="*/ 2026 h 2337"/>
                <a:gd name="T58" fmla="*/ 1427 w 2416"/>
                <a:gd name="T59" fmla="*/ 2001 h 2337"/>
                <a:gd name="T60" fmla="*/ 1463 w 2416"/>
                <a:gd name="T61" fmla="*/ 1963 h 2337"/>
                <a:gd name="T62" fmla="*/ 1506 w 2416"/>
                <a:gd name="T63" fmla="*/ 1913 h 2337"/>
                <a:gd name="T64" fmla="*/ 1554 w 2416"/>
                <a:gd name="T65" fmla="*/ 1855 h 2337"/>
                <a:gd name="T66" fmla="*/ 1603 w 2416"/>
                <a:gd name="T67" fmla="*/ 1787 h 2337"/>
                <a:gd name="T68" fmla="*/ 1651 w 2416"/>
                <a:gd name="T69" fmla="*/ 1712 h 2337"/>
                <a:gd name="T70" fmla="*/ 1695 w 2416"/>
                <a:gd name="T71" fmla="*/ 1633 h 2337"/>
                <a:gd name="T72" fmla="*/ 2205 w 2416"/>
                <a:gd name="T73" fmla="*/ 1592 h 2337"/>
                <a:gd name="T74" fmla="*/ 2203 w 2416"/>
                <a:gd name="T75" fmla="*/ 1604 h 2337"/>
                <a:gd name="T76" fmla="*/ 2195 w 2416"/>
                <a:gd name="T77" fmla="*/ 1637 h 2337"/>
                <a:gd name="T78" fmla="*/ 2181 w 2416"/>
                <a:gd name="T79" fmla="*/ 1686 h 2337"/>
                <a:gd name="T80" fmla="*/ 2161 w 2416"/>
                <a:gd name="T81" fmla="*/ 1746 h 2337"/>
                <a:gd name="T82" fmla="*/ 2134 w 2416"/>
                <a:gd name="T83" fmla="*/ 1814 h 2337"/>
                <a:gd name="T84" fmla="*/ 2102 w 2416"/>
                <a:gd name="T85" fmla="*/ 1886 h 2337"/>
                <a:gd name="T86" fmla="*/ 2061 w 2416"/>
                <a:gd name="T87" fmla="*/ 1955 h 2337"/>
                <a:gd name="T88" fmla="*/ 2011 w 2416"/>
                <a:gd name="T89" fmla="*/ 2017 h 2337"/>
                <a:gd name="T90" fmla="*/ 1954 w 2416"/>
                <a:gd name="T91" fmla="*/ 2068 h 2337"/>
                <a:gd name="T92" fmla="*/ 1829 w 2416"/>
                <a:gd name="T93" fmla="*/ 2148 h 2337"/>
                <a:gd name="T94" fmla="*/ 1705 w 2416"/>
                <a:gd name="T95" fmla="*/ 2212 h 2337"/>
                <a:gd name="T96" fmla="*/ 1596 w 2416"/>
                <a:gd name="T97" fmla="*/ 2265 h 2337"/>
                <a:gd name="T98" fmla="*/ 1539 w 2416"/>
                <a:gd name="T99" fmla="*/ 2291 h 2337"/>
                <a:gd name="T100" fmla="*/ 1474 w 2416"/>
                <a:gd name="T101" fmla="*/ 2314 h 2337"/>
                <a:gd name="T102" fmla="*/ 1408 w 2416"/>
                <a:gd name="T103" fmla="*/ 2331 h 2337"/>
                <a:gd name="T104" fmla="*/ 1346 w 2416"/>
                <a:gd name="T105" fmla="*/ 2337 h 2337"/>
                <a:gd name="T106" fmla="*/ 73 w 2416"/>
                <a:gd name="T107" fmla="*/ 2335 h 2337"/>
                <a:gd name="T108" fmla="*/ 35 w 2416"/>
                <a:gd name="T109" fmla="*/ 2320 h 2337"/>
                <a:gd name="T110" fmla="*/ 9 w 2416"/>
                <a:gd name="T111" fmla="*/ 2292 h 2337"/>
                <a:gd name="T112" fmla="*/ 0 w 2416"/>
                <a:gd name="T113" fmla="*/ 2255 h 2337"/>
                <a:gd name="T114" fmla="*/ 8 w 2416"/>
                <a:gd name="T115" fmla="*/ 2211 h 2337"/>
                <a:gd name="T116" fmla="*/ 623 w 2416"/>
                <a:gd name="T117" fmla="*/ 542 h 2337"/>
                <a:gd name="T118" fmla="*/ 674 w 2416"/>
                <a:gd name="T119" fmla="*/ 458 h 2337"/>
                <a:gd name="T120" fmla="*/ 738 w 2416"/>
                <a:gd name="T121" fmla="*/ 377 h 2337"/>
                <a:gd name="T122" fmla="*/ 810 w 2416"/>
                <a:gd name="T123" fmla="*/ 306 h 2337"/>
                <a:gd name="T124" fmla="*/ 882 w 2416"/>
                <a:gd name="T125" fmla="*/ 251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16" h="2337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8" name="Freeform 26"/>
          <p:cNvSpPr>
            <a:spLocks noEditPoints="1"/>
          </p:cNvSpPr>
          <p:nvPr/>
        </p:nvSpPr>
        <p:spPr bwMode="auto">
          <a:xfrm>
            <a:off x="6549005" y="3730542"/>
            <a:ext cx="355600" cy="695325"/>
          </a:xfrm>
          <a:custGeom>
            <a:avLst/>
            <a:gdLst>
              <a:gd name="T0" fmla="*/ 765 w 1790"/>
              <a:gd name="T1" fmla="*/ 1570 h 3502"/>
              <a:gd name="T2" fmla="*/ 778 w 1790"/>
              <a:gd name="T3" fmla="*/ 1793 h 3502"/>
              <a:gd name="T4" fmla="*/ 871 w 1790"/>
              <a:gd name="T5" fmla="*/ 1683 h 3502"/>
              <a:gd name="T6" fmla="*/ 1004 w 1790"/>
              <a:gd name="T7" fmla="*/ 1655 h 3502"/>
              <a:gd name="T8" fmla="*/ 1083 w 1790"/>
              <a:gd name="T9" fmla="*/ 1817 h 3502"/>
              <a:gd name="T10" fmla="*/ 1132 w 1790"/>
              <a:gd name="T11" fmla="*/ 1601 h 3502"/>
              <a:gd name="T12" fmla="*/ 942 w 1790"/>
              <a:gd name="T13" fmla="*/ 1469 h 3502"/>
              <a:gd name="T14" fmla="*/ 660 w 1790"/>
              <a:gd name="T15" fmla="*/ 1357 h 3502"/>
              <a:gd name="T16" fmla="*/ 517 w 1790"/>
              <a:gd name="T17" fmla="*/ 1673 h 3502"/>
              <a:gd name="T18" fmla="*/ 667 w 1790"/>
              <a:gd name="T19" fmla="*/ 1992 h 3502"/>
              <a:gd name="T20" fmla="*/ 775 w 1790"/>
              <a:gd name="T21" fmla="*/ 1920 h 3502"/>
              <a:gd name="T22" fmla="*/ 640 w 1790"/>
              <a:gd name="T23" fmla="*/ 1673 h 3502"/>
              <a:gd name="T24" fmla="*/ 777 w 1790"/>
              <a:gd name="T25" fmla="*/ 1421 h 3502"/>
              <a:gd name="T26" fmla="*/ 1068 w 1790"/>
              <a:gd name="T27" fmla="*/ 1401 h 3502"/>
              <a:gd name="T28" fmla="*/ 1239 w 1790"/>
              <a:gd name="T29" fmla="*/ 1629 h 3502"/>
              <a:gd name="T30" fmla="*/ 1133 w 1790"/>
              <a:gd name="T31" fmla="*/ 1903 h 3502"/>
              <a:gd name="T32" fmla="*/ 1228 w 1790"/>
              <a:gd name="T33" fmla="*/ 1980 h 3502"/>
              <a:gd name="T34" fmla="*/ 1365 w 1790"/>
              <a:gd name="T35" fmla="*/ 1673 h 3502"/>
              <a:gd name="T36" fmla="*/ 1223 w 1790"/>
              <a:gd name="T37" fmla="*/ 1357 h 3502"/>
              <a:gd name="T38" fmla="*/ 942 w 1790"/>
              <a:gd name="T39" fmla="*/ 1203 h 3502"/>
              <a:gd name="T40" fmla="*/ 1276 w 1790"/>
              <a:gd name="T41" fmla="*/ 1340 h 3502"/>
              <a:gd name="T42" fmla="*/ 1414 w 1790"/>
              <a:gd name="T43" fmla="*/ 1673 h 3502"/>
              <a:gd name="T44" fmla="*/ 1279 w 1790"/>
              <a:gd name="T45" fmla="*/ 2000 h 3502"/>
              <a:gd name="T46" fmla="*/ 1090 w 1790"/>
              <a:gd name="T47" fmla="*/ 2385 h 3502"/>
              <a:gd name="T48" fmla="*/ 1166 w 1790"/>
              <a:gd name="T49" fmla="*/ 2179 h 3502"/>
              <a:gd name="T50" fmla="*/ 1288 w 1790"/>
              <a:gd name="T51" fmla="*/ 2232 h 3502"/>
              <a:gd name="T52" fmla="*/ 1346 w 1790"/>
              <a:gd name="T53" fmla="*/ 2232 h 3502"/>
              <a:gd name="T54" fmla="*/ 1468 w 1790"/>
              <a:gd name="T55" fmla="*/ 2179 h 3502"/>
              <a:gd name="T56" fmla="*/ 1543 w 1790"/>
              <a:gd name="T57" fmla="*/ 2385 h 3502"/>
              <a:gd name="T58" fmla="*/ 1637 w 1790"/>
              <a:gd name="T59" fmla="*/ 2187 h 3502"/>
              <a:gd name="T60" fmla="*/ 1768 w 1790"/>
              <a:gd name="T61" fmla="*/ 2213 h 3502"/>
              <a:gd name="T62" fmla="*/ 1789 w 1790"/>
              <a:gd name="T63" fmla="*/ 3085 h 3502"/>
              <a:gd name="T64" fmla="*/ 1779 w 1790"/>
              <a:gd name="T65" fmla="*/ 3164 h 3502"/>
              <a:gd name="T66" fmla="*/ 1707 w 1790"/>
              <a:gd name="T67" fmla="*/ 3330 h 3502"/>
              <a:gd name="T68" fmla="*/ 1511 w 1790"/>
              <a:gd name="T69" fmla="*/ 3473 h 3502"/>
              <a:gd name="T70" fmla="*/ 1163 w 1790"/>
              <a:gd name="T71" fmla="*/ 3487 h 3502"/>
              <a:gd name="T72" fmla="*/ 934 w 1790"/>
              <a:gd name="T73" fmla="*/ 3373 h 3502"/>
              <a:gd name="T74" fmla="*/ 858 w 1790"/>
              <a:gd name="T75" fmla="*/ 3263 h 3502"/>
              <a:gd name="T76" fmla="*/ 768 w 1790"/>
              <a:gd name="T77" fmla="*/ 3106 h 3502"/>
              <a:gd name="T78" fmla="*/ 630 w 1790"/>
              <a:gd name="T79" fmla="*/ 2864 h 3502"/>
              <a:gd name="T80" fmla="*/ 521 w 1790"/>
              <a:gd name="T81" fmla="*/ 2667 h 3502"/>
              <a:gd name="T82" fmla="*/ 507 w 1790"/>
              <a:gd name="T83" fmla="*/ 2517 h 3502"/>
              <a:gd name="T84" fmla="*/ 636 w 1790"/>
              <a:gd name="T85" fmla="*/ 2496 h 3502"/>
              <a:gd name="T86" fmla="*/ 816 w 1790"/>
              <a:gd name="T87" fmla="*/ 2700 h 3502"/>
              <a:gd name="T88" fmla="*/ 615 w 1790"/>
              <a:gd name="T89" fmla="*/ 2011 h 3502"/>
              <a:gd name="T90" fmla="*/ 469 w 1790"/>
              <a:gd name="T91" fmla="*/ 1673 h 3502"/>
              <a:gd name="T92" fmla="*/ 608 w 1790"/>
              <a:gd name="T93" fmla="*/ 1340 h 3502"/>
              <a:gd name="T94" fmla="*/ 942 w 1790"/>
              <a:gd name="T95" fmla="*/ 1203 h 3502"/>
              <a:gd name="T96" fmla="*/ 639 w 1790"/>
              <a:gd name="T97" fmla="*/ 188 h 3502"/>
              <a:gd name="T98" fmla="*/ 1056 w 1790"/>
              <a:gd name="T99" fmla="*/ 141 h 3502"/>
              <a:gd name="T100" fmla="*/ 1625 w 1790"/>
              <a:gd name="T101" fmla="*/ 46 h 3502"/>
              <a:gd name="T102" fmla="*/ 1558 w 1790"/>
              <a:gd name="T103" fmla="*/ 2034 h 3502"/>
              <a:gd name="T104" fmla="*/ 161 w 1790"/>
              <a:gd name="T105" fmla="*/ 2902 h 3502"/>
              <a:gd name="T106" fmla="*/ 3 w 1790"/>
              <a:gd name="T107" fmla="*/ 2744 h 3502"/>
              <a:gd name="T108" fmla="*/ 71 w 1790"/>
              <a:gd name="T109" fmla="*/ 46 h 3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790" h="3502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2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E8B77F-33E8-BFE6-1A6D-F8A54B92C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544" y="1010211"/>
            <a:ext cx="6477455" cy="36947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ADA85D-960E-DBFA-84C9-815548FD691B}"/>
              </a:ext>
            </a:extLst>
          </p:cNvPr>
          <p:cNvSpPr txBox="1"/>
          <p:nvPr/>
        </p:nvSpPr>
        <p:spPr>
          <a:xfrm>
            <a:off x="117742" y="1085867"/>
            <a:ext cx="5534423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Dataset: A District-Level View of Crime in India</a:t>
            </a:r>
          </a:p>
          <a:p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Source &amp; Scope</a:t>
            </a:r>
            <a:endParaRPr lang="en-US" dirty="0"/>
          </a:p>
          <a:p>
            <a:r>
              <a:rPr lang="en-US" b="1" dirty="0"/>
              <a:t>Source:</a:t>
            </a:r>
            <a:r>
              <a:rPr lang="en-US" dirty="0"/>
              <a:t> National Crime Records Bureau (NCRB), "Crime in India" Report</a:t>
            </a:r>
          </a:p>
          <a:p>
            <a:r>
              <a:rPr lang="en-US" b="1" dirty="0"/>
              <a:t>Content:</a:t>
            </a:r>
            <a:r>
              <a:rPr lang="en-US" dirty="0"/>
              <a:t> Crimes registered under </a:t>
            </a:r>
            <a:r>
              <a:rPr lang="en-US" b="1" dirty="0"/>
              <a:t>Special and Local Laws (SLL)</a:t>
            </a:r>
            <a:endParaRPr lang="en-US" dirty="0"/>
          </a:p>
          <a:p>
            <a:r>
              <a:rPr lang="en-US" b="1" dirty="0"/>
              <a:t>Timeframe:</a:t>
            </a:r>
            <a:r>
              <a:rPr lang="en-US" dirty="0"/>
              <a:t> 6-year period (2017 - 2022)</a:t>
            </a:r>
          </a:p>
          <a:p>
            <a:endParaRPr lang="en-US" dirty="0"/>
          </a:p>
          <a:p>
            <a:r>
              <a:rPr lang="en-US" b="1" dirty="0"/>
              <a:t>2. The Key Feature: District-Level Granularity</a:t>
            </a:r>
            <a:endParaRPr lang="en-US" dirty="0"/>
          </a:p>
          <a:p>
            <a:r>
              <a:rPr lang="en-US" dirty="0"/>
              <a:t>The data is broken down by </a:t>
            </a:r>
            <a:r>
              <a:rPr lang="en-US" b="1" dirty="0"/>
              <a:t>District</a:t>
            </a:r>
            <a:r>
              <a:rPr lang="en-US" dirty="0"/>
              <a:t>, not just by State.</a:t>
            </a:r>
          </a:p>
          <a:p>
            <a:r>
              <a:rPr lang="en-US" b="1" dirty="0"/>
              <a:t>Why this matters:</a:t>
            </a:r>
            <a:r>
              <a:rPr lang="en-US" dirty="0"/>
              <a:t> It allows us to move beyond broad state-level averages and pinpoint specific, localized hotspots.</a:t>
            </a:r>
          </a:p>
          <a:p>
            <a:endParaRPr lang="en-US" dirty="0"/>
          </a:p>
          <a:p>
            <a:r>
              <a:rPr lang="en-US" b="1" dirty="0"/>
              <a:t>Structure:</a:t>
            </a:r>
            <a:r>
              <a:rPr lang="en-US" dirty="0"/>
              <a:t> District | Year | Crime 1 Count | Crime 2 Count ...</a:t>
            </a:r>
          </a:p>
        </p:txBody>
      </p:sp>
    </p:spTree>
    <p:extLst>
      <p:ext uri="{BB962C8B-B14F-4D97-AF65-F5344CB8AC3E}">
        <p14:creationId xmlns:p14="http://schemas.microsoft.com/office/powerpoint/2010/main" val="3985387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C4506-379D-E8BF-AE67-ED69C5710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C182F786-3996-A7B1-AEA6-7107BE96F8E2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AB13B7A-9D7C-A78A-8DB0-AA02A4B5D856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6AC9BCED-2D55-1031-3629-A148E513ED8A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D40E1932-F4BE-72AD-DDB1-13A65134775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6A35D2DA-8232-4137-3918-0557124925B7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9295659A-F56C-1E8B-88FB-FBF3DBB3AAAB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3926CAFE-C1E0-9B92-EACA-22807F96E9E7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CEBB1BD2-2493-8EE7-DBAA-A403A37BFCA8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66C0F150-61B2-278E-5B6C-592723133281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2C3C571E-9DD0-2B73-03F7-E57A24A5C53B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6B43B061-8609-CC80-AF60-7D66A87D636B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4DB256FD-70BA-8763-0D97-4E59B4126DCE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61C4E292-AC58-5D20-4F82-70A7B7C1BAA4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FAB6E577-7BC6-BFFC-2628-27685081810A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4302862A-4C76-091E-9DC7-81CAD3C97E60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62666876-AC10-401E-5A9A-A01455556663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73342151-787D-410D-311B-2371FED42B4D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5CA17F00-3FD3-81F6-1AB2-4B042D80CCF4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783D95C7-63FF-5B0F-FB5A-C2D5818080E2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E06F9A1B-844A-6520-5937-7BE148FF9E84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42BBFB54-C238-2253-93A3-DC2B5F33E698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5F859B81-4C40-3A1C-CE61-0514B2C9CE47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B2FF9E90-BBE7-1196-9080-3EBC0ABBF15E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4D8A431E-3573-CF23-3538-A6E4C6F7BF96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895331A2-0A61-D1C6-CF87-355D4B0E970F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82A06122-8F89-C918-4B13-4008C869FC53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E5269EEE-87F9-8B87-7944-A87128725DCC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9CEA7F9C-4A6C-6B38-2361-0C1982ED0605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57AD78F8-7A40-0C52-9054-107A9FFE5E00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5C75BBB3-D0BB-9351-BEEF-5B892E39816D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1B6F7D2F-C7ED-C93E-8BDB-5DEBE12E96DB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9C68AA58-902C-B185-8C9A-BE2246B134FE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24A82FC2-1F71-D9F5-CBBB-7480B9BD5202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A38E52BF-C0CD-A781-1D7C-57FF9A2EA30D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90F9D10D-E52F-E456-51A9-986682845049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47F7626D-B0D4-D661-3F45-97FFCE749A85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D245E824-FD73-75BA-7A92-D35D32398336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0D60E66F-E453-1274-4395-4BBBCE8A4F0A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4DF65F2-3584-0762-3F76-15494AED43F1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2D346CB1-3E19-1658-DFCC-DA0E6B7E667D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ACD5C382-E6A2-627B-BF7F-A53353F78DDF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B1F3A5B6-6629-DC9E-2DC1-9EEDEC2F5B39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3B165C7E-E5E8-1F68-7AB8-8C1393B5D648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D81EFB82-0B51-898B-7F2A-C560FAD0D084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9FA2BF9C-5B60-7D84-BD28-D08668C0A20B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CDECDAF4-4DB3-CC95-0507-8AA39271D3EC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528D2934-758A-2112-6C89-DB85012C3372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0ECCB26F-6FBC-1D29-B5AC-50E42057A131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074D6E44-ED29-1555-1504-A83FEDB6F15B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A2950048-2A8D-15D3-14F3-B41221BF1596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3437B328-5E9F-1CCA-86C7-BF178CC8BE96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BAB5024F-9DBC-4E75-E030-02B61A41CC27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EEB349FA-811F-6ADC-4D2F-B122791B2C7C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014372FD-26DE-F4B6-59CB-E4A3B7244FBC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4342ACFD-3575-4295-4A8C-FF5C79F4880A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01C971CF-C924-695C-3E19-52AAFF449D37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32DA9265-B838-A461-302F-18563027CE51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6FBF01F6-C9C6-F904-446C-B1673F67F363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D4FE5755-74D9-9308-A51E-7109D8181862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F3EE667A-D6B1-E921-8330-EC57F0D29599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ABE3E373-64C3-FBB3-1B5D-386576657516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4159497E-42A9-1D5F-0FC1-B5DE9EC4BD03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8F03A0C6-AAAC-5D52-C7CB-AA0E4952E974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DB0A621F-9536-5505-6816-8388774EBDF3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C99D5650-E943-B1EC-E4D4-6CD606623E25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8D7A7BDA-5837-855F-74A5-AAE2537130CE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C63679C1-F3C6-A9DD-9747-4DB460045985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6DB683A5-C069-0E44-6A86-CB93A09D7560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468B0BA9-4CEE-8A3B-1F6F-D4410C13D705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1A50DDAE-2200-A158-DC49-37ABC065B58E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3C45AFF9-F9CC-4A3A-30ED-16C0FFD6EE39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F15D7678-2625-D655-DB65-AFAD477246FF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1A8FBA1D-5373-7B17-BBB7-7620643A0D2D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6F4BC69E-B90C-AD1A-E54A-EC05C6C06986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856DFD7-863F-9C8E-3AD8-83406C011DA8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Exploratory Data Analysis (EDA)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281B5EBD-6353-E9F0-B2E3-759603CF1440}"/>
              </a:ext>
            </a:extLst>
          </p:cNvPr>
          <p:cNvSpPr txBox="1"/>
          <p:nvPr/>
        </p:nvSpPr>
        <p:spPr>
          <a:xfrm>
            <a:off x="7483294" y="2282149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E43E5249-BED6-C9F5-A5F8-D15E46BC5F4A}"/>
              </a:ext>
            </a:extLst>
          </p:cNvPr>
          <p:cNvSpPr txBox="1"/>
          <p:nvPr/>
        </p:nvSpPr>
        <p:spPr>
          <a:xfrm>
            <a:off x="6095999" y="4927086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5C22760C-97FB-54D6-6F1E-34D3B6AE6944}"/>
              </a:ext>
            </a:extLst>
          </p:cNvPr>
          <p:cNvSpPr txBox="1"/>
          <p:nvPr/>
        </p:nvSpPr>
        <p:spPr>
          <a:xfrm>
            <a:off x="3436733" y="3563674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359" name="Freeform 6">
            <a:extLst>
              <a:ext uri="{FF2B5EF4-FFF2-40B4-BE49-F238E27FC236}">
                <a16:creationId xmlns:a16="http://schemas.microsoft.com/office/drawing/2014/main" id="{96CACE79-E559-1A93-9D29-214BCDAEDE07}"/>
              </a:ext>
            </a:extLst>
          </p:cNvPr>
          <p:cNvSpPr>
            <a:spLocks noEditPoints="1"/>
          </p:cNvSpPr>
          <p:nvPr/>
        </p:nvSpPr>
        <p:spPr bwMode="auto">
          <a:xfrm>
            <a:off x="5133215" y="3730542"/>
            <a:ext cx="668338" cy="687387"/>
          </a:xfrm>
          <a:custGeom>
            <a:avLst/>
            <a:gdLst>
              <a:gd name="T0" fmla="*/ 1078 w 3366"/>
              <a:gd name="T1" fmla="*/ 2244 h 3464"/>
              <a:gd name="T2" fmla="*/ 1804 w 3366"/>
              <a:gd name="T3" fmla="*/ 2131 h 3464"/>
              <a:gd name="T4" fmla="*/ 1741 w 3366"/>
              <a:gd name="T5" fmla="*/ 452 h 3464"/>
              <a:gd name="T6" fmla="*/ 1878 w 3366"/>
              <a:gd name="T7" fmla="*/ 927 h 3464"/>
              <a:gd name="T8" fmla="*/ 1741 w 3366"/>
              <a:gd name="T9" fmla="*/ 452 h 3464"/>
              <a:gd name="T10" fmla="*/ 281 w 3366"/>
              <a:gd name="T11" fmla="*/ 3183 h 3464"/>
              <a:gd name="T12" fmla="*/ 2387 w 3366"/>
              <a:gd name="T13" fmla="*/ 1716 h 3464"/>
              <a:gd name="T14" fmla="*/ 2088 w 3366"/>
              <a:gd name="T15" fmla="*/ 2021 h 3464"/>
              <a:gd name="T16" fmla="*/ 1886 w 3366"/>
              <a:gd name="T17" fmla="*/ 2215 h 3464"/>
              <a:gd name="T18" fmla="*/ 2088 w 3366"/>
              <a:gd name="T19" fmla="*/ 2463 h 3464"/>
              <a:gd name="T20" fmla="*/ 580 w 3366"/>
              <a:gd name="T21" fmla="*/ 2604 h 3464"/>
              <a:gd name="T22" fmla="*/ 870 w 3366"/>
              <a:gd name="T23" fmla="*/ 2463 h 3464"/>
              <a:gd name="T24" fmla="*/ 580 w 3366"/>
              <a:gd name="T25" fmla="*/ 2021 h 3464"/>
              <a:gd name="T26" fmla="*/ 1110 w 3366"/>
              <a:gd name="T27" fmla="*/ 1880 h 3464"/>
              <a:gd name="T28" fmla="*/ 1366 w 3366"/>
              <a:gd name="T29" fmla="*/ 1438 h 3464"/>
              <a:gd name="T30" fmla="*/ 580 w 3366"/>
              <a:gd name="T31" fmla="*/ 1296 h 3464"/>
              <a:gd name="T32" fmla="*/ 1666 w 3366"/>
              <a:gd name="T33" fmla="*/ 1138 h 3464"/>
              <a:gd name="T34" fmla="*/ 1532 w 3366"/>
              <a:gd name="T35" fmla="*/ 281 h 3464"/>
              <a:gd name="T36" fmla="*/ 0 w 3366"/>
              <a:gd name="T37" fmla="*/ 0 h 3464"/>
              <a:gd name="T38" fmla="*/ 2241 w 3366"/>
              <a:gd name="T39" fmla="*/ 565 h 3464"/>
              <a:gd name="T40" fmla="*/ 2661 w 3366"/>
              <a:gd name="T41" fmla="*/ 150 h 3464"/>
              <a:gd name="T42" fmla="*/ 2712 w 3366"/>
              <a:gd name="T43" fmla="*/ 117 h 3464"/>
              <a:gd name="T44" fmla="*/ 2765 w 3366"/>
              <a:gd name="T45" fmla="*/ 97 h 3464"/>
              <a:gd name="T46" fmla="*/ 2816 w 3366"/>
              <a:gd name="T47" fmla="*/ 90 h 3464"/>
              <a:gd name="T48" fmla="*/ 2863 w 3366"/>
              <a:gd name="T49" fmla="*/ 100 h 3464"/>
              <a:gd name="T50" fmla="*/ 2900 w 3366"/>
              <a:gd name="T51" fmla="*/ 125 h 3464"/>
              <a:gd name="T52" fmla="*/ 3347 w 3366"/>
              <a:gd name="T53" fmla="*/ 578 h 3464"/>
              <a:gd name="T54" fmla="*/ 3364 w 3366"/>
              <a:gd name="T55" fmla="*/ 626 h 3464"/>
              <a:gd name="T56" fmla="*/ 3363 w 3366"/>
              <a:gd name="T57" fmla="*/ 680 h 3464"/>
              <a:gd name="T58" fmla="*/ 3344 w 3366"/>
              <a:gd name="T59" fmla="*/ 739 h 3464"/>
              <a:gd name="T60" fmla="*/ 3310 w 3366"/>
              <a:gd name="T61" fmla="*/ 796 h 3464"/>
              <a:gd name="T62" fmla="*/ 2668 w 3366"/>
              <a:gd name="T63" fmla="*/ 1437 h 3464"/>
              <a:gd name="T64" fmla="*/ 0 w 3366"/>
              <a:gd name="T65" fmla="*/ 3464 h 3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366" h="3464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" name="Freeform 11">
            <a:extLst>
              <a:ext uri="{FF2B5EF4-FFF2-40B4-BE49-F238E27FC236}">
                <a16:creationId xmlns:a16="http://schemas.microsoft.com/office/drawing/2014/main" id="{91DAC44F-3254-EB16-0AAF-0906F3CD14A1}"/>
              </a:ext>
            </a:extLst>
          </p:cNvPr>
          <p:cNvSpPr>
            <a:spLocks noEditPoints="1"/>
          </p:cNvSpPr>
          <p:nvPr/>
        </p:nvSpPr>
        <p:spPr bwMode="auto">
          <a:xfrm>
            <a:off x="5130834" y="2538361"/>
            <a:ext cx="673100" cy="503238"/>
          </a:xfrm>
          <a:custGeom>
            <a:avLst/>
            <a:gdLst>
              <a:gd name="T0" fmla="*/ 2212 w 3390"/>
              <a:gd name="T1" fmla="*/ 1401 h 2540"/>
              <a:gd name="T2" fmla="*/ 2082 w 3390"/>
              <a:gd name="T3" fmla="*/ 1890 h 2540"/>
              <a:gd name="T4" fmla="*/ 2394 w 3390"/>
              <a:gd name="T5" fmla="*/ 2275 h 2540"/>
              <a:gd name="T6" fmla="*/ 2900 w 3390"/>
              <a:gd name="T7" fmla="*/ 2249 h 2540"/>
              <a:gd name="T8" fmla="*/ 3170 w 3390"/>
              <a:gd name="T9" fmla="*/ 1832 h 2540"/>
              <a:gd name="T10" fmla="*/ 2991 w 3390"/>
              <a:gd name="T11" fmla="*/ 1361 h 2540"/>
              <a:gd name="T12" fmla="*/ 707 w 3390"/>
              <a:gd name="T13" fmla="*/ 1223 h 2540"/>
              <a:gd name="T14" fmla="*/ 290 w 3390"/>
              <a:gd name="T15" fmla="*/ 1493 h 2540"/>
              <a:gd name="T16" fmla="*/ 264 w 3390"/>
              <a:gd name="T17" fmla="*/ 1999 h 2540"/>
              <a:gd name="T18" fmla="*/ 649 w 3390"/>
              <a:gd name="T19" fmla="*/ 2312 h 2540"/>
              <a:gd name="T20" fmla="*/ 1137 w 3390"/>
              <a:gd name="T21" fmla="*/ 2182 h 2540"/>
              <a:gd name="T22" fmla="*/ 1316 w 3390"/>
              <a:gd name="T23" fmla="*/ 1712 h 2540"/>
              <a:gd name="T24" fmla="*/ 1046 w 3390"/>
              <a:gd name="T25" fmla="*/ 1295 h 2540"/>
              <a:gd name="T26" fmla="*/ 1556 w 3390"/>
              <a:gd name="T27" fmla="*/ 896 h 2540"/>
              <a:gd name="T28" fmla="*/ 1337 w 3390"/>
              <a:gd name="T29" fmla="*/ 1029 h 2540"/>
              <a:gd name="T30" fmla="*/ 1556 w 3390"/>
              <a:gd name="T31" fmla="*/ 1160 h 2540"/>
              <a:gd name="T32" fmla="*/ 1947 w 3390"/>
              <a:gd name="T33" fmla="*/ 1130 h 2540"/>
              <a:gd name="T34" fmla="*/ 2024 w 3390"/>
              <a:gd name="T35" fmla="*/ 973 h 2540"/>
              <a:gd name="T36" fmla="*/ 1695 w 3390"/>
              <a:gd name="T37" fmla="*/ 886 h 2540"/>
              <a:gd name="T38" fmla="*/ 1950 w 3390"/>
              <a:gd name="T39" fmla="*/ 406 h 2540"/>
              <a:gd name="T40" fmla="*/ 2007 w 3390"/>
              <a:gd name="T41" fmla="*/ 460 h 2540"/>
              <a:gd name="T42" fmla="*/ 2283 w 3390"/>
              <a:gd name="T43" fmla="*/ 342 h 2540"/>
              <a:gd name="T44" fmla="*/ 2422 w 3390"/>
              <a:gd name="T45" fmla="*/ 372 h 2540"/>
              <a:gd name="T46" fmla="*/ 2439 w 3390"/>
              <a:gd name="T47" fmla="*/ 294 h 2540"/>
              <a:gd name="T48" fmla="*/ 2260 w 3390"/>
              <a:gd name="T49" fmla="*/ 260 h 2540"/>
              <a:gd name="T50" fmla="*/ 954 w 3390"/>
              <a:gd name="T51" fmla="*/ 292 h 2540"/>
              <a:gd name="T52" fmla="*/ 955 w 3390"/>
              <a:gd name="T53" fmla="*/ 371 h 2540"/>
              <a:gd name="T54" fmla="*/ 1078 w 3390"/>
              <a:gd name="T55" fmla="*/ 346 h 2540"/>
              <a:gd name="T56" fmla="*/ 1326 w 3390"/>
              <a:gd name="T57" fmla="*/ 400 h 2540"/>
              <a:gd name="T58" fmla="*/ 1445 w 3390"/>
              <a:gd name="T59" fmla="*/ 441 h 2540"/>
              <a:gd name="T60" fmla="*/ 1225 w 3390"/>
              <a:gd name="T61" fmla="*/ 268 h 2540"/>
              <a:gd name="T62" fmla="*/ 1449 w 3390"/>
              <a:gd name="T63" fmla="*/ 92 h 2540"/>
              <a:gd name="T64" fmla="*/ 1505 w 3390"/>
              <a:gd name="T65" fmla="*/ 324 h 2540"/>
              <a:gd name="T66" fmla="*/ 1529 w 3390"/>
              <a:gd name="T67" fmla="*/ 705 h 2540"/>
              <a:gd name="T68" fmla="*/ 1626 w 3390"/>
              <a:gd name="T69" fmla="*/ 626 h 2540"/>
              <a:gd name="T70" fmla="*/ 1745 w 3390"/>
              <a:gd name="T71" fmla="*/ 610 h 2540"/>
              <a:gd name="T72" fmla="*/ 1828 w 3390"/>
              <a:gd name="T73" fmla="*/ 699 h 2540"/>
              <a:gd name="T74" fmla="*/ 1879 w 3390"/>
              <a:gd name="T75" fmla="*/ 406 h 2540"/>
              <a:gd name="T76" fmla="*/ 1904 w 3390"/>
              <a:gd name="T77" fmla="*/ 153 h 2540"/>
              <a:gd name="T78" fmla="*/ 2166 w 3390"/>
              <a:gd name="T79" fmla="*/ 1 h 2540"/>
              <a:gd name="T80" fmla="*/ 2396 w 3390"/>
              <a:gd name="T81" fmla="*/ 155 h 2540"/>
              <a:gd name="T82" fmla="*/ 2582 w 3390"/>
              <a:gd name="T83" fmla="*/ 410 h 2540"/>
              <a:gd name="T84" fmla="*/ 2844 w 3390"/>
              <a:gd name="T85" fmla="*/ 783 h 2540"/>
              <a:gd name="T86" fmla="*/ 3126 w 3390"/>
              <a:gd name="T87" fmla="*/ 1187 h 2540"/>
              <a:gd name="T88" fmla="*/ 3292 w 3390"/>
              <a:gd name="T89" fmla="*/ 1426 h 2540"/>
              <a:gd name="T90" fmla="*/ 3390 w 3390"/>
              <a:gd name="T91" fmla="*/ 1772 h 2540"/>
              <a:gd name="T92" fmla="*/ 3166 w 3390"/>
              <a:gd name="T93" fmla="*/ 2314 h 2540"/>
              <a:gd name="T94" fmla="*/ 2624 w 3390"/>
              <a:gd name="T95" fmla="*/ 2540 h 2540"/>
              <a:gd name="T96" fmla="*/ 2082 w 3390"/>
              <a:gd name="T97" fmla="*/ 2314 h 2540"/>
              <a:gd name="T98" fmla="*/ 1859 w 3390"/>
              <a:gd name="T99" fmla="*/ 1772 h 2540"/>
              <a:gd name="T100" fmla="*/ 1805 w 3390"/>
              <a:gd name="T101" fmla="*/ 1469 h 2540"/>
              <a:gd name="T102" fmla="*/ 1547 w 3390"/>
              <a:gd name="T103" fmla="*/ 1507 h 2540"/>
              <a:gd name="T104" fmla="*/ 1468 w 3390"/>
              <a:gd name="T105" fmla="*/ 2101 h 2540"/>
              <a:gd name="T106" fmla="*/ 1039 w 3390"/>
              <a:gd name="T107" fmla="*/ 2491 h 2540"/>
              <a:gd name="T108" fmla="*/ 442 w 3390"/>
              <a:gd name="T109" fmla="*/ 2466 h 2540"/>
              <a:gd name="T110" fmla="*/ 48 w 3390"/>
              <a:gd name="T111" fmla="*/ 2039 h 2540"/>
              <a:gd name="T112" fmla="*/ 34 w 3390"/>
              <a:gd name="T113" fmla="*/ 1579 h 2540"/>
              <a:gd name="T114" fmla="*/ 170 w 3390"/>
              <a:gd name="T115" fmla="*/ 1318 h 2540"/>
              <a:gd name="T116" fmla="*/ 413 w 3390"/>
              <a:gd name="T117" fmla="*/ 972 h 2540"/>
              <a:gd name="T118" fmla="*/ 703 w 3390"/>
              <a:gd name="T119" fmla="*/ 558 h 2540"/>
              <a:gd name="T120" fmla="*/ 888 w 3390"/>
              <a:gd name="T121" fmla="*/ 294 h 2540"/>
              <a:gd name="T122" fmla="*/ 1124 w 3390"/>
              <a:gd name="T123" fmla="*/ 34 h 2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0" h="254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61" name="Group 14">
            <a:extLst>
              <a:ext uri="{FF2B5EF4-FFF2-40B4-BE49-F238E27FC236}">
                <a16:creationId xmlns:a16="http://schemas.microsoft.com/office/drawing/2014/main" id="{207850D2-E519-9626-D470-EB1F4215EE9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45373" y="2438267"/>
            <a:ext cx="713404" cy="692800"/>
            <a:chOff x="638" y="291"/>
            <a:chExt cx="554" cy="538"/>
          </a:xfrm>
          <a:solidFill>
            <a:schemeClr val="bg1"/>
          </a:solidFill>
        </p:grpSpPr>
        <p:sp>
          <p:nvSpPr>
            <p:cNvPr id="362" name="Freeform 16">
              <a:extLst>
                <a:ext uri="{FF2B5EF4-FFF2-40B4-BE49-F238E27FC236}">
                  <a16:creationId xmlns:a16="http://schemas.microsoft.com/office/drawing/2014/main" id="{C3CCDE5B-1E35-FA98-FB12-52A8CD830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444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1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6 h 371"/>
                <a:gd name="T16" fmla="*/ 330 w 341"/>
                <a:gd name="T17" fmla="*/ 111 h 371"/>
                <a:gd name="T18" fmla="*/ 338 w 341"/>
                <a:gd name="T19" fmla="*/ 141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1 h 371"/>
                <a:gd name="T32" fmla="*/ 280 w 341"/>
                <a:gd name="T33" fmla="*/ 331 h 371"/>
                <a:gd name="T34" fmla="*/ 257 w 341"/>
                <a:gd name="T35" fmla="*/ 349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Freeform 17">
              <a:extLst>
                <a:ext uri="{FF2B5EF4-FFF2-40B4-BE49-F238E27FC236}">
                  <a16:creationId xmlns:a16="http://schemas.microsoft.com/office/drawing/2014/main" id="{1CAA7FEA-C135-DF71-CF4E-6BB78F009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17"/>
              <a:ext cx="57" cy="62"/>
            </a:xfrm>
            <a:custGeom>
              <a:avLst/>
              <a:gdLst>
                <a:gd name="T0" fmla="*/ 0 w 341"/>
                <a:gd name="T1" fmla="*/ 0 h 372"/>
                <a:gd name="T2" fmla="*/ 171 w 341"/>
                <a:gd name="T3" fmla="*/ 0 h 372"/>
                <a:gd name="T4" fmla="*/ 201 w 341"/>
                <a:gd name="T5" fmla="*/ 4 h 372"/>
                <a:gd name="T6" fmla="*/ 230 w 341"/>
                <a:gd name="T7" fmla="*/ 11 h 372"/>
                <a:gd name="T8" fmla="*/ 257 w 341"/>
                <a:gd name="T9" fmla="*/ 24 h 372"/>
                <a:gd name="T10" fmla="*/ 280 w 341"/>
                <a:gd name="T11" fmla="*/ 41 h 372"/>
                <a:gd name="T12" fmla="*/ 301 w 341"/>
                <a:gd name="T13" fmla="*/ 61 h 372"/>
                <a:gd name="T14" fmla="*/ 317 w 341"/>
                <a:gd name="T15" fmla="*/ 85 h 372"/>
                <a:gd name="T16" fmla="*/ 330 w 341"/>
                <a:gd name="T17" fmla="*/ 112 h 372"/>
                <a:gd name="T18" fmla="*/ 338 w 341"/>
                <a:gd name="T19" fmla="*/ 141 h 372"/>
                <a:gd name="T20" fmla="*/ 341 w 341"/>
                <a:gd name="T21" fmla="*/ 172 h 372"/>
                <a:gd name="T22" fmla="*/ 341 w 341"/>
                <a:gd name="T23" fmla="*/ 201 h 372"/>
                <a:gd name="T24" fmla="*/ 338 w 341"/>
                <a:gd name="T25" fmla="*/ 231 h 372"/>
                <a:gd name="T26" fmla="*/ 330 w 341"/>
                <a:gd name="T27" fmla="*/ 260 h 372"/>
                <a:gd name="T28" fmla="*/ 317 w 341"/>
                <a:gd name="T29" fmla="*/ 287 h 372"/>
                <a:gd name="T30" fmla="*/ 301 w 341"/>
                <a:gd name="T31" fmla="*/ 311 h 372"/>
                <a:gd name="T32" fmla="*/ 280 w 341"/>
                <a:gd name="T33" fmla="*/ 332 h 372"/>
                <a:gd name="T34" fmla="*/ 257 w 341"/>
                <a:gd name="T35" fmla="*/ 349 h 372"/>
                <a:gd name="T36" fmla="*/ 230 w 341"/>
                <a:gd name="T37" fmla="*/ 361 h 372"/>
                <a:gd name="T38" fmla="*/ 201 w 341"/>
                <a:gd name="T39" fmla="*/ 370 h 372"/>
                <a:gd name="T40" fmla="*/ 171 w 341"/>
                <a:gd name="T41" fmla="*/ 372 h 372"/>
                <a:gd name="T42" fmla="*/ 0 w 341"/>
                <a:gd name="T43" fmla="*/ 372 h 372"/>
                <a:gd name="T44" fmla="*/ 0 w 341"/>
                <a:gd name="T45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2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Freeform 18">
              <a:extLst>
                <a:ext uri="{FF2B5EF4-FFF2-40B4-BE49-F238E27FC236}">
                  <a16:creationId xmlns:a16="http://schemas.microsoft.com/office/drawing/2014/main" id="{6D3A33BB-D2EC-EDCD-63E9-AC6CFA690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90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0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4 h 371"/>
                <a:gd name="T16" fmla="*/ 330 w 341"/>
                <a:gd name="T17" fmla="*/ 111 h 371"/>
                <a:gd name="T18" fmla="*/ 338 w 341"/>
                <a:gd name="T19" fmla="*/ 140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0 h 371"/>
                <a:gd name="T32" fmla="*/ 280 w 341"/>
                <a:gd name="T33" fmla="*/ 331 h 371"/>
                <a:gd name="T34" fmla="*/ 257 w 341"/>
                <a:gd name="T35" fmla="*/ 348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Freeform 19">
              <a:extLst>
                <a:ext uri="{FF2B5EF4-FFF2-40B4-BE49-F238E27FC236}">
                  <a16:creationId xmlns:a16="http://schemas.microsoft.com/office/drawing/2014/main" id="{7B780DBA-BB23-BC98-FEF1-534F854EF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339"/>
              <a:ext cx="72" cy="72"/>
            </a:xfrm>
            <a:custGeom>
              <a:avLst/>
              <a:gdLst>
                <a:gd name="T0" fmla="*/ 317 w 430"/>
                <a:gd name="T1" fmla="*/ 0 h 433"/>
                <a:gd name="T2" fmla="*/ 341 w 430"/>
                <a:gd name="T3" fmla="*/ 3 h 433"/>
                <a:gd name="T4" fmla="*/ 362 w 430"/>
                <a:gd name="T5" fmla="*/ 10 h 433"/>
                <a:gd name="T6" fmla="*/ 382 w 430"/>
                <a:gd name="T7" fmla="*/ 22 h 433"/>
                <a:gd name="T8" fmla="*/ 398 w 430"/>
                <a:gd name="T9" fmla="*/ 37 h 433"/>
                <a:gd name="T10" fmla="*/ 411 w 430"/>
                <a:gd name="T11" fmla="*/ 56 h 433"/>
                <a:gd name="T12" fmla="*/ 421 w 430"/>
                <a:gd name="T13" fmla="*/ 77 h 433"/>
                <a:gd name="T14" fmla="*/ 427 w 430"/>
                <a:gd name="T15" fmla="*/ 102 h 433"/>
                <a:gd name="T16" fmla="*/ 430 w 430"/>
                <a:gd name="T17" fmla="*/ 129 h 433"/>
                <a:gd name="T18" fmla="*/ 430 w 430"/>
                <a:gd name="T19" fmla="*/ 153 h 433"/>
                <a:gd name="T20" fmla="*/ 426 w 430"/>
                <a:gd name="T21" fmla="*/ 189 h 433"/>
                <a:gd name="T22" fmla="*/ 416 w 430"/>
                <a:gd name="T23" fmla="*/ 225 h 433"/>
                <a:gd name="T24" fmla="*/ 402 w 430"/>
                <a:gd name="T25" fmla="*/ 259 h 433"/>
                <a:gd name="T26" fmla="*/ 383 w 430"/>
                <a:gd name="T27" fmla="*/ 291 h 433"/>
                <a:gd name="T28" fmla="*/ 358 w 430"/>
                <a:gd name="T29" fmla="*/ 321 h 433"/>
                <a:gd name="T30" fmla="*/ 331 w 430"/>
                <a:gd name="T31" fmla="*/ 345 h 433"/>
                <a:gd name="T32" fmla="*/ 301 w 430"/>
                <a:gd name="T33" fmla="*/ 366 h 433"/>
                <a:gd name="T34" fmla="*/ 269 w 430"/>
                <a:gd name="T35" fmla="*/ 382 h 433"/>
                <a:gd name="T36" fmla="*/ 0 w 430"/>
                <a:gd name="T37" fmla="*/ 433 h 433"/>
                <a:gd name="T38" fmla="*/ 0 w 430"/>
                <a:gd name="T39" fmla="*/ 37 h 433"/>
                <a:gd name="T40" fmla="*/ 266 w 430"/>
                <a:gd name="T41" fmla="*/ 6 h 433"/>
                <a:gd name="T42" fmla="*/ 293 w 430"/>
                <a:gd name="T43" fmla="*/ 1 h 433"/>
                <a:gd name="T44" fmla="*/ 317 w 430"/>
                <a:gd name="T45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0" h="433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Freeform 20">
              <a:extLst>
                <a:ext uri="{FF2B5EF4-FFF2-40B4-BE49-F238E27FC236}">
                  <a16:creationId xmlns:a16="http://schemas.microsoft.com/office/drawing/2014/main" id="{85F54E82-83E9-1126-44AC-6AD52060E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" y="291"/>
              <a:ext cx="245" cy="420"/>
            </a:xfrm>
            <a:custGeom>
              <a:avLst/>
              <a:gdLst>
                <a:gd name="T0" fmla="*/ 1304 w 1472"/>
                <a:gd name="T1" fmla="*/ 0 h 2521"/>
                <a:gd name="T2" fmla="*/ 1363 w 1472"/>
                <a:gd name="T3" fmla="*/ 12 h 2521"/>
                <a:gd name="T4" fmla="*/ 1412 w 1472"/>
                <a:gd name="T5" fmla="*/ 40 h 2521"/>
                <a:gd name="T6" fmla="*/ 1449 w 1472"/>
                <a:gd name="T7" fmla="*/ 85 h 2521"/>
                <a:gd name="T8" fmla="*/ 1469 w 1472"/>
                <a:gd name="T9" fmla="*/ 140 h 2521"/>
                <a:gd name="T10" fmla="*/ 1472 w 1472"/>
                <a:gd name="T11" fmla="*/ 2351 h 2521"/>
                <a:gd name="T12" fmla="*/ 1461 w 1472"/>
                <a:gd name="T13" fmla="*/ 2411 h 2521"/>
                <a:gd name="T14" fmla="*/ 1432 w 1472"/>
                <a:gd name="T15" fmla="*/ 2461 h 2521"/>
                <a:gd name="T16" fmla="*/ 1388 w 1472"/>
                <a:gd name="T17" fmla="*/ 2498 h 2521"/>
                <a:gd name="T18" fmla="*/ 1334 w 1472"/>
                <a:gd name="T19" fmla="*/ 2519 h 2521"/>
                <a:gd name="T20" fmla="*/ 947 w 1472"/>
                <a:gd name="T21" fmla="*/ 2521 h 2521"/>
                <a:gd name="T22" fmla="*/ 955 w 1472"/>
                <a:gd name="T23" fmla="*/ 2488 h 2521"/>
                <a:gd name="T24" fmla="*/ 961 w 1472"/>
                <a:gd name="T25" fmla="*/ 2467 h 2521"/>
                <a:gd name="T26" fmla="*/ 977 w 1472"/>
                <a:gd name="T27" fmla="*/ 2383 h 2521"/>
                <a:gd name="T28" fmla="*/ 823 w 1472"/>
                <a:gd name="T29" fmla="*/ 2367 h 2521"/>
                <a:gd name="T30" fmla="*/ 838 w 1472"/>
                <a:gd name="T31" fmla="*/ 2330 h 2521"/>
                <a:gd name="T32" fmla="*/ 837 w 1472"/>
                <a:gd name="T33" fmla="*/ 2286 h 2521"/>
                <a:gd name="T34" fmla="*/ 816 w 1472"/>
                <a:gd name="T35" fmla="*/ 2244 h 2521"/>
                <a:gd name="T36" fmla="*/ 780 w 1472"/>
                <a:gd name="T37" fmla="*/ 2215 h 2521"/>
                <a:gd name="T38" fmla="*/ 733 w 1472"/>
                <a:gd name="T39" fmla="*/ 2203 h 2521"/>
                <a:gd name="T40" fmla="*/ 686 w 1472"/>
                <a:gd name="T41" fmla="*/ 2215 h 2521"/>
                <a:gd name="T42" fmla="*/ 650 w 1472"/>
                <a:gd name="T43" fmla="*/ 2244 h 2521"/>
                <a:gd name="T44" fmla="*/ 630 w 1472"/>
                <a:gd name="T45" fmla="*/ 2286 h 2521"/>
                <a:gd name="T46" fmla="*/ 629 w 1472"/>
                <a:gd name="T47" fmla="*/ 2330 h 2521"/>
                <a:gd name="T48" fmla="*/ 643 w 1472"/>
                <a:gd name="T49" fmla="*/ 2367 h 2521"/>
                <a:gd name="T50" fmla="*/ 360 w 1472"/>
                <a:gd name="T51" fmla="*/ 2383 h 2521"/>
                <a:gd name="T52" fmla="*/ 363 w 1472"/>
                <a:gd name="T53" fmla="*/ 2374 h 2521"/>
                <a:gd name="T54" fmla="*/ 369 w 1472"/>
                <a:gd name="T55" fmla="*/ 2356 h 2521"/>
                <a:gd name="T56" fmla="*/ 372 w 1472"/>
                <a:gd name="T57" fmla="*/ 2054 h 2521"/>
                <a:gd name="T58" fmla="*/ 1212 w 1472"/>
                <a:gd name="T59" fmla="*/ 2051 h 2521"/>
                <a:gd name="T60" fmla="*/ 1236 w 1472"/>
                <a:gd name="T61" fmla="*/ 2034 h 2521"/>
                <a:gd name="T62" fmla="*/ 1244 w 1472"/>
                <a:gd name="T63" fmla="*/ 2006 h 2521"/>
                <a:gd name="T64" fmla="*/ 1242 w 1472"/>
                <a:gd name="T65" fmla="*/ 313 h 2521"/>
                <a:gd name="T66" fmla="*/ 1226 w 1472"/>
                <a:gd name="T67" fmla="*/ 290 h 2521"/>
                <a:gd name="T68" fmla="*/ 1198 w 1472"/>
                <a:gd name="T69" fmla="*/ 281 h 2521"/>
                <a:gd name="T70" fmla="*/ 259 w 1472"/>
                <a:gd name="T71" fmla="*/ 284 h 2521"/>
                <a:gd name="T72" fmla="*/ 237 w 1472"/>
                <a:gd name="T73" fmla="*/ 300 h 2521"/>
                <a:gd name="T74" fmla="*/ 228 w 1472"/>
                <a:gd name="T75" fmla="*/ 328 h 2521"/>
                <a:gd name="T76" fmla="*/ 0 w 1472"/>
                <a:gd name="T77" fmla="*/ 1459 h 2521"/>
                <a:gd name="T78" fmla="*/ 3 w 1472"/>
                <a:gd name="T79" fmla="*/ 140 h 2521"/>
                <a:gd name="T80" fmla="*/ 23 w 1472"/>
                <a:gd name="T81" fmla="*/ 85 h 2521"/>
                <a:gd name="T82" fmla="*/ 60 w 1472"/>
                <a:gd name="T83" fmla="*/ 40 h 2521"/>
                <a:gd name="T84" fmla="*/ 110 w 1472"/>
                <a:gd name="T85" fmla="*/ 12 h 2521"/>
                <a:gd name="T86" fmla="*/ 169 w 1472"/>
                <a:gd name="T87" fmla="*/ 0 h 2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72" h="2521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Freeform 21">
              <a:extLst>
                <a:ext uri="{FF2B5EF4-FFF2-40B4-BE49-F238E27FC236}">
                  <a16:creationId xmlns:a16="http://schemas.microsoft.com/office/drawing/2014/main" id="{2E51B3DC-13EF-8DC4-23CA-AC49FD719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" y="439"/>
              <a:ext cx="403" cy="390"/>
            </a:xfrm>
            <a:custGeom>
              <a:avLst/>
              <a:gdLst>
                <a:gd name="T0" fmla="*/ 1252 w 2416"/>
                <a:gd name="T1" fmla="*/ 666 h 2337"/>
                <a:gd name="T2" fmla="*/ 2225 w 2416"/>
                <a:gd name="T3" fmla="*/ 669 h 2337"/>
                <a:gd name="T4" fmla="*/ 2293 w 2416"/>
                <a:gd name="T5" fmla="*/ 689 h 2337"/>
                <a:gd name="T6" fmla="*/ 2349 w 2416"/>
                <a:gd name="T7" fmla="*/ 727 h 2337"/>
                <a:gd name="T8" fmla="*/ 2390 w 2416"/>
                <a:gd name="T9" fmla="*/ 780 h 2337"/>
                <a:gd name="T10" fmla="*/ 2413 w 2416"/>
                <a:gd name="T11" fmla="*/ 843 h 2337"/>
                <a:gd name="T12" fmla="*/ 2413 w 2416"/>
                <a:gd name="T13" fmla="*/ 912 h 2337"/>
                <a:gd name="T14" fmla="*/ 2390 w 2416"/>
                <a:gd name="T15" fmla="*/ 976 h 2337"/>
                <a:gd name="T16" fmla="*/ 2349 w 2416"/>
                <a:gd name="T17" fmla="*/ 1029 h 2337"/>
                <a:gd name="T18" fmla="*/ 2293 w 2416"/>
                <a:gd name="T19" fmla="*/ 1067 h 2337"/>
                <a:gd name="T20" fmla="*/ 2225 w 2416"/>
                <a:gd name="T21" fmla="*/ 1087 h 2337"/>
                <a:gd name="T22" fmla="*/ 1616 w 2416"/>
                <a:gd name="T23" fmla="*/ 1090 h 2337"/>
                <a:gd name="T24" fmla="*/ 1604 w 2416"/>
                <a:gd name="T25" fmla="*/ 1504 h 2337"/>
                <a:gd name="T26" fmla="*/ 1572 w 2416"/>
                <a:gd name="T27" fmla="*/ 1577 h 2337"/>
                <a:gd name="T28" fmla="*/ 1532 w 2416"/>
                <a:gd name="T29" fmla="*/ 1647 h 2337"/>
                <a:gd name="T30" fmla="*/ 1489 w 2416"/>
                <a:gd name="T31" fmla="*/ 1714 h 2337"/>
                <a:gd name="T32" fmla="*/ 1443 w 2416"/>
                <a:gd name="T33" fmla="*/ 1775 h 2337"/>
                <a:gd name="T34" fmla="*/ 1400 w 2416"/>
                <a:gd name="T35" fmla="*/ 1829 h 2337"/>
                <a:gd name="T36" fmla="*/ 1360 w 2416"/>
                <a:gd name="T37" fmla="*/ 1873 h 2337"/>
                <a:gd name="T38" fmla="*/ 1329 w 2416"/>
                <a:gd name="T39" fmla="*/ 1907 h 2337"/>
                <a:gd name="T40" fmla="*/ 1307 w 2416"/>
                <a:gd name="T41" fmla="*/ 1929 h 2337"/>
                <a:gd name="T42" fmla="*/ 1298 w 2416"/>
                <a:gd name="T43" fmla="*/ 1937 h 2337"/>
                <a:gd name="T44" fmla="*/ 1280 w 2416"/>
                <a:gd name="T45" fmla="*/ 1968 h 2337"/>
                <a:gd name="T46" fmla="*/ 1279 w 2416"/>
                <a:gd name="T47" fmla="*/ 2002 h 2337"/>
                <a:gd name="T48" fmla="*/ 1295 w 2416"/>
                <a:gd name="T49" fmla="*/ 2034 h 2337"/>
                <a:gd name="T50" fmla="*/ 1327 w 2416"/>
                <a:gd name="T51" fmla="*/ 2053 h 2337"/>
                <a:gd name="T52" fmla="*/ 1360 w 2416"/>
                <a:gd name="T53" fmla="*/ 2054 h 2337"/>
                <a:gd name="T54" fmla="*/ 1390 w 2416"/>
                <a:gd name="T55" fmla="*/ 2037 h 2337"/>
                <a:gd name="T56" fmla="*/ 1401 w 2416"/>
                <a:gd name="T57" fmla="*/ 2026 h 2337"/>
                <a:gd name="T58" fmla="*/ 1427 w 2416"/>
                <a:gd name="T59" fmla="*/ 2001 h 2337"/>
                <a:gd name="T60" fmla="*/ 1463 w 2416"/>
                <a:gd name="T61" fmla="*/ 1963 h 2337"/>
                <a:gd name="T62" fmla="*/ 1506 w 2416"/>
                <a:gd name="T63" fmla="*/ 1913 h 2337"/>
                <a:gd name="T64" fmla="*/ 1554 w 2416"/>
                <a:gd name="T65" fmla="*/ 1855 h 2337"/>
                <a:gd name="T66" fmla="*/ 1603 w 2416"/>
                <a:gd name="T67" fmla="*/ 1787 h 2337"/>
                <a:gd name="T68" fmla="*/ 1651 w 2416"/>
                <a:gd name="T69" fmla="*/ 1712 h 2337"/>
                <a:gd name="T70" fmla="*/ 1695 w 2416"/>
                <a:gd name="T71" fmla="*/ 1633 h 2337"/>
                <a:gd name="T72" fmla="*/ 2205 w 2416"/>
                <a:gd name="T73" fmla="*/ 1592 h 2337"/>
                <a:gd name="T74" fmla="*/ 2203 w 2416"/>
                <a:gd name="T75" fmla="*/ 1604 h 2337"/>
                <a:gd name="T76" fmla="*/ 2195 w 2416"/>
                <a:gd name="T77" fmla="*/ 1637 h 2337"/>
                <a:gd name="T78" fmla="*/ 2181 w 2416"/>
                <a:gd name="T79" fmla="*/ 1686 h 2337"/>
                <a:gd name="T80" fmla="*/ 2161 w 2416"/>
                <a:gd name="T81" fmla="*/ 1746 h 2337"/>
                <a:gd name="T82" fmla="*/ 2134 w 2416"/>
                <a:gd name="T83" fmla="*/ 1814 h 2337"/>
                <a:gd name="T84" fmla="*/ 2102 w 2416"/>
                <a:gd name="T85" fmla="*/ 1886 h 2337"/>
                <a:gd name="T86" fmla="*/ 2061 w 2416"/>
                <a:gd name="T87" fmla="*/ 1955 h 2337"/>
                <a:gd name="T88" fmla="*/ 2011 w 2416"/>
                <a:gd name="T89" fmla="*/ 2017 h 2337"/>
                <a:gd name="T90" fmla="*/ 1954 w 2416"/>
                <a:gd name="T91" fmla="*/ 2068 h 2337"/>
                <a:gd name="T92" fmla="*/ 1829 w 2416"/>
                <a:gd name="T93" fmla="*/ 2148 h 2337"/>
                <a:gd name="T94" fmla="*/ 1705 w 2416"/>
                <a:gd name="T95" fmla="*/ 2212 h 2337"/>
                <a:gd name="T96" fmla="*/ 1596 w 2416"/>
                <a:gd name="T97" fmla="*/ 2265 h 2337"/>
                <a:gd name="T98" fmla="*/ 1539 w 2416"/>
                <a:gd name="T99" fmla="*/ 2291 h 2337"/>
                <a:gd name="T100" fmla="*/ 1474 w 2416"/>
                <a:gd name="T101" fmla="*/ 2314 h 2337"/>
                <a:gd name="T102" fmla="*/ 1408 w 2416"/>
                <a:gd name="T103" fmla="*/ 2331 h 2337"/>
                <a:gd name="T104" fmla="*/ 1346 w 2416"/>
                <a:gd name="T105" fmla="*/ 2337 h 2337"/>
                <a:gd name="T106" fmla="*/ 73 w 2416"/>
                <a:gd name="T107" fmla="*/ 2335 h 2337"/>
                <a:gd name="T108" fmla="*/ 35 w 2416"/>
                <a:gd name="T109" fmla="*/ 2320 h 2337"/>
                <a:gd name="T110" fmla="*/ 9 w 2416"/>
                <a:gd name="T111" fmla="*/ 2292 h 2337"/>
                <a:gd name="T112" fmla="*/ 0 w 2416"/>
                <a:gd name="T113" fmla="*/ 2255 h 2337"/>
                <a:gd name="T114" fmla="*/ 8 w 2416"/>
                <a:gd name="T115" fmla="*/ 2211 h 2337"/>
                <a:gd name="T116" fmla="*/ 623 w 2416"/>
                <a:gd name="T117" fmla="*/ 542 h 2337"/>
                <a:gd name="T118" fmla="*/ 674 w 2416"/>
                <a:gd name="T119" fmla="*/ 458 h 2337"/>
                <a:gd name="T120" fmla="*/ 738 w 2416"/>
                <a:gd name="T121" fmla="*/ 377 h 2337"/>
                <a:gd name="T122" fmla="*/ 810 w 2416"/>
                <a:gd name="T123" fmla="*/ 306 h 2337"/>
                <a:gd name="T124" fmla="*/ 882 w 2416"/>
                <a:gd name="T125" fmla="*/ 251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16" h="2337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8" name="Freeform 26">
            <a:extLst>
              <a:ext uri="{FF2B5EF4-FFF2-40B4-BE49-F238E27FC236}">
                <a16:creationId xmlns:a16="http://schemas.microsoft.com/office/drawing/2014/main" id="{985E79A6-936C-57DC-6831-1E540F3DDC59}"/>
              </a:ext>
            </a:extLst>
          </p:cNvPr>
          <p:cNvSpPr>
            <a:spLocks noEditPoints="1"/>
          </p:cNvSpPr>
          <p:nvPr/>
        </p:nvSpPr>
        <p:spPr bwMode="auto">
          <a:xfrm>
            <a:off x="6549005" y="3730542"/>
            <a:ext cx="355600" cy="695325"/>
          </a:xfrm>
          <a:custGeom>
            <a:avLst/>
            <a:gdLst>
              <a:gd name="T0" fmla="*/ 765 w 1790"/>
              <a:gd name="T1" fmla="*/ 1570 h 3502"/>
              <a:gd name="T2" fmla="*/ 778 w 1790"/>
              <a:gd name="T3" fmla="*/ 1793 h 3502"/>
              <a:gd name="T4" fmla="*/ 871 w 1790"/>
              <a:gd name="T5" fmla="*/ 1683 h 3502"/>
              <a:gd name="T6" fmla="*/ 1004 w 1790"/>
              <a:gd name="T7" fmla="*/ 1655 h 3502"/>
              <a:gd name="T8" fmla="*/ 1083 w 1790"/>
              <a:gd name="T9" fmla="*/ 1817 h 3502"/>
              <a:gd name="T10" fmla="*/ 1132 w 1790"/>
              <a:gd name="T11" fmla="*/ 1601 h 3502"/>
              <a:gd name="T12" fmla="*/ 942 w 1790"/>
              <a:gd name="T13" fmla="*/ 1469 h 3502"/>
              <a:gd name="T14" fmla="*/ 660 w 1790"/>
              <a:gd name="T15" fmla="*/ 1357 h 3502"/>
              <a:gd name="T16" fmla="*/ 517 w 1790"/>
              <a:gd name="T17" fmla="*/ 1673 h 3502"/>
              <a:gd name="T18" fmla="*/ 667 w 1790"/>
              <a:gd name="T19" fmla="*/ 1992 h 3502"/>
              <a:gd name="T20" fmla="*/ 775 w 1790"/>
              <a:gd name="T21" fmla="*/ 1920 h 3502"/>
              <a:gd name="T22" fmla="*/ 640 w 1790"/>
              <a:gd name="T23" fmla="*/ 1673 h 3502"/>
              <a:gd name="T24" fmla="*/ 777 w 1790"/>
              <a:gd name="T25" fmla="*/ 1421 h 3502"/>
              <a:gd name="T26" fmla="*/ 1068 w 1790"/>
              <a:gd name="T27" fmla="*/ 1401 h 3502"/>
              <a:gd name="T28" fmla="*/ 1239 w 1790"/>
              <a:gd name="T29" fmla="*/ 1629 h 3502"/>
              <a:gd name="T30" fmla="*/ 1133 w 1790"/>
              <a:gd name="T31" fmla="*/ 1903 h 3502"/>
              <a:gd name="T32" fmla="*/ 1228 w 1790"/>
              <a:gd name="T33" fmla="*/ 1980 h 3502"/>
              <a:gd name="T34" fmla="*/ 1365 w 1790"/>
              <a:gd name="T35" fmla="*/ 1673 h 3502"/>
              <a:gd name="T36" fmla="*/ 1223 w 1790"/>
              <a:gd name="T37" fmla="*/ 1357 h 3502"/>
              <a:gd name="T38" fmla="*/ 942 w 1790"/>
              <a:gd name="T39" fmla="*/ 1203 h 3502"/>
              <a:gd name="T40" fmla="*/ 1276 w 1790"/>
              <a:gd name="T41" fmla="*/ 1340 h 3502"/>
              <a:gd name="T42" fmla="*/ 1414 w 1790"/>
              <a:gd name="T43" fmla="*/ 1673 h 3502"/>
              <a:gd name="T44" fmla="*/ 1279 w 1790"/>
              <a:gd name="T45" fmla="*/ 2000 h 3502"/>
              <a:gd name="T46" fmla="*/ 1090 w 1790"/>
              <a:gd name="T47" fmla="*/ 2385 h 3502"/>
              <a:gd name="T48" fmla="*/ 1166 w 1790"/>
              <a:gd name="T49" fmla="*/ 2179 h 3502"/>
              <a:gd name="T50" fmla="*/ 1288 w 1790"/>
              <a:gd name="T51" fmla="*/ 2232 h 3502"/>
              <a:gd name="T52" fmla="*/ 1346 w 1790"/>
              <a:gd name="T53" fmla="*/ 2232 h 3502"/>
              <a:gd name="T54" fmla="*/ 1468 w 1790"/>
              <a:gd name="T55" fmla="*/ 2179 h 3502"/>
              <a:gd name="T56" fmla="*/ 1543 w 1790"/>
              <a:gd name="T57" fmla="*/ 2385 h 3502"/>
              <a:gd name="T58" fmla="*/ 1637 w 1790"/>
              <a:gd name="T59" fmla="*/ 2187 h 3502"/>
              <a:gd name="T60" fmla="*/ 1768 w 1790"/>
              <a:gd name="T61" fmla="*/ 2213 h 3502"/>
              <a:gd name="T62" fmla="*/ 1789 w 1790"/>
              <a:gd name="T63" fmla="*/ 3085 h 3502"/>
              <a:gd name="T64" fmla="*/ 1779 w 1790"/>
              <a:gd name="T65" fmla="*/ 3164 h 3502"/>
              <a:gd name="T66" fmla="*/ 1707 w 1790"/>
              <a:gd name="T67" fmla="*/ 3330 h 3502"/>
              <a:gd name="T68" fmla="*/ 1511 w 1790"/>
              <a:gd name="T69" fmla="*/ 3473 h 3502"/>
              <a:gd name="T70" fmla="*/ 1163 w 1790"/>
              <a:gd name="T71" fmla="*/ 3487 h 3502"/>
              <a:gd name="T72" fmla="*/ 934 w 1790"/>
              <a:gd name="T73" fmla="*/ 3373 h 3502"/>
              <a:gd name="T74" fmla="*/ 858 w 1790"/>
              <a:gd name="T75" fmla="*/ 3263 h 3502"/>
              <a:gd name="T76" fmla="*/ 768 w 1790"/>
              <a:gd name="T77" fmla="*/ 3106 h 3502"/>
              <a:gd name="T78" fmla="*/ 630 w 1790"/>
              <a:gd name="T79" fmla="*/ 2864 h 3502"/>
              <a:gd name="T80" fmla="*/ 521 w 1790"/>
              <a:gd name="T81" fmla="*/ 2667 h 3502"/>
              <a:gd name="T82" fmla="*/ 507 w 1790"/>
              <a:gd name="T83" fmla="*/ 2517 h 3502"/>
              <a:gd name="T84" fmla="*/ 636 w 1790"/>
              <a:gd name="T85" fmla="*/ 2496 h 3502"/>
              <a:gd name="T86" fmla="*/ 816 w 1790"/>
              <a:gd name="T87" fmla="*/ 2700 h 3502"/>
              <a:gd name="T88" fmla="*/ 615 w 1790"/>
              <a:gd name="T89" fmla="*/ 2011 h 3502"/>
              <a:gd name="T90" fmla="*/ 469 w 1790"/>
              <a:gd name="T91" fmla="*/ 1673 h 3502"/>
              <a:gd name="T92" fmla="*/ 608 w 1790"/>
              <a:gd name="T93" fmla="*/ 1340 h 3502"/>
              <a:gd name="T94" fmla="*/ 942 w 1790"/>
              <a:gd name="T95" fmla="*/ 1203 h 3502"/>
              <a:gd name="T96" fmla="*/ 639 w 1790"/>
              <a:gd name="T97" fmla="*/ 188 h 3502"/>
              <a:gd name="T98" fmla="*/ 1056 w 1790"/>
              <a:gd name="T99" fmla="*/ 141 h 3502"/>
              <a:gd name="T100" fmla="*/ 1625 w 1790"/>
              <a:gd name="T101" fmla="*/ 46 h 3502"/>
              <a:gd name="T102" fmla="*/ 1558 w 1790"/>
              <a:gd name="T103" fmla="*/ 2034 h 3502"/>
              <a:gd name="T104" fmla="*/ 161 w 1790"/>
              <a:gd name="T105" fmla="*/ 2902 h 3502"/>
              <a:gd name="T106" fmla="*/ 3 w 1790"/>
              <a:gd name="T107" fmla="*/ 2744 h 3502"/>
              <a:gd name="T108" fmla="*/ 71 w 1790"/>
              <a:gd name="T109" fmla="*/ 46 h 3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790" h="3502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9898F2-1AD0-E235-C81E-E22D3D6BF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958119-7BD7-B4FC-CD59-A18BD2BFF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3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E491E2-1405-EE0E-9869-3A5F4D34C576}"/>
              </a:ext>
            </a:extLst>
          </p:cNvPr>
          <p:cNvSpPr txBox="1"/>
          <p:nvPr/>
        </p:nvSpPr>
        <p:spPr>
          <a:xfrm>
            <a:off x="29587" y="668169"/>
            <a:ext cx="12196232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EDA: What the Data Told Us</a:t>
            </a:r>
          </a:p>
          <a:p>
            <a:endParaRPr lang="en-US" b="1" dirty="0"/>
          </a:p>
          <a:p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Key Objective:</a:t>
            </a:r>
            <a:r>
              <a:rPr lang="en-US" dirty="0"/>
              <a:t> To find hidden patterns and hotspots by correlating 11 key crimes.</a:t>
            </a:r>
          </a:p>
          <a:p>
            <a:endParaRPr lang="en-US" dirty="0"/>
          </a:p>
          <a:p>
            <a:r>
              <a:rPr lang="en-US" b="1" dirty="0"/>
              <a:t>2. Key Findings (The "Why" behind the numbers):</a:t>
            </a:r>
          </a:p>
          <a:p>
            <a:endParaRPr lang="en-US" dirty="0"/>
          </a:p>
          <a:p>
            <a:r>
              <a:rPr lang="en-US" b="1" dirty="0"/>
              <a:t>Finding 1: The "Compound Crime" Link (Correlation: 0.35)</a:t>
            </a:r>
            <a:endParaRPr lang="en-US" dirty="0"/>
          </a:p>
          <a:p>
            <a:pPr lvl="1"/>
            <a:r>
              <a:rPr lang="en-US" b="1" dirty="0"/>
              <a:t>What:</a:t>
            </a:r>
            <a:r>
              <a:rPr lang="en-US" dirty="0"/>
              <a:t> Immoral Traffic (ITPA) is linked to Child Sexual Offences (POCSO).</a:t>
            </a:r>
          </a:p>
          <a:p>
            <a:pPr lvl="1"/>
            <a:r>
              <a:rPr lang="en-US" b="1" dirty="0"/>
              <a:t>Insight:</a:t>
            </a:r>
            <a:r>
              <a:rPr lang="en-US" dirty="0"/>
              <a:t> These are </a:t>
            </a:r>
            <a:r>
              <a:rPr lang="en-US" b="1" dirty="0"/>
              <a:t>compound crimes</a:t>
            </a:r>
            <a:r>
              <a:rPr lang="en-US" dirty="0"/>
              <a:t> (one event, two charges) concentrated in major urban hotspots like </a:t>
            </a:r>
            <a:r>
              <a:rPr lang="en-US" b="1" dirty="0"/>
              <a:t>Mumbai</a:t>
            </a:r>
            <a:r>
              <a:rPr lang="en-US" dirty="0"/>
              <a:t> and </a:t>
            </a:r>
            <a:r>
              <a:rPr lang="en-US" b="1" dirty="0"/>
              <a:t>Bengaluru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b="1" dirty="0"/>
              <a:t>Finding 2: The "Vice Link" (Correlation: 0.39)</a:t>
            </a:r>
            <a:endParaRPr lang="en-US" dirty="0"/>
          </a:p>
          <a:p>
            <a:pPr lvl="1"/>
            <a:r>
              <a:rPr lang="en-US" b="1" dirty="0"/>
              <a:t>What:</a:t>
            </a:r>
            <a:r>
              <a:rPr lang="en-US" dirty="0"/>
              <a:t> Gambling Act is linked to Excise Act (liquor).</a:t>
            </a:r>
          </a:p>
          <a:p>
            <a:pPr lvl="1"/>
            <a:r>
              <a:rPr lang="en-US" b="1" dirty="0"/>
              <a:t>Insight:</a:t>
            </a:r>
            <a:r>
              <a:rPr lang="en-US" dirty="0"/>
              <a:t> A direct operational link, highly concentrated in a few districts, with the </a:t>
            </a:r>
            <a:r>
              <a:rPr lang="en-US" b="1" dirty="0"/>
              <a:t>Top 5 hotspots all in Madhya Pradesh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b="1" dirty="0"/>
              <a:t>Finding 3: The "Urbanization Effect" (Correlation: 0.41 - 0.47)</a:t>
            </a:r>
            <a:endParaRPr lang="en-US" dirty="0"/>
          </a:p>
          <a:p>
            <a:pPr lvl="1"/>
            <a:r>
              <a:rPr lang="en-US" b="1" dirty="0"/>
              <a:t>What:</a:t>
            </a:r>
            <a:r>
              <a:rPr lang="en-US" dirty="0"/>
              <a:t> IT Act (Cybercrime) is linked to Dowry and Immoral Traffic.</a:t>
            </a:r>
          </a:p>
          <a:p>
            <a:pPr lvl="1"/>
            <a:r>
              <a:rPr lang="en-US" b="1" dirty="0"/>
              <a:t>Insight:</a:t>
            </a:r>
            <a:r>
              <a:rPr lang="en-US" dirty="0"/>
              <a:t> A "lurking variable" effect. </a:t>
            </a:r>
            <a:r>
              <a:rPr lang="en-US" b="1" dirty="0"/>
              <a:t>Urbanization</a:t>
            </a:r>
            <a:r>
              <a:rPr lang="en-US" dirty="0"/>
              <a:t> concentrates modern high-tech crime and high-reporting of traditional social crime in the same cities (e.g., </a:t>
            </a:r>
            <a:r>
              <a:rPr lang="en-US" b="1" dirty="0"/>
              <a:t>Bengaluru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282231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BD7EA-DA4A-C374-CF11-19A782EB2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27FDCA50-2114-B3BF-C343-2BC3D5B79852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AEB92DD3-EF22-C704-F004-B693C949DDDA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A6964970-35A4-7E75-F4CD-C8F6F4DFD16A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C5502F4F-186F-82DD-397F-3BEEA6CED109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8CCC406C-22F4-A290-9486-C6DF81E5DDB5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0CAFE25C-5970-1576-F9BE-571D4418D4AA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A15E57E3-8BFB-C967-22FE-07B094653838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331748A5-7C64-8584-60AB-F9D60C788257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B54102EB-FFA7-2F77-1BBF-B5C7A742E116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7CFBDB79-E202-595A-BD66-6F1A289135C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F0FD732C-FA09-15B8-B132-66E44156D749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EE5AC1E3-DDF4-2FE9-B3F3-A9CDF38527C1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15C92331-31C4-AA53-3D69-D05D631ED8CB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76796426-D9DA-5EB3-FE70-C67FD889C342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18877969-80B1-E5D7-FF42-FFD7AEF3EA9B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FF5ABD36-7976-B290-295E-3499CC17D8C5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67659FDD-2FBC-7E65-B849-356C48B004C7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31DBA520-EF7B-7750-BD58-DB327843C92C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F85B1E83-2C83-B5F0-26AF-6FABE3A08EC8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3D8A61CF-9176-7CAE-16AD-ADBA9363188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24F7E78F-EF0D-072B-4DF8-76C0B04768BA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F075A07E-5EDC-69FD-9F63-18537D83E8E1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5246B486-ABA5-47B6-DFAF-7852C0A7521F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A00D4E06-A8E1-7A68-743A-A89701484592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723D6E89-EE29-DB8D-E965-9ACE4B1B42DD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7D375258-B3AE-CAEF-4077-5BDA9DE14E9F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6FAA8DF2-F577-37D8-22C7-EFB03D674F4A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7B01828F-D686-0A06-2EF0-0B185B78C2C0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C5CCA88D-4418-961E-174B-E9DC9DFD20F5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F7FC057C-B009-FD10-4671-C85FCBF1E755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37711900-ED1E-C962-DEC4-BE4A3FF7F7D9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BF954D8F-5BC2-B5E4-E33E-94757FD2C9D2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2FE639D5-0BFE-4379-52BE-815295CA295F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745270C4-6757-1322-B822-BA76E0C6B004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B96D7072-A1AA-C5A5-94B6-ADE58BB78C4C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C4CBE944-AC1F-6430-F736-DA16577FEB84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F31BE932-14B5-AE4F-1FD2-8A46F95DD963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0C7E3208-F624-ED3F-1F4F-001032C44B8C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23B321B-CC4B-2276-440B-5334E1349413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84BF0911-9B8B-A40E-DFFF-F92CE776AC15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2CA926D8-9BA7-7E03-4175-41A012A48AE3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439F8740-84F0-0002-38AD-A8126AB86A7E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F1837553-EC8E-409D-5EEC-BF84649AAA8A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7BA3AC2E-3A79-D2E4-52B3-06F0CEAC091B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DD8C0749-964A-9C1F-3790-2738AC82DC29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31C00A1E-9E76-CDC2-2126-ABA4A86BE907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BFCA63D7-96CE-EE55-4EE4-28B6D70C279B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FD4071C1-FEC6-60D3-8894-30D1291FA5B6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71B73879-D544-450B-C33B-FA08755FD012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00A1885F-6470-5E27-9BFF-4A416E16622E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C5C8A710-D6D2-9ADA-FFFB-C74EBE330F75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7317AE97-044D-D8FE-4AC6-C952F9796700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67199DBB-5151-0F3F-0CE7-D4461AE09451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63A0E4FD-0224-7295-AB04-8D18AA808EF9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FA85BE27-4885-6398-6937-02DE7FB3BCF1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D2EE498F-81B2-50B4-9055-03B2A9F72D31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95D96E36-E360-F760-CA09-F7E29AD7DDC4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2E1EEE17-0BA7-593F-ECC6-FA0594A6092F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1A155B72-914B-00C8-2547-1D75036D854D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9573705D-CA16-BC02-F66E-17D109970174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6DF492B2-8E65-3F69-9472-743491734B90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98325389-478B-86EE-F1AA-6E0BFA1A814D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6A2BA1F8-DA49-585F-8D91-4A7907599E25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FA871E1A-008B-0DB5-BF86-839DC4DBB156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EF37E9AD-13A1-DA6B-24CE-90812CCC1FE0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1D6B526A-7AE4-9B02-AA2B-D33431D14D4F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4CD04AFC-C31C-955E-F05F-5C00BE0432F0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A540BDED-19A1-FFC6-7138-5F2635D5F24B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B3CAE417-7DAC-08A5-A531-F6194E4E3F40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512D10E3-B425-20AC-ACE1-048D27760C6D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62DAD690-831A-04A4-E67E-1ED9907197D5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016847C9-D51D-0150-B4C0-A087812ED87B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24D9AF3C-7841-302D-A0B2-A5D8A2270878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48E48BA3-CE77-FAF2-9693-90AE51A38015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F7CAAAB-116B-0A1B-6243-28372D569E4F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Regression Analysis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101B4622-250B-79F2-F929-A9D3763ACED2}"/>
              </a:ext>
            </a:extLst>
          </p:cNvPr>
          <p:cNvSpPr txBox="1"/>
          <p:nvPr/>
        </p:nvSpPr>
        <p:spPr>
          <a:xfrm>
            <a:off x="7483294" y="2282149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5929BED-CAA0-5DAD-81B9-7E1D6801205C}"/>
              </a:ext>
            </a:extLst>
          </p:cNvPr>
          <p:cNvSpPr txBox="1"/>
          <p:nvPr/>
        </p:nvSpPr>
        <p:spPr>
          <a:xfrm>
            <a:off x="6095999" y="4927086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CB8D75F9-453D-2168-CF0C-44DD06477B33}"/>
              </a:ext>
            </a:extLst>
          </p:cNvPr>
          <p:cNvSpPr txBox="1"/>
          <p:nvPr/>
        </p:nvSpPr>
        <p:spPr>
          <a:xfrm>
            <a:off x="3436733" y="3563674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359" name="Freeform 6">
            <a:extLst>
              <a:ext uri="{FF2B5EF4-FFF2-40B4-BE49-F238E27FC236}">
                <a16:creationId xmlns:a16="http://schemas.microsoft.com/office/drawing/2014/main" id="{6D3D20CA-4256-013A-831E-300955624C78}"/>
              </a:ext>
            </a:extLst>
          </p:cNvPr>
          <p:cNvSpPr>
            <a:spLocks noEditPoints="1"/>
          </p:cNvSpPr>
          <p:nvPr/>
        </p:nvSpPr>
        <p:spPr bwMode="auto">
          <a:xfrm>
            <a:off x="5133215" y="3730542"/>
            <a:ext cx="668338" cy="687387"/>
          </a:xfrm>
          <a:custGeom>
            <a:avLst/>
            <a:gdLst>
              <a:gd name="T0" fmla="*/ 1078 w 3366"/>
              <a:gd name="T1" fmla="*/ 2244 h 3464"/>
              <a:gd name="T2" fmla="*/ 1804 w 3366"/>
              <a:gd name="T3" fmla="*/ 2131 h 3464"/>
              <a:gd name="T4" fmla="*/ 1741 w 3366"/>
              <a:gd name="T5" fmla="*/ 452 h 3464"/>
              <a:gd name="T6" fmla="*/ 1878 w 3366"/>
              <a:gd name="T7" fmla="*/ 927 h 3464"/>
              <a:gd name="T8" fmla="*/ 1741 w 3366"/>
              <a:gd name="T9" fmla="*/ 452 h 3464"/>
              <a:gd name="T10" fmla="*/ 281 w 3366"/>
              <a:gd name="T11" fmla="*/ 3183 h 3464"/>
              <a:gd name="T12" fmla="*/ 2387 w 3366"/>
              <a:gd name="T13" fmla="*/ 1716 h 3464"/>
              <a:gd name="T14" fmla="*/ 2088 w 3366"/>
              <a:gd name="T15" fmla="*/ 2021 h 3464"/>
              <a:gd name="T16" fmla="*/ 1886 w 3366"/>
              <a:gd name="T17" fmla="*/ 2215 h 3464"/>
              <a:gd name="T18" fmla="*/ 2088 w 3366"/>
              <a:gd name="T19" fmla="*/ 2463 h 3464"/>
              <a:gd name="T20" fmla="*/ 580 w 3366"/>
              <a:gd name="T21" fmla="*/ 2604 h 3464"/>
              <a:gd name="T22" fmla="*/ 870 w 3366"/>
              <a:gd name="T23" fmla="*/ 2463 h 3464"/>
              <a:gd name="T24" fmla="*/ 580 w 3366"/>
              <a:gd name="T25" fmla="*/ 2021 h 3464"/>
              <a:gd name="T26" fmla="*/ 1110 w 3366"/>
              <a:gd name="T27" fmla="*/ 1880 h 3464"/>
              <a:gd name="T28" fmla="*/ 1366 w 3366"/>
              <a:gd name="T29" fmla="*/ 1438 h 3464"/>
              <a:gd name="T30" fmla="*/ 580 w 3366"/>
              <a:gd name="T31" fmla="*/ 1296 h 3464"/>
              <a:gd name="T32" fmla="*/ 1666 w 3366"/>
              <a:gd name="T33" fmla="*/ 1138 h 3464"/>
              <a:gd name="T34" fmla="*/ 1532 w 3366"/>
              <a:gd name="T35" fmla="*/ 281 h 3464"/>
              <a:gd name="T36" fmla="*/ 0 w 3366"/>
              <a:gd name="T37" fmla="*/ 0 h 3464"/>
              <a:gd name="T38" fmla="*/ 2241 w 3366"/>
              <a:gd name="T39" fmla="*/ 565 h 3464"/>
              <a:gd name="T40" fmla="*/ 2661 w 3366"/>
              <a:gd name="T41" fmla="*/ 150 h 3464"/>
              <a:gd name="T42" fmla="*/ 2712 w 3366"/>
              <a:gd name="T43" fmla="*/ 117 h 3464"/>
              <a:gd name="T44" fmla="*/ 2765 w 3366"/>
              <a:gd name="T45" fmla="*/ 97 h 3464"/>
              <a:gd name="T46" fmla="*/ 2816 w 3366"/>
              <a:gd name="T47" fmla="*/ 90 h 3464"/>
              <a:gd name="T48" fmla="*/ 2863 w 3366"/>
              <a:gd name="T49" fmla="*/ 100 h 3464"/>
              <a:gd name="T50" fmla="*/ 2900 w 3366"/>
              <a:gd name="T51" fmla="*/ 125 h 3464"/>
              <a:gd name="T52" fmla="*/ 3347 w 3366"/>
              <a:gd name="T53" fmla="*/ 578 h 3464"/>
              <a:gd name="T54" fmla="*/ 3364 w 3366"/>
              <a:gd name="T55" fmla="*/ 626 h 3464"/>
              <a:gd name="T56" fmla="*/ 3363 w 3366"/>
              <a:gd name="T57" fmla="*/ 680 h 3464"/>
              <a:gd name="T58" fmla="*/ 3344 w 3366"/>
              <a:gd name="T59" fmla="*/ 739 h 3464"/>
              <a:gd name="T60" fmla="*/ 3310 w 3366"/>
              <a:gd name="T61" fmla="*/ 796 h 3464"/>
              <a:gd name="T62" fmla="*/ 2668 w 3366"/>
              <a:gd name="T63" fmla="*/ 1437 h 3464"/>
              <a:gd name="T64" fmla="*/ 0 w 3366"/>
              <a:gd name="T65" fmla="*/ 3464 h 3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366" h="3464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" name="Freeform 11">
            <a:extLst>
              <a:ext uri="{FF2B5EF4-FFF2-40B4-BE49-F238E27FC236}">
                <a16:creationId xmlns:a16="http://schemas.microsoft.com/office/drawing/2014/main" id="{16CBFD51-0AA4-A535-89C3-B89792FCFF10}"/>
              </a:ext>
            </a:extLst>
          </p:cNvPr>
          <p:cNvSpPr>
            <a:spLocks noEditPoints="1"/>
          </p:cNvSpPr>
          <p:nvPr/>
        </p:nvSpPr>
        <p:spPr bwMode="auto">
          <a:xfrm>
            <a:off x="5130834" y="2538361"/>
            <a:ext cx="673100" cy="503238"/>
          </a:xfrm>
          <a:custGeom>
            <a:avLst/>
            <a:gdLst>
              <a:gd name="T0" fmla="*/ 2212 w 3390"/>
              <a:gd name="T1" fmla="*/ 1401 h 2540"/>
              <a:gd name="T2" fmla="*/ 2082 w 3390"/>
              <a:gd name="T3" fmla="*/ 1890 h 2540"/>
              <a:gd name="T4" fmla="*/ 2394 w 3390"/>
              <a:gd name="T5" fmla="*/ 2275 h 2540"/>
              <a:gd name="T6" fmla="*/ 2900 w 3390"/>
              <a:gd name="T7" fmla="*/ 2249 h 2540"/>
              <a:gd name="T8" fmla="*/ 3170 w 3390"/>
              <a:gd name="T9" fmla="*/ 1832 h 2540"/>
              <a:gd name="T10" fmla="*/ 2991 w 3390"/>
              <a:gd name="T11" fmla="*/ 1361 h 2540"/>
              <a:gd name="T12" fmla="*/ 707 w 3390"/>
              <a:gd name="T13" fmla="*/ 1223 h 2540"/>
              <a:gd name="T14" fmla="*/ 290 w 3390"/>
              <a:gd name="T15" fmla="*/ 1493 h 2540"/>
              <a:gd name="T16" fmla="*/ 264 w 3390"/>
              <a:gd name="T17" fmla="*/ 1999 h 2540"/>
              <a:gd name="T18" fmla="*/ 649 w 3390"/>
              <a:gd name="T19" fmla="*/ 2312 h 2540"/>
              <a:gd name="T20" fmla="*/ 1137 w 3390"/>
              <a:gd name="T21" fmla="*/ 2182 h 2540"/>
              <a:gd name="T22" fmla="*/ 1316 w 3390"/>
              <a:gd name="T23" fmla="*/ 1712 h 2540"/>
              <a:gd name="T24" fmla="*/ 1046 w 3390"/>
              <a:gd name="T25" fmla="*/ 1295 h 2540"/>
              <a:gd name="T26" fmla="*/ 1556 w 3390"/>
              <a:gd name="T27" fmla="*/ 896 h 2540"/>
              <a:gd name="T28" fmla="*/ 1337 w 3390"/>
              <a:gd name="T29" fmla="*/ 1029 h 2540"/>
              <a:gd name="T30" fmla="*/ 1556 w 3390"/>
              <a:gd name="T31" fmla="*/ 1160 h 2540"/>
              <a:gd name="T32" fmla="*/ 1947 w 3390"/>
              <a:gd name="T33" fmla="*/ 1130 h 2540"/>
              <a:gd name="T34" fmla="*/ 2024 w 3390"/>
              <a:gd name="T35" fmla="*/ 973 h 2540"/>
              <a:gd name="T36" fmla="*/ 1695 w 3390"/>
              <a:gd name="T37" fmla="*/ 886 h 2540"/>
              <a:gd name="T38" fmla="*/ 1950 w 3390"/>
              <a:gd name="T39" fmla="*/ 406 h 2540"/>
              <a:gd name="T40" fmla="*/ 2007 w 3390"/>
              <a:gd name="T41" fmla="*/ 460 h 2540"/>
              <a:gd name="T42" fmla="*/ 2283 w 3390"/>
              <a:gd name="T43" fmla="*/ 342 h 2540"/>
              <a:gd name="T44" fmla="*/ 2422 w 3390"/>
              <a:gd name="T45" fmla="*/ 372 h 2540"/>
              <a:gd name="T46" fmla="*/ 2439 w 3390"/>
              <a:gd name="T47" fmla="*/ 294 h 2540"/>
              <a:gd name="T48" fmla="*/ 2260 w 3390"/>
              <a:gd name="T49" fmla="*/ 260 h 2540"/>
              <a:gd name="T50" fmla="*/ 954 w 3390"/>
              <a:gd name="T51" fmla="*/ 292 h 2540"/>
              <a:gd name="T52" fmla="*/ 955 w 3390"/>
              <a:gd name="T53" fmla="*/ 371 h 2540"/>
              <a:gd name="T54" fmla="*/ 1078 w 3390"/>
              <a:gd name="T55" fmla="*/ 346 h 2540"/>
              <a:gd name="T56" fmla="*/ 1326 w 3390"/>
              <a:gd name="T57" fmla="*/ 400 h 2540"/>
              <a:gd name="T58" fmla="*/ 1445 w 3390"/>
              <a:gd name="T59" fmla="*/ 441 h 2540"/>
              <a:gd name="T60" fmla="*/ 1225 w 3390"/>
              <a:gd name="T61" fmla="*/ 268 h 2540"/>
              <a:gd name="T62" fmla="*/ 1449 w 3390"/>
              <a:gd name="T63" fmla="*/ 92 h 2540"/>
              <a:gd name="T64" fmla="*/ 1505 w 3390"/>
              <a:gd name="T65" fmla="*/ 324 h 2540"/>
              <a:gd name="T66" fmla="*/ 1529 w 3390"/>
              <a:gd name="T67" fmla="*/ 705 h 2540"/>
              <a:gd name="T68" fmla="*/ 1626 w 3390"/>
              <a:gd name="T69" fmla="*/ 626 h 2540"/>
              <a:gd name="T70" fmla="*/ 1745 w 3390"/>
              <a:gd name="T71" fmla="*/ 610 h 2540"/>
              <a:gd name="T72" fmla="*/ 1828 w 3390"/>
              <a:gd name="T73" fmla="*/ 699 h 2540"/>
              <a:gd name="T74" fmla="*/ 1879 w 3390"/>
              <a:gd name="T75" fmla="*/ 406 h 2540"/>
              <a:gd name="T76" fmla="*/ 1904 w 3390"/>
              <a:gd name="T77" fmla="*/ 153 h 2540"/>
              <a:gd name="T78" fmla="*/ 2166 w 3390"/>
              <a:gd name="T79" fmla="*/ 1 h 2540"/>
              <a:gd name="T80" fmla="*/ 2396 w 3390"/>
              <a:gd name="T81" fmla="*/ 155 h 2540"/>
              <a:gd name="T82" fmla="*/ 2582 w 3390"/>
              <a:gd name="T83" fmla="*/ 410 h 2540"/>
              <a:gd name="T84" fmla="*/ 2844 w 3390"/>
              <a:gd name="T85" fmla="*/ 783 h 2540"/>
              <a:gd name="T86" fmla="*/ 3126 w 3390"/>
              <a:gd name="T87" fmla="*/ 1187 h 2540"/>
              <a:gd name="T88" fmla="*/ 3292 w 3390"/>
              <a:gd name="T89" fmla="*/ 1426 h 2540"/>
              <a:gd name="T90" fmla="*/ 3390 w 3390"/>
              <a:gd name="T91" fmla="*/ 1772 h 2540"/>
              <a:gd name="T92" fmla="*/ 3166 w 3390"/>
              <a:gd name="T93" fmla="*/ 2314 h 2540"/>
              <a:gd name="T94" fmla="*/ 2624 w 3390"/>
              <a:gd name="T95" fmla="*/ 2540 h 2540"/>
              <a:gd name="T96" fmla="*/ 2082 w 3390"/>
              <a:gd name="T97" fmla="*/ 2314 h 2540"/>
              <a:gd name="T98" fmla="*/ 1859 w 3390"/>
              <a:gd name="T99" fmla="*/ 1772 h 2540"/>
              <a:gd name="T100" fmla="*/ 1805 w 3390"/>
              <a:gd name="T101" fmla="*/ 1469 h 2540"/>
              <a:gd name="T102" fmla="*/ 1547 w 3390"/>
              <a:gd name="T103" fmla="*/ 1507 h 2540"/>
              <a:gd name="T104" fmla="*/ 1468 w 3390"/>
              <a:gd name="T105" fmla="*/ 2101 h 2540"/>
              <a:gd name="T106" fmla="*/ 1039 w 3390"/>
              <a:gd name="T107" fmla="*/ 2491 h 2540"/>
              <a:gd name="T108" fmla="*/ 442 w 3390"/>
              <a:gd name="T109" fmla="*/ 2466 h 2540"/>
              <a:gd name="T110" fmla="*/ 48 w 3390"/>
              <a:gd name="T111" fmla="*/ 2039 h 2540"/>
              <a:gd name="T112" fmla="*/ 34 w 3390"/>
              <a:gd name="T113" fmla="*/ 1579 h 2540"/>
              <a:gd name="T114" fmla="*/ 170 w 3390"/>
              <a:gd name="T115" fmla="*/ 1318 h 2540"/>
              <a:gd name="T116" fmla="*/ 413 w 3390"/>
              <a:gd name="T117" fmla="*/ 972 h 2540"/>
              <a:gd name="T118" fmla="*/ 703 w 3390"/>
              <a:gd name="T119" fmla="*/ 558 h 2540"/>
              <a:gd name="T120" fmla="*/ 888 w 3390"/>
              <a:gd name="T121" fmla="*/ 294 h 2540"/>
              <a:gd name="T122" fmla="*/ 1124 w 3390"/>
              <a:gd name="T123" fmla="*/ 34 h 2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0" h="254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61" name="Group 14">
            <a:extLst>
              <a:ext uri="{FF2B5EF4-FFF2-40B4-BE49-F238E27FC236}">
                <a16:creationId xmlns:a16="http://schemas.microsoft.com/office/drawing/2014/main" id="{F6925C0E-9547-39D3-A997-0C1634F3DB4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45373" y="2438267"/>
            <a:ext cx="713404" cy="692800"/>
            <a:chOff x="638" y="291"/>
            <a:chExt cx="554" cy="538"/>
          </a:xfrm>
          <a:solidFill>
            <a:schemeClr val="bg1"/>
          </a:solidFill>
        </p:grpSpPr>
        <p:sp>
          <p:nvSpPr>
            <p:cNvPr id="362" name="Freeform 16">
              <a:extLst>
                <a:ext uri="{FF2B5EF4-FFF2-40B4-BE49-F238E27FC236}">
                  <a16:creationId xmlns:a16="http://schemas.microsoft.com/office/drawing/2014/main" id="{7DF1E775-7FDA-366F-F3FC-7FC5E6371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444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1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6 h 371"/>
                <a:gd name="T16" fmla="*/ 330 w 341"/>
                <a:gd name="T17" fmla="*/ 111 h 371"/>
                <a:gd name="T18" fmla="*/ 338 w 341"/>
                <a:gd name="T19" fmla="*/ 141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1 h 371"/>
                <a:gd name="T32" fmla="*/ 280 w 341"/>
                <a:gd name="T33" fmla="*/ 331 h 371"/>
                <a:gd name="T34" fmla="*/ 257 w 341"/>
                <a:gd name="T35" fmla="*/ 349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Freeform 17">
              <a:extLst>
                <a:ext uri="{FF2B5EF4-FFF2-40B4-BE49-F238E27FC236}">
                  <a16:creationId xmlns:a16="http://schemas.microsoft.com/office/drawing/2014/main" id="{4D4B6162-41BB-05C4-746C-1264125A9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17"/>
              <a:ext cx="57" cy="62"/>
            </a:xfrm>
            <a:custGeom>
              <a:avLst/>
              <a:gdLst>
                <a:gd name="T0" fmla="*/ 0 w 341"/>
                <a:gd name="T1" fmla="*/ 0 h 372"/>
                <a:gd name="T2" fmla="*/ 171 w 341"/>
                <a:gd name="T3" fmla="*/ 0 h 372"/>
                <a:gd name="T4" fmla="*/ 201 w 341"/>
                <a:gd name="T5" fmla="*/ 4 h 372"/>
                <a:gd name="T6" fmla="*/ 230 w 341"/>
                <a:gd name="T7" fmla="*/ 11 h 372"/>
                <a:gd name="T8" fmla="*/ 257 w 341"/>
                <a:gd name="T9" fmla="*/ 24 h 372"/>
                <a:gd name="T10" fmla="*/ 280 w 341"/>
                <a:gd name="T11" fmla="*/ 41 h 372"/>
                <a:gd name="T12" fmla="*/ 301 w 341"/>
                <a:gd name="T13" fmla="*/ 61 h 372"/>
                <a:gd name="T14" fmla="*/ 317 w 341"/>
                <a:gd name="T15" fmla="*/ 85 h 372"/>
                <a:gd name="T16" fmla="*/ 330 w 341"/>
                <a:gd name="T17" fmla="*/ 112 h 372"/>
                <a:gd name="T18" fmla="*/ 338 w 341"/>
                <a:gd name="T19" fmla="*/ 141 h 372"/>
                <a:gd name="T20" fmla="*/ 341 w 341"/>
                <a:gd name="T21" fmla="*/ 172 h 372"/>
                <a:gd name="T22" fmla="*/ 341 w 341"/>
                <a:gd name="T23" fmla="*/ 201 h 372"/>
                <a:gd name="T24" fmla="*/ 338 w 341"/>
                <a:gd name="T25" fmla="*/ 231 h 372"/>
                <a:gd name="T26" fmla="*/ 330 w 341"/>
                <a:gd name="T27" fmla="*/ 260 h 372"/>
                <a:gd name="T28" fmla="*/ 317 w 341"/>
                <a:gd name="T29" fmla="*/ 287 h 372"/>
                <a:gd name="T30" fmla="*/ 301 w 341"/>
                <a:gd name="T31" fmla="*/ 311 h 372"/>
                <a:gd name="T32" fmla="*/ 280 w 341"/>
                <a:gd name="T33" fmla="*/ 332 h 372"/>
                <a:gd name="T34" fmla="*/ 257 w 341"/>
                <a:gd name="T35" fmla="*/ 349 h 372"/>
                <a:gd name="T36" fmla="*/ 230 w 341"/>
                <a:gd name="T37" fmla="*/ 361 h 372"/>
                <a:gd name="T38" fmla="*/ 201 w 341"/>
                <a:gd name="T39" fmla="*/ 370 h 372"/>
                <a:gd name="T40" fmla="*/ 171 w 341"/>
                <a:gd name="T41" fmla="*/ 372 h 372"/>
                <a:gd name="T42" fmla="*/ 0 w 341"/>
                <a:gd name="T43" fmla="*/ 372 h 372"/>
                <a:gd name="T44" fmla="*/ 0 w 341"/>
                <a:gd name="T45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2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Freeform 18">
              <a:extLst>
                <a:ext uri="{FF2B5EF4-FFF2-40B4-BE49-F238E27FC236}">
                  <a16:creationId xmlns:a16="http://schemas.microsoft.com/office/drawing/2014/main" id="{49CE90FE-C891-4283-6AE8-81CEE626A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90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0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4 h 371"/>
                <a:gd name="T16" fmla="*/ 330 w 341"/>
                <a:gd name="T17" fmla="*/ 111 h 371"/>
                <a:gd name="T18" fmla="*/ 338 w 341"/>
                <a:gd name="T19" fmla="*/ 140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0 h 371"/>
                <a:gd name="T32" fmla="*/ 280 w 341"/>
                <a:gd name="T33" fmla="*/ 331 h 371"/>
                <a:gd name="T34" fmla="*/ 257 w 341"/>
                <a:gd name="T35" fmla="*/ 348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Freeform 19">
              <a:extLst>
                <a:ext uri="{FF2B5EF4-FFF2-40B4-BE49-F238E27FC236}">
                  <a16:creationId xmlns:a16="http://schemas.microsoft.com/office/drawing/2014/main" id="{58EC48F3-77E0-9723-DE80-9FC310B3E2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339"/>
              <a:ext cx="72" cy="72"/>
            </a:xfrm>
            <a:custGeom>
              <a:avLst/>
              <a:gdLst>
                <a:gd name="T0" fmla="*/ 317 w 430"/>
                <a:gd name="T1" fmla="*/ 0 h 433"/>
                <a:gd name="T2" fmla="*/ 341 w 430"/>
                <a:gd name="T3" fmla="*/ 3 h 433"/>
                <a:gd name="T4" fmla="*/ 362 w 430"/>
                <a:gd name="T5" fmla="*/ 10 h 433"/>
                <a:gd name="T6" fmla="*/ 382 w 430"/>
                <a:gd name="T7" fmla="*/ 22 h 433"/>
                <a:gd name="T8" fmla="*/ 398 w 430"/>
                <a:gd name="T9" fmla="*/ 37 h 433"/>
                <a:gd name="T10" fmla="*/ 411 w 430"/>
                <a:gd name="T11" fmla="*/ 56 h 433"/>
                <a:gd name="T12" fmla="*/ 421 w 430"/>
                <a:gd name="T13" fmla="*/ 77 h 433"/>
                <a:gd name="T14" fmla="*/ 427 w 430"/>
                <a:gd name="T15" fmla="*/ 102 h 433"/>
                <a:gd name="T16" fmla="*/ 430 w 430"/>
                <a:gd name="T17" fmla="*/ 129 h 433"/>
                <a:gd name="T18" fmla="*/ 430 w 430"/>
                <a:gd name="T19" fmla="*/ 153 h 433"/>
                <a:gd name="T20" fmla="*/ 426 w 430"/>
                <a:gd name="T21" fmla="*/ 189 h 433"/>
                <a:gd name="T22" fmla="*/ 416 w 430"/>
                <a:gd name="T23" fmla="*/ 225 h 433"/>
                <a:gd name="T24" fmla="*/ 402 w 430"/>
                <a:gd name="T25" fmla="*/ 259 h 433"/>
                <a:gd name="T26" fmla="*/ 383 w 430"/>
                <a:gd name="T27" fmla="*/ 291 h 433"/>
                <a:gd name="T28" fmla="*/ 358 w 430"/>
                <a:gd name="T29" fmla="*/ 321 h 433"/>
                <a:gd name="T30" fmla="*/ 331 w 430"/>
                <a:gd name="T31" fmla="*/ 345 h 433"/>
                <a:gd name="T32" fmla="*/ 301 w 430"/>
                <a:gd name="T33" fmla="*/ 366 h 433"/>
                <a:gd name="T34" fmla="*/ 269 w 430"/>
                <a:gd name="T35" fmla="*/ 382 h 433"/>
                <a:gd name="T36" fmla="*/ 0 w 430"/>
                <a:gd name="T37" fmla="*/ 433 h 433"/>
                <a:gd name="T38" fmla="*/ 0 w 430"/>
                <a:gd name="T39" fmla="*/ 37 h 433"/>
                <a:gd name="T40" fmla="*/ 266 w 430"/>
                <a:gd name="T41" fmla="*/ 6 h 433"/>
                <a:gd name="T42" fmla="*/ 293 w 430"/>
                <a:gd name="T43" fmla="*/ 1 h 433"/>
                <a:gd name="T44" fmla="*/ 317 w 430"/>
                <a:gd name="T45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0" h="433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Freeform 20">
              <a:extLst>
                <a:ext uri="{FF2B5EF4-FFF2-40B4-BE49-F238E27FC236}">
                  <a16:creationId xmlns:a16="http://schemas.microsoft.com/office/drawing/2014/main" id="{BCF5A773-5D66-B94F-B4E8-F92AF9B9A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" y="291"/>
              <a:ext cx="245" cy="420"/>
            </a:xfrm>
            <a:custGeom>
              <a:avLst/>
              <a:gdLst>
                <a:gd name="T0" fmla="*/ 1304 w 1472"/>
                <a:gd name="T1" fmla="*/ 0 h 2521"/>
                <a:gd name="T2" fmla="*/ 1363 w 1472"/>
                <a:gd name="T3" fmla="*/ 12 h 2521"/>
                <a:gd name="T4" fmla="*/ 1412 w 1472"/>
                <a:gd name="T5" fmla="*/ 40 h 2521"/>
                <a:gd name="T6" fmla="*/ 1449 w 1472"/>
                <a:gd name="T7" fmla="*/ 85 h 2521"/>
                <a:gd name="T8" fmla="*/ 1469 w 1472"/>
                <a:gd name="T9" fmla="*/ 140 h 2521"/>
                <a:gd name="T10" fmla="*/ 1472 w 1472"/>
                <a:gd name="T11" fmla="*/ 2351 h 2521"/>
                <a:gd name="T12" fmla="*/ 1461 w 1472"/>
                <a:gd name="T13" fmla="*/ 2411 h 2521"/>
                <a:gd name="T14" fmla="*/ 1432 w 1472"/>
                <a:gd name="T15" fmla="*/ 2461 h 2521"/>
                <a:gd name="T16" fmla="*/ 1388 w 1472"/>
                <a:gd name="T17" fmla="*/ 2498 h 2521"/>
                <a:gd name="T18" fmla="*/ 1334 w 1472"/>
                <a:gd name="T19" fmla="*/ 2519 h 2521"/>
                <a:gd name="T20" fmla="*/ 947 w 1472"/>
                <a:gd name="T21" fmla="*/ 2521 h 2521"/>
                <a:gd name="T22" fmla="*/ 955 w 1472"/>
                <a:gd name="T23" fmla="*/ 2488 h 2521"/>
                <a:gd name="T24" fmla="*/ 961 w 1472"/>
                <a:gd name="T25" fmla="*/ 2467 h 2521"/>
                <a:gd name="T26" fmla="*/ 977 w 1472"/>
                <a:gd name="T27" fmla="*/ 2383 h 2521"/>
                <a:gd name="T28" fmla="*/ 823 w 1472"/>
                <a:gd name="T29" fmla="*/ 2367 h 2521"/>
                <a:gd name="T30" fmla="*/ 838 w 1472"/>
                <a:gd name="T31" fmla="*/ 2330 h 2521"/>
                <a:gd name="T32" fmla="*/ 837 w 1472"/>
                <a:gd name="T33" fmla="*/ 2286 h 2521"/>
                <a:gd name="T34" fmla="*/ 816 w 1472"/>
                <a:gd name="T35" fmla="*/ 2244 h 2521"/>
                <a:gd name="T36" fmla="*/ 780 w 1472"/>
                <a:gd name="T37" fmla="*/ 2215 h 2521"/>
                <a:gd name="T38" fmla="*/ 733 w 1472"/>
                <a:gd name="T39" fmla="*/ 2203 h 2521"/>
                <a:gd name="T40" fmla="*/ 686 w 1472"/>
                <a:gd name="T41" fmla="*/ 2215 h 2521"/>
                <a:gd name="T42" fmla="*/ 650 w 1472"/>
                <a:gd name="T43" fmla="*/ 2244 h 2521"/>
                <a:gd name="T44" fmla="*/ 630 w 1472"/>
                <a:gd name="T45" fmla="*/ 2286 h 2521"/>
                <a:gd name="T46" fmla="*/ 629 w 1472"/>
                <a:gd name="T47" fmla="*/ 2330 h 2521"/>
                <a:gd name="T48" fmla="*/ 643 w 1472"/>
                <a:gd name="T49" fmla="*/ 2367 h 2521"/>
                <a:gd name="T50" fmla="*/ 360 w 1472"/>
                <a:gd name="T51" fmla="*/ 2383 h 2521"/>
                <a:gd name="T52" fmla="*/ 363 w 1472"/>
                <a:gd name="T53" fmla="*/ 2374 h 2521"/>
                <a:gd name="T54" fmla="*/ 369 w 1472"/>
                <a:gd name="T55" fmla="*/ 2356 h 2521"/>
                <a:gd name="T56" fmla="*/ 372 w 1472"/>
                <a:gd name="T57" fmla="*/ 2054 h 2521"/>
                <a:gd name="T58" fmla="*/ 1212 w 1472"/>
                <a:gd name="T59" fmla="*/ 2051 h 2521"/>
                <a:gd name="T60" fmla="*/ 1236 w 1472"/>
                <a:gd name="T61" fmla="*/ 2034 h 2521"/>
                <a:gd name="T62" fmla="*/ 1244 w 1472"/>
                <a:gd name="T63" fmla="*/ 2006 h 2521"/>
                <a:gd name="T64" fmla="*/ 1242 w 1472"/>
                <a:gd name="T65" fmla="*/ 313 h 2521"/>
                <a:gd name="T66" fmla="*/ 1226 w 1472"/>
                <a:gd name="T67" fmla="*/ 290 h 2521"/>
                <a:gd name="T68" fmla="*/ 1198 w 1472"/>
                <a:gd name="T69" fmla="*/ 281 h 2521"/>
                <a:gd name="T70" fmla="*/ 259 w 1472"/>
                <a:gd name="T71" fmla="*/ 284 h 2521"/>
                <a:gd name="T72" fmla="*/ 237 w 1472"/>
                <a:gd name="T73" fmla="*/ 300 h 2521"/>
                <a:gd name="T74" fmla="*/ 228 w 1472"/>
                <a:gd name="T75" fmla="*/ 328 h 2521"/>
                <a:gd name="T76" fmla="*/ 0 w 1472"/>
                <a:gd name="T77" fmla="*/ 1459 h 2521"/>
                <a:gd name="T78" fmla="*/ 3 w 1472"/>
                <a:gd name="T79" fmla="*/ 140 h 2521"/>
                <a:gd name="T80" fmla="*/ 23 w 1472"/>
                <a:gd name="T81" fmla="*/ 85 h 2521"/>
                <a:gd name="T82" fmla="*/ 60 w 1472"/>
                <a:gd name="T83" fmla="*/ 40 h 2521"/>
                <a:gd name="T84" fmla="*/ 110 w 1472"/>
                <a:gd name="T85" fmla="*/ 12 h 2521"/>
                <a:gd name="T86" fmla="*/ 169 w 1472"/>
                <a:gd name="T87" fmla="*/ 0 h 2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72" h="2521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Freeform 21">
              <a:extLst>
                <a:ext uri="{FF2B5EF4-FFF2-40B4-BE49-F238E27FC236}">
                  <a16:creationId xmlns:a16="http://schemas.microsoft.com/office/drawing/2014/main" id="{94FE8A32-6711-47F9-0E5A-119ADF3C0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" y="439"/>
              <a:ext cx="403" cy="390"/>
            </a:xfrm>
            <a:custGeom>
              <a:avLst/>
              <a:gdLst>
                <a:gd name="T0" fmla="*/ 1252 w 2416"/>
                <a:gd name="T1" fmla="*/ 666 h 2337"/>
                <a:gd name="T2" fmla="*/ 2225 w 2416"/>
                <a:gd name="T3" fmla="*/ 669 h 2337"/>
                <a:gd name="T4" fmla="*/ 2293 w 2416"/>
                <a:gd name="T5" fmla="*/ 689 h 2337"/>
                <a:gd name="T6" fmla="*/ 2349 w 2416"/>
                <a:gd name="T7" fmla="*/ 727 h 2337"/>
                <a:gd name="T8" fmla="*/ 2390 w 2416"/>
                <a:gd name="T9" fmla="*/ 780 h 2337"/>
                <a:gd name="T10" fmla="*/ 2413 w 2416"/>
                <a:gd name="T11" fmla="*/ 843 h 2337"/>
                <a:gd name="T12" fmla="*/ 2413 w 2416"/>
                <a:gd name="T13" fmla="*/ 912 h 2337"/>
                <a:gd name="T14" fmla="*/ 2390 w 2416"/>
                <a:gd name="T15" fmla="*/ 976 h 2337"/>
                <a:gd name="T16" fmla="*/ 2349 w 2416"/>
                <a:gd name="T17" fmla="*/ 1029 h 2337"/>
                <a:gd name="T18" fmla="*/ 2293 w 2416"/>
                <a:gd name="T19" fmla="*/ 1067 h 2337"/>
                <a:gd name="T20" fmla="*/ 2225 w 2416"/>
                <a:gd name="T21" fmla="*/ 1087 h 2337"/>
                <a:gd name="T22" fmla="*/ 1616 w 2416"/>
                <a:gd name="T23" fmla="*/ 1090 h 2337"/>
                <a:gd name="T24" fmla="*/ 1604 w 2416"/>
                <a:gd name="T25" fmla="*/ 1504 h 2337"/>
                <a:gd name="T26" fmla="*/ 1572 w 2416"/>
                <a:gd name="T27" fmla="*/ 1577 h 2337"/>
                <a:gd name="T28" fmla="*/ 1532 w 2416"/>
                <a:gd name="T29" fmla="*/ 1647 h 2337"/>
                <a:gd name="T30" fmla="*/ 1489 w 2416"/>
                <a:gd name="T31" fmla="*/ 1714 h 2337"/>
                <a:gd name="T32" fmla="*/ 1443 w 2416"/>
                <a:gd name="T33" fmla="*/ 1775 h 2337"/>
                <a:gd name="T34" fmla="*/ 1400 w 2416"/>
                <a:gd name="T35" fmla="*/ 1829 h 2337"/>
                <a:gd name="T36" fmla="*/ 1360 w 2416"/>
                <a:gd name="T37" fmla="*/ 1873 h 2337"/>
                <a:gd name="T38" fmla="*/ 1329 w 2416"/>
                <a:gd name="T39" fmla="*/ 1907 h 2337"/>
                <a:gd name="T40" fmla="*/ 1307 w 2416"/>
                <a:gd name="T41" fmla="*/ 1929 h 2337"/>
                <a:gd name="T42" fmla="*/ 1298 w 2416"/>
                <a:gd name="T43" fmla="*/ 1937 h 2337"/>
                <a:gd name="T44" fmla="*/ 1280 w 2416"/>
                <a:gd name="T45" fmla="*/ 1968 h 2337"/>
                <a:gd name="T46" fmla="*/ 1279 w 2416"/>
                <a:gd name="T47" fmla="*/ 2002 h 2337"/>
                <a:gd name="T48" fmla="*/ 1295 w 2416"/>
                <a:gd name="T49" fmla="*/ 2034 h 2337"/>
                <a:gd name="T50" fmla="*/ 1327 w 2416"/>
                <a:gd name="T51" fmla="*/ 2053 h 2337"/>
                <a:gd name="T52" fmla="*/ 1360 w 2416"/>
                <a:gd name="T53" fmla="*/ 2054 h 2337"/>
                <a:gd name="T54" fmla="*/ 1390 w 2416"/>
                <a:gd name="T55" fmla="*/ 2037 h 2337"/>
                <a:gd name="T56" fmla="*/ 1401 w 2416"/>
                <a:gd name="T57" fmla="*/ 2026 h 2337"/>
                <a:gd name="T58" fmla="*/ 1427 w 2416"/>
                <a:gd name="T59" fmla="*/ 2001 h 2337"/>
                <a:gd name="T60" fmla="*/ 1463 w 2416"/>
                <a:gd name="T61" fmla="*/ 1963 h 2337"/>
                <a:gd name="T62" fmla="*/ 1506 w 2416"/>
                <a:gd name="T63" fmla="*/ 1913 h 2337"/>
                <a:gd name="T64" fmla="*/ 1554 w 2416"/>
                <a:gd name="T65" fmla="*/ 1855 h 2337"/>
                <a:gd name="T66" fmla="*/ 1603 w 2416"/>
                <a:gd name="T67" fmla="*/ 1787 h 2337"/>
                <a:gd name="T68" fmla="*/ 1651 w 2416"/>
                <a:gd name="T69" fmla="*/ 1712 h 2337"/>
                <a:gd name="T70" fmla="*/ 1695 w 2416"/>
                <a:gd name="T71" fmla="*/ 1633 h 2337"/>
                <a:gd name="T72" fmla="*/ 2205 w 2416"/>
                <a:gd name="T73" fmla="*/ 1592 h 2337"/>
                <a:gd name="T74" fmla="*/ 2203 w 2416"/>
                <a:gd name="T75" fmla="*/ 1604 h 2337"/>
                <a:gd name="T76" fmla="*/ 2195 w 2416"/>
                <a:gd name="T77" fmla="*/ 1637 h 2337"/>
                <a:gd name="T78" fmla="*/ 2181 w 2416"/>
                <a:gd name="T79" fmla="*/ 1686 h 2337"/>
                <a:gd name="T80" fmla="*/ 2161 w 2416"/>
                <a:gd name="T81" fmla="*/ 1746 h 2337"/>
                <a:gd name="T82" fmla="*/ 2134 w 2416"/>
                <a:gd name="T83" fmla="*/ 1814 h 2337"/>
                <a:gd name="T84" fmla="*/ 2102 w 2416"/>
                <a:gd name="T85" fmla="*/ 1886 h 2337"/>
                <a:gd name="T86" fmla="*/ 2061 w 2416"/>
                <a:gd name="T87" fmla="*/ 1955 h 2337"/>
                <a:gd name="T88" fmla="*/ 2011 w 2416"/>
                <a:gd name="T89" fmla="*/ 2017 h 2337"/>
                <a:gd name="T90" fmla="*/ 1954 w 2416"/>
                <a:gd name="T91" fmla="*/ 2068 h 2337"/>
                <a:gd name="T92" fmla="*/ 1829 w 2416"/>
                <a:gd name="T93" fmla="*/ 2148 h 2337"/>
                <a:gd name="T94" fmla="*/ 1705 w 2416"/>
                <a:gd name="T95" fmla="*/ 2212 h 2337"/>
                <a:gd name="T96" fmla="*/ 1596 w 2416"/>
                <a:gd name="T97" fmla="*/ 2265 h 2337"/>
                <a:gd name="T98" fmla="*/ 1539 w 2416"/>
                <a:gd name="T99" fmla="*/ 2291 h 2337"/>
                <a:gd name="T100" fmla="*/ 1474 w 2416"/>
                <a:gd name="T101" fmla="*/ 2314 h 2337"/>
                <a:gd name="T102" fmla="*/ 1408 w 2416"/>
                <a:gd name="T103" fmla="*/ 2331 h 2337"/>
                <a:gd name="T104" fmla="*/ 1346 w 2416"/>
                <a:gd name="T105" fmla="*/ 2337 h 2337"/>
                <a:gd name="T106" fmla="*/ 73 w 2416"/>
                <a:gd name="T107" fmla="*/ 2335 h 2337"/>
                <a:gd name="T108" fmla="*/ 35 w 2416"/>
                <a:gd name="T109" fmla="*/ 2320 h 2337"/>
                <a:gd name="T110" fmla="*/ 9 w 2416"/>
                <a:gd name="T111" fmla="*/ 2292 h 2337"/>
                <a:gd name="T112" fmla="*/ 0 w 2416"/>
                <a:gd name="T113" fmla="*/ 2255 h 2337"/>
                <a:gd name="T114" fmla="*/ 8 w 2416"/>
                <a:gd name="T115" fmla="*/ 2211 h 2337"/>
                <a:gd name="T116" fmla="*/ 623 w 2416"/>
                <a:gd name="T117" fmla="*/ 542 h 2337"/>
                <a:gd name="T118" fmla="*/ 674 w 2416"/>
                <a:gd name="T119" fmla="*/ 458 h 2337"/>
                <a:gd name="T120" fmla="*/ 738 w 2416"/>
                <a:gd name="T121" fmla="*/ 377 h 2337"/>
                <a:gd name="T122" fmla="*/ 810 w 2416"/>
                <a:gd name="T123" fmla="*/ 306 h 2337"/>
                <a:gd name="T124" fmla="*/ 882 w 2416"/>
                <a:gd name="T125" fmla="*/ 251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16" h="2337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8" name="Freeform 26">
            <a:extLst>
              <a:ext uri="{FF2B5EF4-FFF2-40B4-BE49-F238E27FC236}">
                <a16:creationId xmlns:a16="http://schemas.microsoft.com/office/drawing/2014/main" id="{6DFD6EF1-B57B-0827-5145-C2B56C448706}"/>
              </a:ext>
            </a:extLst>
          </p:cNvPr>
          <p:cNvSpPr>
            <a:spLocks noEditPoints="1"/>
          </p:cNvSpPr>
          <p:nvPr/>
        </p:nvSpPr>
        <p:spPr bwMode="auto">
          <a:xfrm>
            <a:off x="6549005" y="3730542"/>
            <a:ext cx="355600" cy="695325"/>
          </a:xfrm>
          <a:custGeom>
            <a:avLst/>
            <a:gdLst>
              <a:gd name="T0" fmla="*/ 765 w 1790"/>
              <a:gd name="T1" fmla="*/ 1570 h 3502"/>
              <a:gd name="T2" fmla="*/ 778 w 1790"/>
              <a:gd name="T3" fmla="*/ 1793 h 3502"/>
              <a:gd name="T4" fmla="*/ 871 w 1790"/>
              <a:gd name="T5" fmla="*/ 1683 h 3502"/>
              <a:gd name="T6" fmla="*/ 1004 w 1790"/>
              <a:gd name="T7" fmla="*/ 1655 h 3502"/>
              <a:gd name="T8" fmla="*/ 1083 w 1790"/>
              <a:gd name="T9" fmla="*/ 1817 h 3502"/>
              <a:gd name="T10" fmla="*/ 1132 w 1790"/>
              <a:gd name="T11" fmla="*/ 1601 h 3502"/>
              <a:gd name="T12" fmla="*/ 942 w 1790"/>
              <a:gd name="T13" fmla="*/ 1469 h 3502"/>
              <a:gd name="T14" fmla="*/ 660 w 1790"/>
              <a:gd name="T15" fmla="*/ 1357 h 3502"/>
              <a:gd name="T16" fmla="*/ 517 w 1790"/>
              <a:gd name="T17" fmla="*/ 1673 h 3502"/>
              <a:gd name="T18" fmla="*/ 667 w 1790"/>
              <a:gd name="T19" fmla="*/ 1992 h 3502"/>
              <a:gd name="T20" fmla="*/ 775 w 1790"/>
              <a:gd name="T21" fmla="*/ 1920 h 3502"/>
              <a:gd name="T22" fmla="*/ 640 w 1790"/>
              <a:gd name="T23" fmla="*/ 1673 h 3502"/>
              <a:gd name="T24" fmla="*/ 777 w 1790"/>
              <a:gd name="T25" fmla="*/ 1421 h 3502"/>
              <a:gd name="T26" fmla="*/ 1068 w 1790"/>
              <a:gd name="T27" fmla="*/ 1401 h 3502"/>
              <a:gd name="T28" fmla="*/ 1239 w 1790"/>
              <a:gd name="T29" fmla="*/ 1629 h 3502"/>
              <a:gd name="T30" fmla="*/ 1133 w 1790"/>
              <a:gd name="T31" fmla="*/ 1903 h 3502"/>
              <a:gd name="T32" fmla="*/ 1228 w 1790"/>
              <a:gd name="T33" fmla="*/ 1980 h 3502"/>
              <a:gd name="T34" fmla="*/ 1365 w 1790"/>
              <a:gd name="T35" fmla="*/ 1673 h 3502"/>
              <a:gd name="T36" fmla="*/ 1223 w 1790"/>
              <a:gd name="T37" fmla="*/ 1357 h 3502"/>
              <a:gd name="T38" fmla="*/ 942 w 1790"/>
              <a:gd name="T39" fmla="*/ 1203 h 3502"/>
              <a:gd name="T40" fmla="*/ 1276 w 1790"/>
              <a:gd name="T41" fmla="*/ 1340 h 3502"/>
              <a:gd name="T42" fmla="*/ 1414 w 1790"/>
              <a:gd name="T43" fmla="*/ 1673 h 3502"/>
              <a:gd name="T44" fmla="*/ 1279 w 1790"/>
              <a:gd name="T45" fmla="*/ 2000 h 3502"/>
              <a:gd name="T46" fmla="*/ 1090 w 1790"/>
              <a:gd name="T47" fmla="*/ 2385 h 3502"/>
              <a:gd name="T48" fmla="*/ 1166 w 1790"/>
              <a:gd name="T49" fmla="*/ 2179 h 3502"/>
              <a:gd name="T50" fmla="*/ 1288 w 1790"/>
              <a:gd name="T51" fmla="*/ 2232 h 3502"/>
              <a:gd name="T52" fmla="*/ 1346 w 1790"/>
              <a:gd name="T53" fmla="*/ 2232 h 3502"/>
              <a:gd name="T54" fmla="*/ 1468 w 1790"/>
              <a:gd name="T55" fmla="*/ 2179 h 3502"/>
              <a:gd name="T56" fmla="*/ 1543 w 1790"/>
              <a:gd name="T57" fmla="*/ 2385 h 3502"/>
              <a:gd name="T58" fmla="*/ 1637 w 1790"/>
              <a:gd name="T59" fmla="*/ 2187 h 3502"/>
              <a:gd name="T60" fmla="*/ 1768 w 1790"/>
              <a:gd name="T61" fmla="*/ 2213 h 3502"/>
              <a:gd name="T62" fmla="*/ 1789 w 1790"/>
              <a:gd name="T63" fmla="*/ 3085 h 3502"/>
              <a:gd name="T64" fmla="*/ 1779 w 1790"/>
              <a:gd name="T65" fmla="*/ 3164 h 3502"/>
              <a:gd name="T66" fmla="*/ 1707 w 1790"/>
              <a:gd name="T67" fmla="*/ 3330 h 3502"/>
              <a:gd name="T68" fmla="*/ 1511 w 1790"/>
              <a:gd name="T69" fmla="*/ 3473 h 3502"/>
              <a:gd name="T70" fmla="*/ 1163 w 1790"/>
              <a:gd name="T71" fmla="*/ 3487 h 3502"/>
              <a:gd name="T72" fmla="*/ 934 w 1790"/>
              <a:gd name="T73" fmla="*/ 3373 h 3502"/>
              <a:gd name="T74" fmla="*/ 858 w 1790"/>
              <a:gd name="T75" fmla="*/ 3263 h 3502"/>
              <a:gd name="T76" fmla="*/ 768 w 1790"/>
              <a:gd name="T77" fmla="*/ 3106 h 3502"/>
              <a:gd name="T78" fmla="*/ 630 w 1790"/>
              <a:gd name="T79" fmla="*/ 2864 h 3502"/>
              <a:gd name="T80" fmla="*/ 521 w 1790"/>
              <a:gd name="T81" fmla="*/ 2667 h 3502"/>
              <a:gd name="T82" fmla="*/ 507 w 1790"/>
              <a:gd name="T83" fmla="*/ 2517 h 3502"/>
              <a:gd name="T84" fmla="*/ 636 w 1790"/>
              <a:gd name="T85" fmla="*/ 2496 h 3502"/>
              <a:gd name="T86" fmla="*/ 816 w 1790"/>
              <a:gd name="T87" fmla="*/ 2700 h 3502"/>
              <a:gd name="T88" fmla="*/ 615 w 1790"/>
              <a:gd name="T89" fmla="*/ 2011 h 3502"/>
              <a:gd name="T90" fmla="*/ 469 w 1790"/>
              <a:gd name="T91" fmla="*/ 1673 h 3502"/>
              <a:gd name="T92" fmla="*/ 608 w 1790"/>
              <a:gd name="T93" fmla="*/ 1340 h 3502"/>
              <a:gd name="T94" fmla="*/ 942 w 1790"/>
              <a:gd name="T95" fmla="*/ 1203 h 3502"/>
              <a:gd name="T96" fmla="*/ 639 w 1790"/>
              <a:gd name="T97" fmla="*/ 188 h 3502"/>
              <a:gd name="T98" fmla="*/ 1056 w 1790"/>
              <a:gd name="T99" fmla="*/ 141 h 3502"/>
              <a:gd name="T100" fmla="*/ 1625 w 1790"/>
              <a:gd name="T101" fmla="*/ 46 h 3502"/>
              <a:gd name="T102" fmla="*/ 1558 w 1790"/>
              <a:gd name="T103" fmla="*/ 2034 h 3502"/>
              <a:gd name="T104" fmla="*/ 161 w 1790"/>
              <a:gd name="T105" fmla="*/ 2902 h 3502"/>
              <a:gd name="T106" fmla="*/ 3 w 1790"/>
              <a:gd name="T107" fmla="*/ 2744 h 3502"/>
              <a:gd name="T108" fmla="*/ 71 w 1790"/>
              <a:gd name="T109" fmla="*/ 46 h 3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790" h="3502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2DF1ED-ED3E-7205-F419-93057A1FA5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8EF13E-09E9-EC00-5BC9-193AF089B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4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41D9F8-DB79-966B-E479-51FB85E2EB0B}"/>
              </a:ext>
            </a:extLst>
          </p:cNvPr>
          <p:cNvSpPr txBox="1"/>
          <p:nvPr/>
        </p:nvSpPr>
        <p:spPr>
          <a:xfrm>
            <a:off x="4232" y="662156"/>
            <a:ext cx="747906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Goal</a:t>
            </a:r>
            <a:endParaRPr lang="en-US" dirty="0"/>
          </a:p>
          <a:p>
            <a:r>
              <a:rPr lang="en-US" dirty="0"/>
              <a:t>To use </a:t>
            </a:r>
            <a:r>
              <a:rPr lang="en-US" b="1" dirty="0"/>
              <a:t>Random Forest, </a:t>
            </a:r>
            <a:r>
              <a:rPr lang="en-US" b="1" dirty="0" err="1"/>
              <a:t>XGBoost</a:t>
            </a:r>
            <a:r>
              <a:rPr lang="en-US" b="1" dirty="0"/>
              <a:t>, and </a:t>
            </a:r>
            <a:r>
              <a:rPr lang="en-US" b="1" dirty="0" err="1"/>
              <a:t>LightGBM</a:t>
            </a:r>
            <a:r>
              <a:rPr lang="en-US" b="1" dirty="0"/>
              <a:t> Regressors</a:t>
            </a:r>
            <a:r>
              <a:rPr lang="en-US" dirty="0"/>
              <a:t> to predict the </a:t>
            </a:r>
            <a:r>
              <a:rPr lang="en-US" dirty="0" err="1"/>
              <a:t>total_crimes</a:t>
            </a:r>
            <a:r>
              <a:rPr lang="en-US" dirty="0"/>
              <a:t> value for a district, using the 11 SLL crimes as features.</a:t>
            </a:r>
          </a:p>
          <a:p>
            <a:endParaRPr lang="en-US" dirty="0"/>
          </a:p>
          <a:p>
            <a:r>
              <a:rPr lang="en-US" b="1" dirty="0"/>
              <a:t>2. Finding 1: High Accuracy</a:t>
            </a:r>
            <a:endParaRPr lang="en-US" dirty="0"/>
          </a:p>
          <a:p>
            <a:r>
              <a:rPr lang="en-US" dirty="0"/>
              <a:t>All three advanced models achieved very high </a:t>
            </a:r>
            <a:r>
              <a:rPr lang="en-US" b="1" dirty="0"/>
              <a:t>R-squared</a:t>
            </a:r>
            <a:r>
              <a:rPr lang="en-US" dirty="0"/>
              <a:t> values (high accuracy).</a:t>
            </a:r>
          </a:p>
          <a:p>
            <a:r>
              <a:rPr lang="en-US" dirty="0"/>
              <a:t>This confirms that a district's total crime volume is highly predictable from its component crime parts.</a:t>
            </a:r>
          </a:p>
          <a:p>
            <a:endParaRPr lang="en-US" dirty="0"/>
          </a:p>
          <a:p>
            <a:r>
              <a:rPr lang="en-US" b="1" dirty="0"/>
              <a:t>3. Finding 2: The Key Insight (Feature Importance)</a:t>
            </a:r>
            <a:endParaRPr lang="en-US" dirty="0"/>
          </a:p>
          <a:p>
            <a:r>
              <a:rPr lang="en-US" dirty="0"/>
              <a:t>The most valuable output was the "Feature Importance" report from the models.</a:t>
            </a:r>
          </a:p>
          <a:p>
            <a:r>
              <a:rPr lang="en-US" dirty="0"/>
              <a:t>All three models unanimously identified </a:t>
            </a:r>
            <a:r>
              <a:rPr lang="en-US" b="1" dirty="0" err="1"/>
              <a:t>other_sll_crimes</a:t>
            </a:r>
            <a:r>
              <a:rPr lang="en-US" dirty="0"/>
              <a:t> and </a:t>
            </a:r>
            <a:r>
              <a:rPr lang="en-US" b="1" dirty="0" err="1"/>
              <a:t>motor_vehicle_act</a:t>
            </a:r>
            <a:r>
              <a:rPr lang="en-US" dirty="0"/>
              <a:t> as the </a:t>
            </a:r>
            <a:r>
              <a:rPr lang="en-US" b="1" dirty="0"/>
              <a:t>#1 and #2 most important predictors</a:t>
            </a:r>
            <a:r>
              <a:rPr lang="en-US" dirty="0"/>
              <a:t> by a large margin.</a:t>
            </a:r>
          </a:p>
          <a:p>
            <a:endParaRPr lang="en-US" dirty="0"/>
          </a:p>
          <a:p>
            <a:r>
              <a:rPr lang="en-US" b="1" dirty="0"/>
              <a:t>Conclusion</a:t>
            </a:r>
            <a:r>
              <a:rPr lang="en-US" dirty="0"/>
              <a:t> The total SLL crime burden is </a:t>
            </a:r>
            <a:r>
              <a:rPr lang="en-US" b="1" dirty="0"/>
              <a:t>overwhelmingly driven by these two high-volume categories</a:t>
            </a:r>
            <a:r>
              <a:rPr lang="en-US" dirty="0"/>
              <a:t>. This is a critical insight for allocating police resources, as it shows these two areas contribute most to the overall SLL crime statistics.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CD9256-43CE-B4D0-70A9-750EE6387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56" y="915251"/>
            <a:ext cx="4722075" cy="26615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E297D1-D1A5-875D-9C3F-C04B83633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56" y="3846446"/>
            <a:ext cx="4636679" cy="246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649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498DE-D887-9F0F-066B-CBF817730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6CB4EA2D-9C43-B13B-4CCD-9E92B3FDE26B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CF33B137-941C-51CB-AA64-0950C3380723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F3F0E944-290F-5D90-A77C-41DABED70FA8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61BA0EAF-3846-15BF-5F80-106D6AE4D558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00D42B7F-B625-A5D6-754B-F6A8A94D7CFD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0AC53DEC-2758-A584-94B7-936C21674CE6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CF4B21CD-711E-D720-3449-22A314467761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5FD4C4BE-6EED-0DAD-24E9-F1C009DE4426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38BB3B64-E46F-2F8D-262E-E356841850FB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32F56CA2-2699-DECF-F8AB-DB89BA4C4685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06789893-B9F4-6B2D-554A-6FC6E62DFBA3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99F4338F-CA7B-F65C-75B2-1E36356BBC39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FF1CD910-DD74-4B08-758F-1C543CD846B1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B00EE72F-ECDC-D082-6096-E1D6F5268DD2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91488BD2-5128-DD4A-1F28-244ABD8BED35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F9633B82-9809-57B3-28F3-F90476FE1158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05A9974D-6EA0-1FA1-7082-DA290302E77D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0891B19A-C942-B1EC-DC8E-6A2891C1E0F8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EF66153E-8CBA-B305-4154-0D1C9C861383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74D6B6AB-645A-8B5B-9E5D-A8C7D6CCA77A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E6FCBAAD-9A69-8C27-2E73-E45AE82FD03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898E7EDF-43DF-7342-B0A8-839B07CF9CD2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482C5334-FB20-3D4D-CFB3-8E4B32D6653D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38DD6FD1-DBC0-C2DC-50E0-6D56783A8BCA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7DD888C7-8E14-C703-DA84-7C2DABCDE653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52EBAAB3-0DEF-959C-B165-1A1A9BE07869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9CC58A74-F798-109E-7E4D-D1010506E684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6B978271-5BA7-A9EF-C543-6C6679B50406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9DAFAC58-E252-C9A8-831D-BAB57D58BD52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933829B9-8DDF-26D7-15A3-3F1D0996842E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FFDD146D-8BB0-A2BF-34A5-8E8009BB3209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59DF6ABC-6AD3-D666-01A9-B4F53760A51D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500A2C79-D73B-914D-CD9D-09C3EF378246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7465DE7E-AB1B-82B0-7AEC-B18893E3E768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7460EA61-CE7B-04DA-D289-07F55C0C2487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7AC5C5A5-0841-A0F9-1BC2-9AF6D4EB3946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3ACB801C-506B-54A7-807C-7BA8D380CA55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F954C055-DD76-E841-845F-F9204842FBBB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C673292-8438-869E-9A4F-D5C4D994AAAE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1B10BC95-1873-A7DC-8D06-FB1D995FAC56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B0430713-8AD6-EFFA-324F-89A4ECFB1BD0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A1BD326C-DEDC-00D0-066C-32B438E8FE27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474E4FA6-3D07-CF6C-44E3-8C925B1377A1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B5F1E6EE-AAD5-294D-EE81-2F3A2F560781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52C0016A-D142-F27E-FBA4-B45C6884AB99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CC536085-4061-4980-F2D2-BDDFCA0DD778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8C54DE15-D602-6D5E-AAA4-4D6E7BAFA22D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3EC00954-94CC-D0A5-4459-9CEF113DFAB6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9E1D815B-111B-09F7-0730-484380073802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A08F6879-9808-942A-142B-A6A013E582C8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67E6EFFE-6EF0-EE64-8233-F88D50C6A07F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EB7AB29C-FED0-34FC-8551-DAE4E209F1A2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889E5534-F1E5-BED0-955E-4D5F66DA7EDB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94D39C3D-308F-E0B3-DF8F-27CC3758D1DD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17066431-C425-77B2-5E87-B699727C295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FB51FDDD-5F69-4751-6EED-43043AC0872C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157B4583-FC18-A42D-B999-BA69AB7B97F1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E9C58BF1-316C-F66F-6AD0-BEF5735548B3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C0A35220-08B8-EAE1-74EB-13BFF8444352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21798341-2BAB-9E05-FDD6-A5FAA8C89CF6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1C8BBC20-55F5-5EC5-11EE-EE8D8231ABB7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613DB2B6-F674-6057-C0C4-BFAAEE469D03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5486A065-38DE-7958-2BE9-994D0B49371A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FB8231EA-1DFA-362A-F667-950735BE3169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15642ADD-2ADB-85D7-00D7-8765F4EE8832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00138898-8E64-8C43-ED56-8B012A4DEC59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968307AE-EFC3-6CC3-8D56-5D3948B96571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F012EE10-A81C-A439-78BB-52B8DD0EFF65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7CDB05A2-DE2D-1974-4E0A-897C45AF0524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DBBDF75E-958C-C8FE-8DD8-F08454F17CF6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70E850ED-D5C1-EF09-EEFF-6F14607BE034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5F10F81C-A96E-8A05-6F10-B9DE3484F4C3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C67C7DBF-2EB6-0682-35AE-7E97203430BA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16AC89CF-8EA7-A79B-E574-90834512280D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87AFDD3-8E51-0E24-FA2E-40E3B10F0B02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Cluster Analysis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42C5ACB2-FED5-7986-21D1-0E243B0F4D28}"/>
              </a:ext>
            </a:extLst>
          </p:cNvPr>
          <p:cNvSpPr txBox="1"/>
          <p:nvPr/>
        </p:nvSpPr>
        <p:spPr>
          <a:xfrm>
            <a:off x="7483294" y="2282149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6019AE9E-EF9E-654C-A83C-25796C52B226}"/>
              </a:ext>
            </a:extLst>
          </p:cNvPr>
          <p:cNvSpPr txBox="1"/>
          <p:nvPr/>
        </p:nvSpPr>
        <p:spPr>
          <a:xfrm>
            <a:off x="6095999" y="4927086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2546D4EF-085B-531F-F294-14DB6E3EFF04}"/>
              </a:ext>
            </a:extLst>
          </p:cNvPr>
          <p:cNvSpPr txBox="1"/>
          <p:nvPr/>
        </p:nvSpPr>
        <p:spPr>
          <a:xfrm>
            <a:off x="3436733" y="3563674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359" name="Freeform 6">
            <a:extLst>
              <a:ext uri="{FF2B5EF4-FFF2-40B4-BE49-F238E27FC236}">
                <a16:creationId xmlns:a16="http://schemas.microsoft.com/office/drawing/2014/main" id="{0DCA37A5-6640-88B2-6C0B-36AE5DDFB3CB}"/>
              </a:ext>
            </a:extLst>
          </p:cNvPr>
          <p:cNvSpPr>
            <a:spLocks noEditPoints="1"/>
          </p:cNvSpPr>
          <p:nvPr/>
        </p:nvSpPr>
        <p:spPr bwMode="auto">
          <a:xfrm>
            <a:off x="5133215" y="3730542"/>
            <a:ext cx="668338" cy="687387"/>
          </a:xfrm>
          <a:custGeom>
            <a:avLst/>
            <a:gdLst>
              <a:gd name="T0" fmla="*/ 1078 w 3366"/>
              <a:gd name="T1" fmla="*/ 2244 h 3464"/>
              <a:gd name="T2" fmla="*/ 1804 w 3366"/>
              <a:gd name="T3" fmla="*/ 2131 h 3464"/>
              <a:gd name="T4" fmla="*/ 1741 w 3366"/>
              <a:gd name="T5" fmla="*/ 452 h 3464"/>
              <a:gd name="T6" fmla="*/ 1878 w 3366"/>
              <a:gd name="T7" fmla="*/ 927 h 3464"/>
              <a:gd name="T8" fmla="*/ 1741 w 3366"/>
              <a:gd name="T9" fmla="*/ 452 h 3464"/>
              <a:gd name="T10" fmla="*/ 281 w 3366"/>
              <a:gd name="T11" fmla="*/ 3183 h 3464"/>
              <a:gd name="T12" fmla="*/ 2387 w 3366"/>
              <a:gd name="T13" fmla="*/ 1716 h 3464"/>
              <a:gd name="T14" fmla="*/ 2088 w 3366"/>
              <a:gd name="T15" fmla="*/ 2021 h 3464"/>
              <a:gd name="T16" fmla="*/ 1886 w 3366"/>
              <a:gd name="T17" fmla="*/ 2215 h 3464"/>
              <a:gd name="T18" fmla="*/ 2088 w 3366"/>
              <a:gd name="T19" fmla="*/ 2463 h 3464"/>
              <a:gd name="T20" fmla="*/ 580 w 3366"/>
              <a:gd name="T21" fmla="*/ 2604 h 3464"/>
              <a:gd name="T22" fmla="*/ 870 w 3366"/>
              <a:gd name="T23" fmla="*/ 2463 h 3464"/>
              <a:gd name="T24" fmla="*/ 580 w 3366"/>
              <a:gd name="T25" fmla="*/ 2021 h 3464"/>
              <a:gd name="T26" fmla="*/ 1110 w 3366"/>
              <a:gd name="T27" fmla="*/ 1880 h 3464"/>
              <a:gd name="T28" fmla="*/ 1366 w 3366"/>
              <a:gd name="T29" fmla="*/ 1438 h 3464"/>
              <a:gd name="T30" fmla="*/ 580 w 3366"/>
              <a:gd name="T31" fmla="*/ 1296 h 3464"/>
              <a:gd name="T32" fmla="*/ 1666 w 3366"/>
              <a:gd name="T33" fmla="*/ 1138 h 3464"/>
              <a:gd name="T34" fmla="*/ 1532 w 3366"/>
              <a:gd name="T35" fmla="*/ 281 h 3464"/>
              <a:gd name="T36" fmla="*/ 0 w 3366"/>
              <a:gd name="T37" fmla="*/ 0 h 3464"/>
              <a:gd name="T38" fmla="*/ 2241 w 3366"/>
              <a:gd name="T39" fmla="*/ 565 h 3464"/>
              <a:gd name="T40" fmla="*/ 2661 w 3366"/>
              <a:gd name="T41" fmla="*/ 150 h 3464"/>
              <a:gd name="T42" fmla="*/ 2712 w 3366"/>
              <a:gd name="T43" fmla="*/ 117 h 3464"/>
              <a:gd name="T44" fmla="*/ 2765 w 3366"/>
              <a:gd name="T45" fmla="*/ 97 h 3464"/>
              <a:gd name="T46" fmla="*/ 2816 w 3366"/>
              <a:gd name="T47" fmla="*/ 90 h 3464"/>
              <a:gd name="T48" fmla="*/ 2863 w 3366"/>
              <a:gd name="T49" fmla="*/ 100 h 3464"/>
              <a:gd name="T50" fmla="*/ 2900 w 3366"/>
              <a:gd name="T51" fmla="*/ 125 h 3464"/>
              <a:gd name="T52" fmla="*/ 3347 w 3366"/>
              <a:gd name="T53" fmla="*/ 578 h 3464"/>
              <a:gd name="T54" fmla="*/ 3364 w 3366"/>
              <a:gd name="T55" fmla="*/ 626 h 3464"/>
              <a:gd name="T56" fmla="*/ 3363 w 3366"/>
              <a:gd name="T57" fmla="*/ 680 h 3464"/>
              <a:gd name="T58" fmla="*/ 3344 w 3366"/>
              <a:gd name="T59" fmla="*/ 739 h 3464"/>
              <a:gd name="T60" fmla="*/ 3310 w 3366"/>
              <a:gd name="T61" fmla="*/ 796 h 3464"/>
              <a:gd name="T62" fmla="*/ 2668 w 3366"/>
              <a:gd name="T63" fmla="*/ 1437 h 3464"/>
              <a:gd name="T64" fmla="*/ 0 w 3366"/>
              <a:gd name="T65" fmla="*/ 3464 h 3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366" h="3464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" name="Freeform 11">
            <a:extLst>
              <a:ext uri="{FF2B5EF4-FFF2-40B4-BE49-F238E27FC236}">
                <a16:creationId xmlns:a16="http://schemas.microsoft.com/office/drawing/2014/main" id="{EF96E64B-EC66-DB82-AA9A-5DC7F0D4CD2A}"/>
              </a:ext>
            </a:extLst>
          </p:cNvPr>
          <p:cNvSpPr>
            <a:spLocks noEditPoints="1"/>
          </p:cNvSpPr>
          <p:nvPr/>
        </p:nvSpPr>
        <p:spPr bwMode="auto">
          <a:xfrm>
            <a:off x="5130834" y="2538361"/>
            <a:ext cx="673100" cy="503238"/>
          </a:xfrm>
          <a:custGeom>
            <a:avLst/>
            <a:gdLst>
              <a:gd name="T0" fmla="*/ 2212 w 3390"/>
              <a:gd name="T1" fmla="*/ 1401 h 2540"/>
              <a:gd name="T2" fmla="*/ 2082 w 3390"/>
              <a:gd name="T3" fmla="*/ 1890 h 2540"/>
              <a:gd name="T4" fmla="*/ 2394 w 3390"/>
              <a:gd name="T5" fmla="*/ 2275 h 2540"/>
              <a:gd name="T6" fmla="*/ 2900 w 3390"/>
              <a:gd name="T7" fmla="*/ 2249 h 2540"/>
              <a:gd name="T8" fmla="*/ 3170 w 3390"/>
              <a:gd name="T9" fmla="*/ 1832 h 2540"/>
              <a:gd name="T10" fmla="*/ 2991 w 3390"/>
              <a:gd name="T11" fmla="*/ 1361 h 2540"/>
              <a:gd name="T12" fmla="*/ 707 w 3390"/>
              <a:gd name="T13" fmla="*/ 1223 h 2540"/>
              <a:gd name="T14" fmla="*/ 290 w 3390"/>
              <a:gd name="T15" fmla="*/ 1493 h 2540"/>
              <a:gd name="T16" fmla="*/ 264 w 3390"/>
              <a:gd name="T17" fmla="*/ 1999 h 2540"/>
              <a:gd name="T18" fmla="*/ 649 w 3390"/>
              <a:gd name="T19" fmla="*/ 2312 h 2540"/>
              <a:gd name="T20" fmla="*/ 1137 w 3390"/>
              <a:gd name="T21" fmla="*/ 2182 h 2540"/>
              <a:gd name="T22" fmla="*/ 1316 w 3390"/>
              <a:gd name="T23" fmla="*/ 1712 h 2540"/>
              <a:gd name="T24" fmla="*/ 1046 w 3390"/>
              <a:gd name="T25" fmla="*/ 1295 h 2540"/>
              <a:gd name="T26" fmla="*/ 1556 w 3390"/>
              <a:gd name="T27" fmla="*/ 896 h 2540"/>
              <a:gd name="T28" fmla="*/ 1337 w 3390"/>
              <a:gd name="T29" fmla="*/ 1029 h 2540"/>
              <a:gd name="T30" fmla="*/ 1556 w 3390"/>
              <a:gd name="T31" fmla="*/ 1160 h 2540"/>
              <a:gd name="T32" fmla="*/ 1947 w 3390"/>
              <a:gd name="T33" fmla="*/ 1130 h 2540"/>
              <a:gd name="T34" fmla="*/ 2024 w 3390"/>
              <a:gd name="T35" fmla="*/ 973 h 2540"/>
              <a:gd name="T36" fmla="*/ 1695 w 3390"/>
              <a:gd name="T37" fmla="*/ 886 h 2540"/>
              <a:gd name="T38" fmla="*/ 1950 w 3390"/>
              <a:gd name="T39" fmla="*/ 406 h 2540"/>
              <a:gd name="T40" fmla="*/ 2007 w 3390"/>
              <a:gd name="T41" fmla="*/ 460 h 2540"/>
              <a:gd name="T42" fmla="*/ 2283 w 3390"/>
              <a:gd name="T43" fmla="*/ 342 h 2540"/>
              <a:gd name="T44" fmla="*/ 2422 w 3390"/>
              <a:gd name="T45" fmla="*/ 372 h 2540"/>
              <a:gd name="T46" fmla="*/ 2439 w 3390"/>
              <a:gd name="T47" fmla="*/ 294 h 2540"/>
              <a:gd name="T48" fmla="*/ 2260 w 3390"/>
              <a:gd name="T49" fmla="*/ 260 h 2540"/>
              <a:gd name="T50" fmla="*/ 954 w 3390"/>
              <a:gd name="T51" fmla="*/ 292 h 2540"/>
              <a:gd name="T52" fmla="*/ 955 w 3390"/>
              <a:gd name="T53" fmla="*/ 371 h 2540"/>
              <a:gd name="T54" fmla="*/ 1078 w 3390"/>
              <a:gd name="T55" fmla="*/ 346 h 2540"/>
              <a:gd name="T56" fmla="*/ 1326 w 3390"/>
              <a:gd name="T57" fmla="*/ 400 h 2540"/>
              <a:gd name="T58" fmla="*/ 1445 w 3390"/>
              <a:gd name="T59" fmla="*/ 441 h 2540"/>
              <a:gd name="T60" fmla="*/ 1225 w 3390"/>
              <a:gd name="T61" fmla="*/ 268 h 2540"/>
              <a:gd name="T62" fmla="*/ 1449 w 3390"/>
              <a:gd name="T63" fmla="*/ 92 h 2540"/>
              <a:gd name="T64" fmla="*/ 1505 w 3390"/>
              <a:gd name="T65" fmla="*/ 324 h 2540"/>
              <a:gd name="T66" fmla="*/ 1529 w 3390"/>
              <a:gd name="T67" fmla="*/ 705 h 2540"/>
              <a:gd name="T68" fmla="*/ 1626 w 3390"/>
              <a:gd name="T69" fmla="*/ 626 h 2540"/>
              <a:gd name="T70" fmla="*/ 1745 w 3390"/>
              <a:gd name="T71" fmla="*/ 610 h 2540"/>
              <a:gd name="T72" fmla="*/ 1828 w 3390"/>
              <a:gd name="T73" fmla="*/ 699 h 2540"/>
              <a:gd name="T74" fmla="*/ 1879 w 3390"/>
              <a:gd name="T75" fmla="*/ 406 h 2540"/>
              <a:gd name="T76" fmla="*/ 1904 w 3390"/>
              <a:gd name="T77" fmla="*/ 153 h 2540"/>
              <a:gd name="T78" fmla="*/ 2166 w 3390"/>
              <a:gd name="T79" fmla="*/ 1 h 2540"/>
              <a:gd name="T80" fmla="*/ 2396 w 3390"/>
              <a:gd name="T81" fmla="*/ 155 h 2540"/>
              <a:gd name="T82" fmla="*/ 2582 w 3390"/>
              <a:gd name="T83" fmla="*/ 410 h 2540"/>
              <a:gd name="T84" fmla="*/ 2844 w 3390"/>
              <a:gd name="T85" fmla="*/ 783 h 2540"/>
              <a:gd name="T86" fmla="*/ 3126 w 3390"/>
              <a:gd name="T87" fmla="*/ 1187 h 2540"/>
              <a:gd name="T88" fmla="*/ 3292 w 3390"/>
              <a:gd name="T89" fmla="*/ 1426 h 2540"/>
              <a:gd name="T90" fmla="*/ 3390 w 3390"/>
              <a:gd name="T91" fmla="*/ 1772 h 2540"/>
              <a:gd name="T92" fmla="*/ 3166 w 3390"/>
              <a:gd name="T93" fmla="*/ 2314 h 2540"/>
              <a:gd name="T94" fmla="*/ 2624 w 3390"/>
              <a:gd name="T95" fmla="*/ 2540 h 2540"/>
              <a:gd name="T96" fmla="*/ 2082 w 3390"/>
              <a:gd name="T97" fmla="*/ 2314 h 2540"/>
              <a:gd name="T98" fmla="*/ 1859 w 3390"/>
              <a:gd name="T99" fmla="*/ 1772 h 2540"/>
              <a:gd name="T100" fmla="*/ 1805 w 3390"/>
              <a:gd name="T101" fmla="*/ 1469 h 2540"/>
              <a:gd name="T102" fmla="*/ 1547 w 3390"/>
              <a:gd name="T103" fmla="*/ 1507 h 2540"/>
              <a:gd name="T104" fmla="*/ 1468 w 3390"/>
              <a:gd name="T105" fmla="*/ 2101 h 2540"/>
              <a:gd name="T106" fmla="*/ 1039 w 3390"/>
              <a:gd name="T107" fmla="*/ 2491 h 2540"/>
              <a:gd name="T108" fmla="*/ 442 w 3390"/>
              <a:gd name="T109" fmla="*/ 2466 h 2540"/>
              <a:gd name="T110" fmla="*/ 48 w 3390"/>
              <a:gd name="T111" fmla="*/ 2039 h 2540"/>
              <a:gd name="T112" fmla="*/ 34 w 3390"/>
              <a:gd name="T113" fmla="*/ 1579 h 2540"/>
              <a:gd name="T114" fmla="*/ 170 w 3390"/>
              <a:gd name="T115" fmla="*/ 1318 h 2540"/>
              <a:gd name="T116" fmla="*/ 413 w 3390"/>
              <a:gd name="T117" fmla="*/ 972 h 2540"/>
              <a:gd name="T118" fmla="*/ 703 w 3390"/>
              <a:gd name="T119" fmla="*/ 558 h 2540"/>
              <a:gd name="T120" fmla="*/ 888 w 3390"/>
              <a:gd name="T121" fmla="*/ 294 h 2540"/>
              <a:gd name="T122" fmla="*/ 1124 w 3390"/>
              <a:gd name="T123" fmla="*/ 34 h 2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0" h="254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61" name="Group 14">
            <a:extLst>
              <a:ext uri="{FF2B5EF4-FFF2-40B4-BE49-F238E27FC236}">
                <a16:creationId xmlns:a16="http://schemas.microsoft.com/office/drawing/2014/main" id="{F7180621-66D1-DCCE-05AC-69B0CAF2A45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45373" y="2438267"/>
            <a:ext cx="713404" cy="692800"/>
            <a:chOff x="638" y="291"/>
            <a:chExt cx="554" cy="538"/>
          </a:xfrm>
          <a:solidFill>
            <a:schemeClr val="bg1"/>
          </a:solidFill>
        </p:grpSpPr>
        <p:sp>
          <p:nvSpPr>
            <p:cNvPr id="362" name="Freeform 16">
              <a:extLst>
                <a:ext uri="{FF2B5EF4-FFF2-40B4-BE49-F238E27FC236}">
                  <a16:creationId xmlns:a16="http://schemas.microsoft.com/office/drawing/2014/main" id="{3C74A560-9794-3539-D5D5-FFE4A4F8B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444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1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6 h 371"/>
                <a:gd name="T16" fmla="*/ 330 w 341"/>
                <a:gd name="T17" fmla="*/ 111 h 371"/>
                <a:gd name="T18" fmla="*/ 338 w 341"/>
                <a:gd name="T19" fmla="*/ 141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1 h 371"/>
                <a:gd name="T32" fmla="*/ 280 w 341"/>
                <a:gd name="T33" fmla="*/ 331 h 371"/>
                <a:gd name="T34" fmla="*/ 257 w 341"/>
                <a:gd name="T35" fmla="*/ 349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Freeform 17">
              <a:extLst>
                <a:ext uri="{FF2B5EF4-FFF2-40B4-BE49-F238E27FC236}">
                  <a16:creationId xmlns:a16="http://schemas.microsoft.com/office/drawing/2014/main" id="{45F8EF7D-6114-7822-73DC-614E69573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17"/>
              <a:ext cx="57" cy="62"/>
            </a:xfrm>
            <a:custGeom>
              <a:avLst/>
              <a:gdLst>
                <a:gd name="T0" fmla="*/ 0 w 341"/>
                <a:gd name="T1" fmla="*/ 0 h 372"/>
                <a:gd name="T2" fmla="*/ 171 w 341"/>
                <a:gd name="T3" fmla="*/ 0 h 372"/>
                <a:gd name="T4" fmla="*/ 201 w 341"/>
                <a:gd name="T5" fmla="*/ 4 h 372"/>
                <a:gd name="T6" fmla="*/ 230 w 341"/>
                <a:gd name="T7" fmla="*/ 11 h 372"/>
                <a:gd name="T8" fmla="*/ 257 w 341"/>
                <a:gd name="T9" fmla="*/ 24 h 372"/>
                <a:gd name="T10" fmla="*/ 280 w 341"/>
                <a:gd name="T11" fmla="*/ 41 h 372"/>
                <a:gd name="T12" fmla="*/ 301 w 341"/>
                <a:gd name="T13" fmla="*/ 61 h 372"/>
                <a:gd name="T14" fmla="*/ 317 w 341"/>
                <a:gd name="T15" fmla="*/ 85 h 372"/>
                <a:gd name="T16" fmla="*/ 330 w 341"/>
                <a:gd name="T17" fmla="*/ 112 h 372"/>
                <a:gd name="T18" fmla="*/ 338 w 341"/>
                <a:gd name="T19" fmla="*/ 141 h 372"/>
                <a:gd name="T20" fmla="*/ 341 w 341"/>
                <a:gd name="T21" fmla="*/ 172 h 372"/>
                <a:gd name="T22" fmla="*/ 341 w 341"/>
                <a:gd name="T23" fmla="*/ 201 h 372"/>
                <a:gd name="T24" fmla="*/ 338 w 341"/>
                <a:gd name="T25" fmla="*/ 231 h 372"/>
                <a:gd name="T26" fmla="*/ 330 w 341"/>
                <a:gd name="T27" fmla="*/ 260 h 372"/>
                <a:gd name="T28" fmla="*/ 317 w 341"/>
                <a:gd name="T29" fmla="*/ 287 h 372"/>
                <a:gd name="T30" fmla="*/ 301 w 341"/>
                <a:gd name="T31" fmla="*/ 311 h 372"/>
                <a:gd name="T32" fmla="*/ 280 w 341"/>
                <a:gd name="T33" fmla="*/ 332 h 372"/>
                <a:gd name="T34" fmla="*/ 257 w 341"/>
                <a:gd name="T35" fmla="*/ 349 h 372"/>
                <a:gd name="T36" fmla="*/ 230 w 341"/>
                <a:gd name="T37" fmla="*/ 361 h 372"/>
                <a:gd name="T38" fmla="*/ 201 w 341"/>
                <a:gd name="T39" fmla="*/ 370 h 372"/>
                <a:gd name="T40" fmla="*/ 171 w 341"/>
                <a:gd name="T41" fmla="*/ 372 h 372"/>
                <a:gd name="T42" fmla="*/ 0 w 341"/>
                <a:gd name="T43" fmla="*/ 372 h 372"/>
                <a:gd name="T44" fmla="*/ 0 w 341"/>
                <a:gd name="T45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2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Freeform 18">
              <a:extLst>
                <a:ext uri="{FF2B5EF4-FFF2-40B4-BE49-F238E27FC236}">
                  <a16:creationId xmlns:a16="http://schemas.microsoft.com/office/drawing/2014/main" id="{2D3E0AF2-B4A1-7F15-E4CF-C2BBC9E4A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90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0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4 h 371"/>
                <a:gd name="T16" fmla="*/ 330 w 341"/>
                <a:gd name="T17" fmla="*/ 111 h 371"/>
                <a:gd name="T18" fmla="*/ 338 w 341"/>
                <a:gd name="T19" fmla="*/ 140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0 h 371"/>
                <a:gd name="T32" fmla="*/ 280 w 341"/>
                <a:gd name="T33" fmla="*/ 331 h 371"/>
                <a:gd name="T34" fmla="*/ 257 w 341"/>
                <a:gd name="T35" fmla="*/ 348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Freeform 19">
              <a:extLst>
                <a:ext uri="{FF2B5EF4-FFF2-40B4-BE49-F238E27FC236}">
                  <a16:creationId xmlns:a16="http://schemas.microsoft.com/office/drawing/2014/main" id="{098B1AD8-FAD3-DDCE-AD32-CA3FCEA8D1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339"/>
              <a:ext cx="72" cy="72"/>
            </a:xfrm>
            <a:custGeom>
              <a:avLst/>
              <a:gdLst>
                <a:gd name="T0" fmla="*/ 317 w 430"/>
                <a:gd name="T1" fmla="*/ 0 h 433"/>
                <a:gd name="T2" fmla="*/ 341 w 430"/>
                <a:gd name="T3" fmla="*/ 3 h 433"/>
                <a:gd name="T4" fmla="*/ 362 w 430"/>
                <a:gd name="T5" fmla="*/ 10 h 433"/>
                <a:gd name="T6" fmla="*/ 382 w 430"/>
                <a:gd name="T7" fmla="*/ 22 h 433"/>
                <a:gd name="T8" fmla="*/ 398 w 430"/>
                <a:gd name="T9" fmla="*/ 37 h 433"/>
                <a:gd name="T10" fmla="*/ 411 w 430"/>
                <a:gd name="T11" fmla="*/ 56 h 433"/>
                <a:gd name="T12" fmla="*/ 421 w 430"/>
                <a:gd name="T13" fmla="*/ 77 h 433"/>
                <a:gd name="T14" fmla="*/ 427 w 430"/>
                <a:gd name="T15" fmla="*/ 102 h 433"/>
                <a:gd name="T16" fmla="*/ 430 w 430"/>
                <a:gd name="T17" fmla="*/ 129 h 433"/>
                <a:gd name="T18" fmla="*/ 430 w 430"/>
                <a:gd name="T19" fmla="*/ 153 h 433"/>
                <a:gd name="T20" fmla="*/ 426 w 430"/>
                <a:gd name="T21" fmla="*/ 189 h 433"/>
                <a:gd name="T22" fmla="*/ 416 w 430"/>
                <a:gd name="T23" fmla="*/ 225 h 433"/>
                <a:gd name="T24" fmla="*/ 402 w 430"/>
                <a:gd name="T25" fmla="*/ 259 h 433"/>
                <a:gd name="T26" fmla="*/ 383 w 430"/>
                <a:gd name="T27" fmla="*/ 291 h 433"/>
                <a:gd name="T28" fmla="*/ 358 w 430"/>
                <a:gd name="T29" fmla="*/ 321 h 433"/>
                <a:gd name="T30" fmla="*/ 331 w 430"/>
                <a:gd name="T31" fmla="*/ 345 h 433"/>
                <a:gd name="T32" fmla="*/ 301 w 430"/>
                <a:gd name="T33" fmla="*/ 366 h 433"/>
                <a:gd name="T34" fmla="*/ 269 w 430"/>
                <a:gd name="T35" fmla="*/ 382 h 433"/>
                <a:gd name="T36" fmla="*/ 0 w 430"/>
                <a:gd name="T37" fmla="*/ 433 h 433"/>
                <a:gd name="T38" fmla="*/ 0 w 430"/>
                <a:gd name="T39" fmla="*/ 37 h 433"/>
                <a:gd name="T40" fmla="*/ 266 w 430"/>
                <a:gd name="T41" fmla="*/ 6 h 433"/>
                <a:gd name="T42" fmla="*/ 293 w 430"/>
                <a:gd name="T43" fmla="*/ 1 h 433"/>
                <a:gd name="T44" fmla="*/ 317 w 430"/>
                <a:gd name="T45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0" h="433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Freeform 20">
              <a:extLst>
                <a:ext uri="{FF2B5EF4-FFF2-40B4-BE49-F238E27FC236}">
                  <a16:creationId xmlns:a16="http://schemas.microsoft.com/office/drawing/2014/main" id="{26C40361-AA82-0373-054D-E0A3378FE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" y="291"/>
              <a:ext cx="245" cy="420"/>
            </a:xfrm>
            <a:custGeom>
              <a:avLst/>
              <a:gdLst>
                <a:gd name="T0" fmla="*/ 1304 w 1472"/>
                <a:gd name="T1" fmla="*/ 0 h 2521"/>
                <a:gd name="T2" fmla="*/ 1363 w 1472"/>
                <a:gd name="T3" fmla="*/ 12 h 2521"/>
                <a:gd name="T4" fmla="*/ 1412 w 1472"/>
                <a:gd name="T5" fmla="*/ 40 h 2521"/>
                <a:gd name="T6" fmla="*/ 1449 w 1472"/>
                <a:gd name="T7" fmla="*/ 85 h 2521"/>
                <a:gd name="T8" fmla="*/ 1469 w 1472"/>
                <a:gd name="T9" fmla="*/ 140 h 2521"/>
                <a:gd name="T10" fmla="*/ 1472 w 1472"/>
                <a:gd name="T11" fmla="*/ 2351 h 2521"/>
                <a:gd name="T12" fmla="*/ 1461 w 1472"/>
                <a:gd name="T13" fmla="*/ 2411 h 2521"/>
                <a:gd name="T14" fmla="*/ 1432 w 1472"/>
                <a:gd name="T15" fmla="*/ 2461 h 2521"/>
                <a:gd name="T16" fmla="*/ 1388 w 1472"/>
                <a:gd name="T17" fmla="*/ 2498 h 2521"/>
                <a:gd name="T18" fmla="*/ 1334 w 1472"/>
                <a:gd name="T19" fmla="*/ 2519 h 2521"/>
                <a:gd name="T20" fmla="*/ 947 w 1472"/>
                <a:gd name="T21" fmla="*/ 2521 h 2521"/>
                <a:gd name="T22" fmla="*/ 955 w 1472"/>
                <a:gd name="T23" fmla="*/ 2488 h 2521"/>
                <a:gd name="T24" fmla="*/ 961 w 1472"/>
                <a:gd name="T25" fmla="*/ 2467 h 2521"/>
                <a:gd name="T26" fmla="*/ 977 w 1472"/>
                <a:gd name="T27" fmla="*/ 2383 h 2521"/>
                <a:gd name="T28" fmla="*/ 823 w 1472"/>
                <a:gd name="T29" fmla="*/ 2367 h 2521"/>
                <a:gd name="T30" fmla="*/ 838 w 1472"/>
                <a:gd name="T31" fmla="*/ 2330 h 2521"/>
                <a:gd name="T32" fmla="*/ 837 w 1472"/>
                <a:gd name="T33" fmla="*/ 2286 h 2521"/>
                <a:gd name="T34" fmla="*/ 816 w 1472"/>
                <a:gd name="T35" fmla="*/ 2244 h 2521"/>
                <a:gd name="T36" fmla="*/ 780 w 1472"/>
                <a:gd name="T37" fmla="*/ 2215 h 2521"/>
                <a:gd name="T38" fmla="*/ 733 w 1472"/>
                <a:gd name="T39" fmla="*/ 2203 h 2521"/>
                <a:gd name="T40" fmla="*/ 686 w 1472"/>
                <a:gd name="T41" fmla="*/ 2215 h 2521"/>
                <a:gd name="T42" fmla="*/ 650 w 1472"/>
                <a:gd name="T43" fmla="*/ 2244 h 2521"/>
                <a:gd name="T44" fmla="*/ 630 w 1472"/>
                <a:gd name="T45" fmla="*/ 2286 h 2521"/>
                <a:gd name="T46" fmla="*/ 629 w 1472"/>
                <a:gd name="T47" fmla="*/ 2330 h 2521"/>
                <a:gd name="T48" fmla="*/ 643 w 1472"/>
                <a:gd name="T49" fmla="*/ 2367 h 2521"/>
                <a:gd name="T50" fmla="*/ 360 w 1472"/>
                <a:gd name="T51" fmla="*/ 2383 h 2521"/>
                <a:gd name="T52" fmla="*/ 363 w 1472"/>
                <a:gd name="T53" fmla="*/ 2374 h 2521"/>
                <a:gd name="T54" fmla="*/ 369 w 1472"/>
                <a:gd name="T55" fmla="*/ 2356 h 2521"/>
                <a:gd name="T56" fmla="*/ 372 w 1472"/>
                <a:gd name="T57" fmla="*/ 2054 h 2521"/>
                <a:gd name="T58" fmla="*/ 1212 w 1472"/>
                <a:gd name="T59" fmla="*/ 2051 h 2521"/>
                <a:gd name="T60" fmla="*/ 1236 w 1472"/>
                <a:gd name="T61" fmla="*/ 2034 h 2521"/>
                <a:gd name="T62" fmla="*/ 1244 w 1472"/>
                <a:gd name="T63" fmla="*/ 2006 h 2521"/>
                <a:gd name="T64" fmla="*/ 1242 w 1472"/>
                <a:gd name="T65" fmla="*/ 313 h 2521"/>
                <a:gd name="T66" fmla="*/ 1226 w 1472"/>
                <a:gd name="T67" fmla="*/ 290 h 2521"/>
                <a:gd name="T68" fmla="*/ 1198 w 1472"/>
                <a:gd name="T69" fmla="*/ 281 h 2521"/>
                <a:gd name="T70" fmla="*/ 259 w 1472"/>
                <a:gd name="T71" fmla="*/ 284 h 2521"/>
                <a:gd name="T72" fmla="*/ 237 w 1472"/>
                <a:gd name="T73" fmla="*/ 300 h 2521"/>
                <a:gd name="T74" fmla="*/ 228 w 1472"/>
                <a:gd name="T75" fmla="*/ 328 h 2521"/>
                <a:gd name="T76" fmla="*/ 0 w 1472"/>
                <a:gd name="T77" fmla="*/ 1459 h 2521"/>
                <a:gd name="T78" fmla="*/ 3 w 1472"/>
                <a:gd name="T79" fmla="*/ 140 h 2521"/>
                <a:gd name="T80" fmla="*/ 23 w 1472"/>
                <a:gd name="T81" fmla="*/ 85 h 2521"/>
                <a:gd name="T82" fmla="*/ 60 w 1472"/>
                <a:gd name="T83" fmla="*/ 40 h 2521"/>
                <a:gd name="T84" fmla="*/ 110 w 1472"/>
                <a:gd name="T85" fmla="*/ 12 h 2521"/>
                <a:gd name="T86" fmla="*/ 169 w 1472"/>
                <a:gd name="T87" fmla="*/ 0 h 2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72" h="2521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Freeform 21">
              <a:extLst>
                <a:ext uri="{FF2B5EF4-FFF2-40B4-BE49-F238E27FC236}">
                  <a16:creationId xmlns:a16="http://schemas.microsoft.com/office/drawing/2014/main" id="{67FEB5F3-5107-A002-AF68-7B941E5ED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" y="439"/>
              <a:ext cx="403" cy="390"/>
            </a:xfrm>
            <a:custGeom>
              <a:avLst/>
              <a:gdLst>
                <a:gd name="T0" fmla="*/ 1252 w 2416"/>
                <a:gd name="T1" fmla="*/ 666 h 2337"/>
                <a:gd name="T2" fmla="*/ 2225 w 2416"/>
                <a:gd name="T3" fmla="*/ 669 h 2337"/>
                <a:gd name="T4" fmla="*/ 2293 w 2416"/>
                <a:gd name="T5" fmla="*/ 689 h 2337"/>
                <a:gd name="T6" fmla="*/ 2349 w 2416"/>
                <a:gd name="T7" fmla="*/ 727 h 2337"/>
                <a:gd name="T8" fmla="*/ 2390 w 2416"/>
                <a:gd name="T9" fmla="*/ 780 h 2337"/>
                <a:gd name="T10" fmla="*/ 2413 w 2416"/>
                <a:gd name="T11" fmla="*/ 843 h 2337"/>
                <a:gd name="T12" fmla="*/ 2413 w 2416"/>
                <a:gd name="T13" fmla="*/ 912 h 2337"/>
                <a:gd name="T14" fmla="*/ 2390 w 2416"/>
                <a:gd name="T15" fmla="*/ 976 h 2337"/>
                <a:gd name="T16" fmla="*/ 2349 w 2416"/>
                <a:gd name="T17" fmla="*/ 1029 h 2337"/>
                <a:gd name="T18" fmla="*/ 2293 w 2416"/>
                <a:gd name="T19" fmla="*/ 1067 h 2337"/>
                <a:gd name="T20" fmla="*/ 2225 w 2416"/>
                <a:gd name="T21" fmla="*/ 1087 h 2337"/>
                <a:gd name="T22" fmla="*/ 1616 w 2416"/>
                <a:gd name="T23" fmla="*/ 1090 h 2337"/>
                <a:gd name="T24" fmla="*/ 1604 w 2416"/>
                <a:gd name="T25" fmla="*/ 1504 h 2337"/>
                <a:gd name="T26" fmla="*/ 1572 w 2416"/>
                <a:gd name="T27" fmla="*/ 1577 h 2337"/>
                <a:gd name="T28" fmla="*/ 1532 w 2416"/>
                <a:gd name="T29" fmla="*/ 1647 h 2337"/>
                <a:gd name="T30" fmla="*/ 1489 w 2416"/>
                <a:gd name="T31" fmla="*/ 1714 h 2337"/>
                <a:gd name="T32" fmla="*/ 1443 w 2416"/>
                <a:gd name="T33" fmla="*/ 1775 h 2337"/>
                <a:gd name="T34" fmla="*/ 1400 w 2416"/>
                <a:gd name="T35" fmla="*/ 1829 h 2337"/>
                <a:gd name="T36" fmla="*/ 1360 w 2416"/>
                <a:gd name="T37" fmla="*/ 1873 h 2337"/>
                <a:gd name="T38" fmla="*/ 1329 w 2416"/>
                <a:gd name="T39" fmla="*/ 1907 h 2337"/>
                <a:gd name="T40" fmla="*/ 1307 w 2416"/>
                <a:gd name="T41" fmla="*/ 1929 h 2337"/>
                <a:gd name="T42" fmla="*/ 1298 w 2416"/>
                <a:gd name="T43" fmla="*/ 1937 h 2337"/>
                <a:gd name="T44" fmla="*/ 1280 w 2416"/>
                <a:gd name="T45" fmla="*/ 1968 h 2337"/>
                <a:gd name="T46" fmla="*/ 1279 w 2416"/>
                <a:gd name="T47" fmla="*/ 2002 h 2337"/>
                <a:gd name="T48" fmla="*/ 1295 w 2416"/>
                <a:gd name="T49" fmla="*/ 2034 h 2337"/>
                <a:gd name="T50" fmla="*/ 1327 w 2416"/>
                <a:gd name="T51" fmla="*/ 2053 h 2337"/>
                <a:gd name="T52" fmla="*/ 1360 w 2416"/>
                <a:gd name="T53" fmla="*/ 2054 h 2337"/>
                <a:gd name="T54" fmla="*/ 1390 w 2416"/>
                <a:gd name="T55" fmla="*/ 2037 h 2337"/>
                <a:gd name="T56" fmla="*/ 1401 w 2416"/>
                <a:gd name="T57" fmla="*/ 2026 h 2337"/>
                <a:gd name="T58" fmla="*/ 1427 w 2416"/>
                <a:gd name="T59" fmla="*/ 2001 h 2337"/>
                <a:gd name="T60" fmla="*/ 1463 w 2416"/>
                <a:gd name="T61" fmla="*/ 1963 h 2337"/>
                <a:gd name="T62" fmla="*/ 1506 w 2416"/>
                <a:gd name="T63" fmla="*/ 1913 h 2337"/>
                <a:gd name="T64" fmla="*/ 1554 w 2416"/>
                <a:gd name="T65" fmla="*/ 1855 h 2337"/>
                <a:gd name="T66" fmla="*/ 1603 w 2416"/>
                <a:gd name="T67" fmla="*/ 1787 h 2337"/>
                <a:gd name="T68" fmla="*/ 1651 w 2416"/>
                <a:gd name="T69" fmla="*/ 1712 h 2337"/>
                <a:gd name="T70" fmla="*/ 1695 w 2416"/>
                <a:gd name="T71" fmla="*/ 1633 h 2337"/>
                <a:gd name="T72" fmla="*/ 2205 w 2416"/>
                <a:gd name="T73" fmla="*/ 1592 h 2337"/>
                <a:gd name="T74" fmla="*/ 2203 w 2416"/>
                <a:gd name="T75" fmla="*/ 1604 h 2337"/>
                <a:gd name="T76" fmla="*/ 2195 w 2416"/>
                <a:gd name="T77" fmla="*/ 1637 h 2337"/>
                <a:gd name="T78" fmla="*/ 2181 w 2416"/>
                <a:gd name="T79" fmla="*/ 1686 h 2337"/>
                <a:gd name="T80" fmla="*/ 2161 w 2416"/>
                <a:gd name="T81" fmla="*/ 1746 h 2337"/>
                <a:gd name="T82" fmla="*/ 2134 w 2416"/>
                <a:gd name="T83" fmla="*/ 1814 h 2337"/>
                <a:gd name="T84" fmla="*/ 2102 w 2416"/>
                <a:gd name="T85" fmla="*/ 1886 h 2337"/>
                <a:gd name="T86" fmla="*/ 2061 w 2416"/>
                <a:gd name="T87" fmla="*/ 1955 h 2337"/>
                <a:gd name="T88" fmla="*/ 2011 w 2416"/>
                <a:gd name="T89" fmla="*/ 2017 h 2337"/>
                <a:gd name="T90" fmla="*/ 1954 w 2416"/>
                <a:gd name="T91" fmla="*/ 2068 h 2337"/>
                <a:gd name="T92" fmla="*/ 1829 w 2416"/>
                <a:gd name="T93" fmla="*/ 2148 h 2337"/>
                <a:gd name="T94" fmla="*/ 1705 w 2416"/>
                <a:gd name="T95" fmla="*/ 2212 h 2337"/>
                <a:gd name="T96" fmla="*/ 1596 w 2416"/>
                <a:gd name="T97" fmla="*/ 2265 h 2337"/>
                <a:gd name="T98" fmla="*/ 1539 w 2416"/>
                <a:gd name="T99" fmla="*/ 2291 h 2337"/>
                <a:gd name="T100" fmla="*/ 1474 w 2416"/>
                <a:gd name="T101" fmla="*/ 2314 h 2337"/>
                <a:gd name="T102" fmla="*/ 1408 w 2416"/>
                <a:gd name="T103" fmla="*/ 2331 h 2337"/>
                <a:gd name="T104" fmla="*/ 1346 w 2416"/>
                <a:gd name="T105" fmla="*/ 2337 h 2337"/>
                <a:gd name="T106" fmla="*/ 73 w 2416"/>
                <a:gd name="T107" fmla="*/ 2335 h 2337"/>
                <a:gd name="T108" fmla="*/ 35 w 2416"/>
                <a:gd name="T109" fmla="*/ 2320 h 2337"/>
                <a:gd name="T110" fmla="*/ 9 w 2416"/>
                <a:gd name="T111" fmla="*/ 2292 h 2337"/>
                <a:gd name="T112" fmla="*/ 0 w 2416"/>
                <a:gd name="T113" fmla="*/ 2255 h 2337"/>
                <a:gd name="T114" fmla="*/ 8 w 2416"/>
                <a:gd name="T115" fmla="*/ 2211 h 2337"/>
                <a:gd name="T116" fmla="*/ 623 w 2416"/>
                <a:gd name="T117" fmla="*/ 542 h 2337"/>
                <a:gd name="T118" fmla="*/ 674 w 2416"/>
                <a:gd name="T119" fmla="*/ 458 h 2337"/>
                <a:gd name="T120" fmla="*/ 738 w 2416"/>
                <a:gd name="T121" fmla="*/ 377 h 2337"/>
                <a:gd name="T122" fmla="*/ 810 w 2416"/>
                <a:gd name="T123" fmla="*/ 306 h 2337"/>
                <a:gd name="T124" fmla="*/ 882 w 2416"/>
                <a:gd name="T125" fmla="*/ 251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16" h="2337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8" name="Freeform 26">
            <a:extLst>
              <a:ext uri="{FF2B5EF4-FFF2-40B4-BE49-F238E27FC236}">
                <a16:creationId xmlns:a16="http://schemas.microsoft.com/office/drawing/2014/main" id="{ACFAB74E-D1DA-0AFA-67D8-8D436AB938C5}"/>
              </a:ext>
            </a:extLst>
          </p:cNvPr>
          <p:cNvSpPr>
            <a:spLocks noEditPoints="1"/>
          </p:cNvSpPr>
          <p:nvPr/>
        </p:nvSpPr>
        <p:spPr bwMode="auto">
          <a:xfrm>
            <a:off x="6549005" y="3730542"/>
            <a:ext cx="355600" cy="695325"/>
          </a:xfrm>
          <a:custGeom>
            <a:avLst/>
            <a:gdLst>
              <a:gd name="T0" fmla="*/ 765 w 1790"/>
              <a:gd name="T1" fmla="*/ 1570 h 3502"/>
              <a:gd name="T2" fmla="*/ 778 w 1790"/>
              <a:gd name="T3" fmla="*/ 1793 h 3502"/>
              <a:gd name="T4" fmla="*/ 871 w 1790"/>
              <a:gd name="T5" fmla="*/ 1683 h 3502"/>
              <a:gd name="T6" fmla="*/ 1004 w 1790"/>
              <a:gd name="T7" fmla="*/ 1655 h 3502"/>
              <a:gd name="T8" fmla="*/ 1083 w 1790"/>
              <a:gd name="T9" fmla="*/ 1817 h 3502"/>
              <a:gd name="T10" fmla="*/ 1132 w 1790"/>
              <a:gd name="T11" fmla="*/ 1601 h 3502"/>
              <a:gd name="T12" fmla="*/ 942 w 1790"/>
              <a:gd name="T13" fmla="*/ 1469 h 3502"/>
              <a:gd name="T14" fmla="*/ 660 w 1790"/>
              <a:gd name="T15" fmla="*/ 1357 h 3502"/>
              <a:gd name="T16" fmla="*/ 517 w 1790"/>
              <a:gd name="T17" fmla="*/ 1673 h 3502"/>
              <a:gd name="T18" fmla="*/ 667 w 1790"/>
              <a:gd name="T19" fmla="*/ 1992 h 3502"/>
              <a:gd name="T20" fmla="*/ 775 w 1790"/>
              <a:gd name="T21" fmla="*/ 1920 h 3502"/>
              <a:gd name="T22" fmla="*/ 640 w 1790"/>
              <a:gd name="T23" fmla="*/ 1673 h 3502"/>
              <a:gd name="T24" fmla="*/ 777 w 1790"/>
              <a:gd name="T25" fmla="*/ 1421 h 3502"/>
              <a:gd name="T26" fmla="*/ 1068 w 1790"/>
              <a:gd name="T27" fmla="*/ 1401 h 3502"/>
              <a:gd name="T28" fmla="*/ 1239 w 1790"/>
              <a:gd name="T29" fmla="*/ 1629 h 3502"/>
              <a:gd name="T30" fmla="*/ 1133 w 1790"/>
              <a:gd name="T31" fmla="*/ 1903 h 3502"/>
              <a:gd name="T32" fmla="*/ 1228 w 1790"/>
              <a:gd name="T33" fmla="*/ 1980 h 3502"/>
              <a:gd name="T34" fmla="*/ 1365 w 1790"/>
              <a:gd name="T35" fmla="*/ 1673 h 3502"/>
              <a:gd name="T36" fmla="*/ 1223 w 1790"/>
              <a:gd name="T37" fmla="*/ 1357 h 3502"/>
              <a:gd name="T38" fmla="*/ 942 w 1790"/>
              <a:gd name="T39" fmla="*/ 1203 h 3502"/>
              <a:gd name="T40" fmla="*/ 1276 w 1790"/>
              <a:gd name="T41" fmla="*/ 1340 h 3502"/>
              <a:gd name="T42" fmla="*/ 1414 w 1790"/>
              <a:gd name="T43" fmla="*/ 1673 h 3502"/>
              <a:gd name="T44" fmla="*/ 1279 w 1790"/>
              <a:gd name="T45" fmla="*/ 2000 h 3502"/>
              <a:gd name="T46" fmla="*/ 1090 w 1790"/>
              <a:gd name="T47" fmla="*/ 2385 h 3502"/>
              <a:gd name="T48" fmla="*/ 1166 w 1790"/>
              <a:gd name="T49" fmla="*/ 2179 h 3502"/>
              <a:gd name="T50" fmla="*/ 1288 w 1790"/>
              <a:gd name="T51" fmla="*/ 2232 h 3502"/>
              <a:gd name="T52" fmla="*/ 1346 w 1790"/>
              <a:gd name="T53" fmla="*/ 2232 h 3502"/>
              <a:gd name="T54" fmla="*/ 1468 w 1790"/>
              <a:gd name="T55" fmla="*/ 2179 h 3502"/>
              <a:gd name="T56" fmla="*/ 1543 w 1790"/>
              <a:gd name="T57" fmla="*/ 2385 h 3502"/>
              <a:gd name="T58" fmla="*/ 1637 w 1790"/>
              <a:gd name="T59" fmla="*/ 2187 h 3502"/>
              <a:gd name="T60" fmla="*/ 1768 w 1790"/>
              <a:gd name="T61" fmla="*/ 2213 h 3502"/>
              <a:gd name="T62" fmla="*/ 1789 w 1790"/>
              <a:gd name="T63" fmla="*/ 3085 h 3502"/>
              <a:gd name="T64" fmla="*/ 1779 w 1790"/>
              <a:gd name="T65" fmla="*/ 3164 h 3502"/>
              <a:gd name="T66" fmla="*/ 1707 w 1790"/>
              <a:gd name="T67" fmla="*/ 3330 h 3502"/>
              <a:gd name="T68" fmla="*/ 1511 w 1790"/>
              <a:gd name="T69" fmla="*/ 3473 h 3502"/>
              <a:gd name="T70" fmla="*/ 1163 w 1790"/>
              <a:gd name="T71" fmla="*/ 3487 h 3502"/>
              <a:gd name="T72" fmla="*/ 934 w 1790"/>
              <a:gd name="T73" fmla="*/ 3373 h 3502"/>
              <a:gd name="T74" fmla="*/ 858 w 1790"/>
              <a:gd name="T75" fmla="*/ 3263 h 3502"/>
              <a:gd name="T76" fmla="*/ 768 w 1790"/>
              <a:gd name="T77" fmla="*/ 3106 h 3502"/>
              <a:gd name="T78" fmla="*/ 630 w 1790"/>
              <a:gd name="T79" fmla="*/ 2864 h 3502"/>
              <a:gd name="T80" fmla="*/ 521 w 1790"/>
              <a:gd name="T81" fmla="*/ 2667 h 3502"/>
              <a:gd name="T82" fmla="*/ 507 w 1790"/>
              <a:gd name="T83" fmla="*/ 2517 h 3502"/>
              <a:gd name="T84" fmla="*/ 636 w 1790"/>
              <a:gd name="T85" fmla="*/ 2496 h 3502"/>
              <a:gd name="T86" fmla="*/ 816 w 1790"/>
              <a:gd name="T87" fmla="*/ 2700 h 3502"/>
              <a:gd name="T88" fmla="*/ 615 w 1790"/>
              <a:gd name="T89" fmla="*/ 2011 h 3502"/>
              <a:gd name="T90" fmla="*/ 469 w 1790"/>
              <a:gd name="T91" fmla="*/ 1673 h 3502"/>
              <a:gd name="T92" fmla="*/ 608 w 1790"/>
              <a:gd name="T93" fmla="*/ 1340 h 3502"/>
              <a:gd name="T94" fmla="*/ 942 w 1790"/>
              <a:gd name="T95" fmla="*/ 1203 h 3502"/>
              <a:gd name="T96" fmla="*/ 639 w 1790"/>
              <a:gd name="T97" fmla="*/ 188 h 3502"/>
              <a:gd name="T98" fmla="*/ 1056 w 1790"/>
              <a:gd name="T99" fmla="*/ 141 h 3502"/>
              <a:gd name="T100" fmla="*/ 1625 w 1790"/>
              <a:gd name="T101" fmla="*/ 46 h 3502"/>
              <a:gd name="T102" fmla="*/ 1558 w 1790"/>
              <a:gd name="T103" fmla="*/ 2034 h 3502"/>
              <a:gd name="T104" fmla="*/ 161 w 1790"/>
              <a:gd name="T105" fmla="*/ 2902 h 3502"/>
              <a:gd name="T106" fmla="*/ 3 w 1790"/>
              <a:gd name="T107" fmla="*/ 2744 h 3502"/>
              <a:gd name="T108" fmla="*/ 71 w 1790"/>
              <a:gd name="T109" fmla="*/ 46 h 3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790" h="3502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C973C9-A7B7-5C55-0AE4-0F218C5E54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7849B8-FCAA-42DE-A3D7-CAA497A16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5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4D4E05-31A5-4D4D-594C-E6AE8C78CE76}"/>
              </a:ext>
            </a:extLst>
          </p:cNvPr>
          <p:cNvSpPr txBox="1"/>
          <p:nvPr/>
        </p:nvSpPr>
        <p:spPr>
          <a:xfrm>
            <a:off x="34348" y="864436"/>
            <a:ext cx="120458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Objective: Discovering Natural Groups</a:t>
            </a:r>
            <a:endParaRPr lang="en-US" dirty="0"/>
          </a:p>
          <a:p>
            <a:r>
              <a:rPr lang="en-US" dirty="0"/>
              <a:t>Our goal was to segment all districts based on their </a:t>
            </a:r>
            <a:r>
              <a:rPr lang="en-US" i="1" dirty="0"/>
              <a:t>overall</a:t>
            </a:r>
            <a:r>
              <a:rPr lang="en-US" dirty="0"/>
              <a:t> crime profile, not just a single crime.</a:t>
            </a:r>
          </a:p>
          <a:p>
            <a:r>
              <a:rPr lang="en-US" dirty="0"/>
              <a:t>We used unsupervised learning (clustering) to see if clear "types" of districts exist in the data.</a:t>
            </a:r>
          </a:p>
          <a:p>
            <a:endParaRPr lang="en-US" dirty="0"/>
          </a:p>
          <a:p>
            <a:r>
              <a:rPr lang="en-US" b="1" dirty="0"/>
              <a:t>2. Methodology &amp; Key Findings</a:t>
            </a:r>
            <a:endParaRPr lang="en-US" dirty="0"/>
          </a:p>
          <a:p>
            <a:r>
              <a:rPr lang="en-US" b="1" dirty="0"/>
              <a:t>Challenge:</a:t>
            </a:r>
            <a:r>
              <a:rPr lang="en-US" dirty="0"/>
              <a:t> The analysis was initially skewed by a few "mega-hotspot" districts with extreme outlier values, which made the clusters unbalanced.</a:t>
            </a:r>
          </a:p>
          <a:p>
            <a:r>
              <a:rPr lang="en-US" b="1" dirty="0"/>
              <a:t>Solution:</a:t>
            </a:r>
            <a:r>
              <a:rPr lang="en-US" dirty="0"/>
              <a:t> We first handled outliers using </a:t>
            </a:r>
            <a:r>
              <a:rPr lang="en-US" b="1" dirty="0"/>
              <a:t>IQR Capping</a:t>
            </a:r>
            <a:r>
              <a:rPr lang="en-US" dirty="0"/>
              <a:t> and then scaled all features with a </a:t>
            </a:r>
            <a:r>
              <a:rPr lang="en-US" b="1" dirty="0" err="1"/>
              <a:t>StandardScaler</a:t>
            </a:r>
            <a:r>
              <a:rPr lang="en-US" dirty="0"/>
              <a:t> so all crimes were weighted equally.</a:t>
            </a:r>
          </a:p>
          <a:p>
            <a:r>
              <a:rPr lang="en-US" b="1" dirty="0"/>
              <a:t>Method 1 (K-Means):</a:t>
            </a:r>
            <a:r>
              <a:rPr lang="en-US" dirty="0"/>
              <a:t> The </a:t>
            </a:r>
            <a:r>
              <a:rPr lang="en-US" b="1" dirty="0"/>
              <a:t>Elbow Method</a:t>
            </a:r>
            <a:r>
              <a:rPr lang="en-US" dirty="0"/>
              <a:t> clearly indicated that </a:t>
            </a:r>
            <a:r>
              <a:rPr lang="en-US" b="1" dirty="0"/>
              <a:t>K=2</a:t>
            </a:r>
            <a:r>
              <a:rPr lang="en-US" dirty="0"/>
              <a:t> was the optimal number of clusters, showing a sharp "elbow" at that point.</a:t>
            </a:r>
          </a:p>
          <a:p>
            <a:r>
              <a:rPr lang="en-US" b="1" dirty="0"/>
              <a:t>Method 2 (Dendrogram):</a:t>
            </a:r>
            <a:r>
              <a:rPr lang="en-US" dirty="0"/>
              <a:t> Hierarchical clustering was used to visually confirm this. The dendrogram showed a clean, high-level split into </a:t>
            </a:r>
            <a:r>
              <a:rPr lang="en-US" b="1" dirty="0"/>
              <a:t>two main branches</a:t>
            </a:r>
            <a:r>
              <a:rPr lang="en-US" dirty="0"/>
              <a:t>, validating the 2-cluster solution.</a:t>
            </a:r>
          </a:p>
          <a:p>
            <a:endParaRPr lang="en-US" dirty="0"/>
          </a:p>
          <a:p>
            <a:r>
              <a:rPr lang="en-US" b="1" dirty="0"/>
              <a:t>3. The Two "Crime Profiles" Identified</a:t>
            </a:r>
            <a:r>
              <a:rPr lang="en-US" dirty="0"/>
              <a:t> Our analysis successfully identified two distinct district profiles:</a:t>
            </a:r>
          </a:p>
          <a:p>
            <a:r>
              <a:rPr lang="en-US" b="1" dirty="0"/>
              <a:t>Cluster 0: "High Crime Profile"</a:t>
            </a:r>
            <a:endParaRPr lang="en-US" dirty="0"/>
          </a:p>
          <a:p>
            <a:pPr lvl="1"/>
            <a:r>
              <a:rPr lang="en-US" dirty="0"/>
              <a:t>A cluster defined by significantly higher rates of "vice" crimes, specifically </a:t>
            </a:r>
            <a:r>
              <a:rPr lang="en-US" b="1" dirty="0" err="1"/>
              <a:t>excise_act</a:t>
            </a:r>
            <a:r>
              <a:rPr lang="en-US" dirty="0"/>
              <a:t> and </a:t>
            </a:r>
            <a:r>
              <a:rPr lang="en-US" b="1" dirty="0" err="1"/>
              <a:t>gambling_act</a:t>
            </a:r>
            <a:r>
              <a:rPr lang="en-US" dirty="0"/>
              <a:t>.</a:t>
            </a:r>
          </a:p>
          <a:p>
            <a:r>
              <a:rPr lang="en-US" b="1" dirty="0"/>
              <a:t>Cluster 1: "Low Crime Profile"</a:t>
            </a:r>
            <a:endParaRPr lang="en-US" dirty="0"/>
          </a:p>
          <a:p>
            <a:pPr lvl="1"/>
            <a:r>
              <a:rPr lang="en-US" dirty="0"/>
              <a:t>A larger cluster of districts with comparatively low and stable crime rates across the board.</a:t>
            </a:r>
          </a:p>
        </p:txBody>
      </p:sp>
    </p:spTree>
    <p:extLst>
      <p:ext uri="{BB962C8B-B14F-4D97-AF65-F5344CB8AC3E}">
        <p14:creationId xmlns:p14="http://schemas.microsoft.com/office/powerpoint/2010/main" val="320435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F1BAC-4D88-6887-9263-D62C7D307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FC6DE4DA-2921-3CCB-8643-52D4E41F0CF3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A27BDCB3-F363-31F6-57D1-16F763A306D1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4C94125D-1691-A550-7611-93CB1CF71572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FF26599E-394F-2263-E9C6-488C8154A472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B5DA48C5-46F6-A277-2C71-7229FC431134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6C8AFD35-3D06-4F42-F833-5BB4E318D78C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9DAE3326-181D-0512-2AE6-4E419E17DC3E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A1A8DFB3-A4E9-FD12-ABB6-3A5C18407ED2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A8B831F3-3B25-E43F-16CE-2EAD24B9752B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703CBED9-EB40-3042-8871-75D93268BF0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834A5D54-6048-1170-9B32-7A5088CF66C8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24A6DC52-4F12-3452-B777-CC25DD892046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6DAF5FE1-C29A-888D-66E0-7406D65C33C2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164CEAFB-A7FE-EF33-E3DB-67A7AD7A8B45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C492F835-FBC1-A398-A808-9A872BB92417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50420AB0-366C-515E-36C2-CD8A4C9493F2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59DF1D68-7589-E2E4-9ECB-2623700F6C3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5B172E97-303E-3989-6CD3-587C395FAB87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4E5C6172-DFE4-B00A-BBE5-077A5A8206B7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DE169EAB-2D2E-1CC1-EF1C-7D1A938FB864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7080A819-79E7-E58A-5CF3-A2CE15CF07EB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3FB96AEE-462C-B647-6FB8-10191C15AE49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647D9AB4-ABC5-F51D-B355-3E2BFC6750BE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7728D0D5-927A-AC42-D928-6BA15771363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4CB1EF8F-3663-62F3-6118-4A46BD78C5AB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A6974920-8A52-7255-E596-B0CC25C76B7E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8B07C961-905D-0367-9E02-787807D855D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1E24C098-790C-5ED5-1E0D-99E4C7770384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F6675269-F5F6-C273-DB0F-1D033965A7BB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6849CEB5-8A7F-7693-2CE7-984AB7F7E397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491B6FFC-9F58-A8D4-50FC-7B7630B70AB0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71B307B5-6FBE-EA52-C34A-B42922B7C61F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9F14745B-03D6-D13D-D672-EA18CE76BC99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504B40A5-2BD0-BEC8-652C-29CF416D413F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ECF4C117-13B5-E486-3EDD-8235B5F314FA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3B501FD2-732B-2576-8533-5B476FBE2716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483B8354-7203-F695-9888-7799B5493AC0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796A16ED-59D3-C97C-D7F6-DAB6BAB7548F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9A61F61-721A-76CF-4EF3-93554F6EBC07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2DAF92B3-CD1E-7AD7-67E0-5A09CDCEB800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3D2ED256-F7B1-2E00-287E-7E401B1A37ED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5EA053A9-4330-28D0-AE0F-227DDFC1E20F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143D1A11-5A0E-46DB-B3B2-36059CED3026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2A6247EC-E35B-FBE2-1F00-D8A247365B52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022598C3-9FDF-BC38-3D3E-0F3A1ED33515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1C58B1EF-F905-05F9-2F73-BE0E4AE9BEB9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3614AC80-4CD1-1DA4-30DE-EA26DDC277DA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BCD485E3-196D-4100-06A4-7355463812BD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4C550FD0-2849-3B25-4C42-E0900FDFF6E5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E8E95ABE-3D9C-E873-DEDB-F842D3E53E5F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073BC091-DB15-E3E9-880E-8EC58D2B41B8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85F06A9A-DBB7-8E86-884E-075E005DE79D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D91065F1-5DC4-41F3-4827-F491D266F1EE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B5AD972B-4188-AB27-E248-D58B9D428133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DED43FAD-DC30-6884-E37A-A3350E1A5893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6253FB66-9C95-FA25-DBD6-079E458AA783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1E8225ED-5869-15E7-1561-5E9591C5627D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43072438-D56E-1A2F-3291-762D5AB88331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398480EA-4462-316D-1643-400B354EDABF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DA6B4E76-D889-D4D0-0D81-C5217E2655E9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7056BDC5-20FE-7D1C-FB72-993997C440AD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E9DAC289-FD0B-47FD-5226-EB5E65D82955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979578D5-1490-A8A4-92E8-9CEB251FF314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95A95371-B258-7978-80C8-1981751E82A1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DF4A958F-C205-6946-F6D3-B5D9EC02BA38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47FD670E-29BB-49AD-A176-361E0AB5AD91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8DAB71D2-7531-25C3-227A-F6FD55FF8113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2B6E963C-960C-F54C-6E1D-6DCBF386A479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36EA7DD5-6832-8CDA-EBEA-C28CC25F7301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9A40E7C5-C1ED-FCA0-0831-A4B6FA3392F6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661772BD-24AC-9AFF-1FA4-EFB57E0EC384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1998233F-6735-4E7A-A7FC-D59547098836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E650BBAD-BE7F-930A-1E76-384AA98BED42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FD29E787-E94A-5E9B-E651-1CFA27B642FA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BBB13BC-6F23-CA15-B98A-82D82862F3B4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Machine Learning: Predicting a District's Profile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52D2D1B8-232E-3E85-A9D7-D3A611F98E40}"/>
              </a:ext>
            </a:extLst>
          </p:cNvPr>
          <p:cNvSpPr txBox="1"/>
          <p:nvPr/>
        </p:nvSpPr>
        <p:spPr>
          <a:xfrm>
            <a:off x="7483294" y="2282149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BBD2675-A32F-0BAC-EA05-3E7DF33FDCCC}"/>
              </a:ext>
            </a:extLst>
          </p:cNvPr>
          <p:cNvSpPr txBox="1"/>
          <p:nvPr/>
        </p:nvSpPr>
        <p:spPr>
          <a:xfrm>
            <a:off x="6095999" y="4927086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FC3CF0C0-69A0-BB83-65B9-1F9238AB79F8}"/>
              </a:ext>
            </a:extLst>
          </p:cNvPr>
          <p:cNvSpPr txBox="1"/>
          <p:nvPr/>
        </p:nvSpPr>
        <p:spPr>
          <a:xfrm>
            <a:off x="3436733" y="3563674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359" name="Freeform 6">
            <a:extLst>
              <a:ext uri="{FF2B5EF4-FFF2-40B4-BE49-F238E27FC236}">
                <a16:creationId xmlns:a16="http://schemas.microsoft.com/office/drawing/2014/main" id="{A920445D-0D92-1023-5BD6-B56285684ED9}"/>
              </a:ext>
            </a:extLst>
          </p:cNvPr>
          <p:cNvSpPr>
            <a:spLocks noEditPoints="1"/>
          </p:cNvSpPr>
          <p:nvPr/>
        </p:nvSpPr>
        <p:spPr bwMode="auto">
          <a:xfrm>
            <a:off x="5133215" y="3730542"/>
            <a:ext cx="668338" cy="687387"/>
          </a:xfrm>
          <a:custGeom>
            <a:avLst/>
            <a:gdLst>
              <a:gd name="T0" fmla="*/ 1078 w 3366"/>
              <a:gd name="T1" fmla="*/ 2244 h 3464"/>
              <a:gd name="T2" fmla="*/ 1804 w 3366"/>
              <a:gd name="T3" fmla="*/ 2131 h 3464"/>
              <a:gd name="T4" fmla="*/ 1741 w 3366"/>
              <a:gd name="T5" fmla="*/ 452 h 3464"/>
              <a:gd name="T6" fmla="*/ 1878 w 3366"/>
              <a:gd name="T7" fmla="*/ 927 h 3464"/>
              <a:gd name="T8" fmla="*/ 1741 w 3366"/>
              <a:gd name="T9" fmla="*/ 452 h 3464"/>
              <a:gd name="T10" fmla="*/ 281 w 3366"/>
              <a:gd name="T11" fmla="*/ 3183 h 3464"/>
              <a:gd name="T12" fmla="*/ 2387 w 3366"/>
              <a:gd name="T13" fmla="*/ 1716 h 3464"/>
              <a:gd name="T14" fmla="*/ 2088 w 3366"/>
              <a:gd name="T15" fmla="*/ 2021 h 3464"/>
              <a:gd name="T16" fmla="*/ 1886 w 3366"/>
              <a:gd name="T17" fmla="*/ 2215 h 3464"/>
              <a:gd name="T18" fmla="*/ 2088 w 3366"/>
              <a:gd name="T19" fmla="*/ 2463 h 3464"/>
              <a:gd name="T20" fmla="*/ 580 w 3366"/>
              <a:gd name="T21" fmla="*/ 2604 h 3464"/>
              <a:gd name="T22" fmla="*/ 870 w 3366"/>
              <a:gd name="T23" fmla="*/ 2463 h 3464"/>
              <a:gd name="T24" fmla="*/ 580 w 3366"/>
              <a:gd name="T25" fmla="*/ 2021 h 3464"/>
              <a:gd name="T26" fmla="*/ 1110 w 3366"/>
              <a:gd name="T27" fmla="*/ 1880 h 3464"/>
              <a:gd name="T28" fmla="*/ 1366 w 3366"/>
              <a:gd name="T29" fmla="*/ 1438 h 3464"/>
              <a:gd name="T30" fmla="*/ 580 w 3366"/>
              <a:gd name="T31" fmla="*/ 1296 h 3464"/>
              <a:gd name="T32" fmla="*/ 1666 w 3366"/>
              <a:gd name="T33" fmla="*/ 1138 h 3464"/>
              <a:gd name="T34" fmla="*/ 1532 w 3366"/>
              <a:gd name="T35" fmla="*/ 281 h 3464"/>
              <a:gd name="T36" fmla="*/ 0 w 3366"/>
              <a:gd name="T37" fmla="*/ 0 h 3464"/>
              <a:gd name="T38" fmla="*/ 2241 w 3366"/>
              <a:gd name="T39" fmla="*/ 565 h 3464"/>
              <a:gd name="T40" fmla="*/ 2661 w 3366"/>
              <a:gd name="T41" fmla="*/ 150 h 3464"/>
              <a:gd name="T42" fmla="*/ 2712 w 3366"/>
              <a:gd name="T43" fmla="*/ 117 h 3464"/>
              <a:gd name="T44" fmla="*/ 2765 w 3366"/>
              <a:gd name="T45" fmla="*/ 97 h 3464"/>
              <a:gd name="T46" fmla="*/ 2816 w 3366"/>
              <a:gd name="T47" fmla="*/ 90 h 3464"/>
              <a:gd name="T48" fmla="*/ 2863 w 3366"/>
              <a:gd name="T49" fmla="*/ 100 h 3464"/>
              <a:gd name="T50" fmla="*/ 2900 w 3366"/>
              <a:gd name="T51" fmla="*/ 125 h 3464"/>
              <a:gd name="T52" fmla="*/ 3347 w 3366"/>
              <a:gd name="T53" fmla="*/ 578 h 3464"/>
              <a:gd name="T54" fmla="*/ 3364 w 3366"/>
              <a:gd name="T55" fmla="*/ 626 h 3464"/>
              <a:gd name="T56" fmla="*/ 3363 w 3366"/>
              <a:gd name="T57" fmla="*/ 680 h 3464"/>
              <a:gd name="T58" fmla="*/ 3344 w 3366"/>
              <a:gd name="T59" fmla="*/ 739 h 3464"/>
              <a:gd name="T60" fmla="*/ 3310 w 3366"/>
              <a:gd name="T61" fmla="*/ 796 h 3464"/>
              <a:gd name="T62" fmla="*/ 2668 w 3366"/>
              <a:gd name="T63" fmla="*/ 1437 h 3464"/>
              <a:gd name="T64" fmla="*/ 0 w 3366"/>
              <a:gd name="T65" fmla="*/ 3464 h 3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366" h="3464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" name="Freeform 11">
            <a:extLst>
              <a:ext uri="{FF2B5EF4-FFF2-40B4-BE49-F238E27FC236}">
                <a16:creationId xmlns:a16="http://schemas.microsoft.com/office/drawing/2014/main" id="{951E9F13-7613-8551-88A7-00370C8DCD47}"/>
              </a:ext>
            </a:extLst>
          </p:cNvPr>
          <p:cNvSpPr>
            <a:spLocks noEditPoints="1"/>
          </p:cNvSpPr>
          <p:nvPr/>
        </p:nvSpPr>
        <p:spPr bwMode="auto">
          <a:xfrm>
            <a:off x="5130834" y="2538361"/>
            <a:ext cx="673100" cy="503238"/>
          </a:xfrm>
          <a:custGeom>
            <a:avLst/>
            <a:gdLst>
              <a:gd name="T0" fmla="*/ 2212 w 3390"/>
              <a:gd name="T1" fmla="*/ 1401 h 2540"/>
              <a:gd name="T2" fmla="*/ 2082 w 3390"/>
              <a:gd name="T3" fmla="*/ 1890 h 2540"/>
              <a:gd name="T4" fmla="*/ 2394 w 3390"/>
              <a:gd name="T5" fmla="*/ 2275 h 2540"/>
              <a:gd name="T6" fmla="*/ 2900 w 3390"/>
              <a:gd name="T7" fmla="*/ 2249 h 2540"/>
              <a:gd name="T8" fmla="*/ 3170 w 3390"/>
              <a:gd name="T9" fmla="*/ 1832 h 2540"/>
              <a:gd name="T10" fmla="*/ 2991 w 3390"/>
              <a:gd name="T11" fmla="*/ 1361 h 2540"/>
              <a:gd name="T12" fmla="*/ 707 w 3390"/>
              <a:gd name="T13" fmla="*/ 1223 h 2540"/>
              <a:gd name="T14" fmla="*/ 290 w 3390"/>
              <a:gd name="T15" fmla="*/ 1493 h 2540"/>
              <a:gd name="T16" fmla="*/ 264 w 3390"/>
              <a:gd name="T17" fmla="*/ 1999 h 2540"/>
              <a:gd name="T18" fmla="*/ 649 w 3390"/>
              <a:gd name="T19" fmla="*/ 2312 h 2540"/>
              <a:gd name="T20" fmla="*/ 1137 w 3390"/>
              <a:gd name="T21" fmla="*/ 2182 h 2540"/>
              <a:gd name="T22" fmla="*/ 1316 w 3390"/>
              <a:gd name="T23" fmla="*/ 1712 h 2540"/>
              <a:gd name="T24" fmla="*/ 1046 w 3390"/>
              <a:gd name="T25" fmla="*/ 1295 h 2540"/>
              <a:gd name="T26" fmla="*/ 1556 w 3390"/>
              <a:gd name="T27" fmla="*/ 896 h 2540"/>
              <a:gd name="T28" fmla="*/ 1337 w 3390"/>
              <a:gd name="T29" fmla="*/ 1029 h 2540"/>
              <a:gd name="T30" fmla="*/ 1556 w 3390"/>
              <a:gd name="T31" fmla="*/ 1160 h 2540"/>
              <a:gd name="T32" fmla="*/ 1947 w 3390"/>
              <a:gd name="T33" fmla="*/ 1130 h 2540"/>
              <a:gd name="T34" fmla="*/ 2024 w 3390"/>
              <a:gd name="T35" fmla="*/ 973 h 2540"/>
              <a:gd name="T36" fmla="*/ 1695 w 3390"/>
              <a:gd name="T37" fmla="*/ 886 h 2540"/>
              <a:gd name="T38" fmla="*/ 1950 w 3390"/>
              <a:gd name="T39" fmla="*/ 406 h 2540"/>
              <a:gd name="T40" fmla="*/ 2007 w 3390"/>
              <a:gd name="T41" fmla="*/ 460 h 2540"/>
              <a:gd name="T42" fmla="*/ 2283 w 3390"/>
              <a:gd name="T43" fmla="*/ 342 h 2540"/>
              <a:gd name="T44" fmla="*/ 2422 w 3390"/>
              <a:gd name="T45" fmla="*/ 372 h 2540"/>
              <a:gd name="T46" fmla="*/ 2439 w 3390"/>
              <a:gd name="T47" fmla="*/ 294 h 2540"/>
              <a:gd name="T48" fmla="*/ 2260 w 3390"/>
              <a:gd name="T49" fmla="*/ 260 h 2540"/>
              <a:gd name="T50" fmla="*/ 954 w 3390"/>
              <a:gd name="T51" fmla="*/ 292 h 2540"/>
              <a:gd name="T52" fmla="*/ 955 w 3390"/>
              <a:gd name="T53" fmla="*/ 371 h 2540"/>
              <a:gd name="T54" fmla="*/ 1078 w 3390"/>
              <a:gd name="T55" fmla="*/ 346 h 2540"/>
              <a:gd name="T56" fmla="*/ 1326 w 3390"/>
              <a:gd name="T57" fmla="*/ 400 h 2540"/>
              <a:gd name="T58" fmla="*/ 1445 w 3390"/>
              <a:gd name="T59" fmla="*/ 441 h 2540"/>
              <a:gd name="T60" fmla="*/ 1225 w 3390"/>
              <a:gd name="T61" fmla="*/ 268 h 2540"/>
              <a:gd name="T62" fmla="*/ 1449 w 3390"/>
              <a:gd name="T63" fmla="*/ 92 h 2540"/>
              <a:gd name="T64" fmla="*/ 1505 w 3390"/>
              <a:gd name="T65" fmla="*/ 324 h 2540"/>
              <a:gd name="T66" fmla="*/ 1529 w 3390"/>
              <a:gd name="T67" fmla="*/ 705 h 2540"/>
              <a:gd name="T68" fmla="*/ 1626 w 3390"/>
              <a:gd name="T69" fmla="*/ 626 h 2540"/>
              <a:gd name="T70" fmla="*/ 1745 w 3390"/>
              <a:gd name="T71" fmla="*/ 610 h 2540"/>
              <a:gd name="T72" fmla="*/ 1828 w 3390"/>
              <a:gd name="T73" fmla="*/ 699 h 2540"/>
              <a:gd name="T74" fmla="*/ 1879 w 3390"/>
              <a:gd name="T75" fmla="*/ 406 h 2540"/>
              <a:gd name="T76" fmla="*/ 1904 w 3390"/>
              <a:gd name="T77" fmla="*/ 153 h 2540"/>
              <a:gd name="T78" fmla="*/ 2166 w 3390"/>
              <a:gd name="T79" fmla="*/ 1 h 2540"/>
              <a:gd name="T80" fmla="*/ 2396 w 3390"/>
              <a:gd name="T81" fmla="*/ 155 h 2540"/>
              <a:gd name="T82" fmla="*/ 2582 w 3390"/>
              <a:gd name="T83" fmla="*/ 410 h 2540"/>
              <a:gd name="T84" fmla="*/ 2844 w 3390"/>
              <a:gd name="T85" fmla="*/ 783 h 2540"/>
              <a:gd name="T86" fmla="*/ 3126 w 3390"/>
              <a:gd name="T87" fmla="*/ 1187 h 2540"/>
              <a:gd name="T88" fmla="*/ 3292 w 3390"/>
              <a:gd name="T89" fmla="*/ 1426 h 2540"/>
              <a:gd name="T90" fmla="*/ 3390 w 3390"/>
              <a:gd name="T91" fmla="*/ 1772 h 2540"/>
              <a:gd name="T92" fmla="*/ 3166 w 3390"/>
              <a:gd name="T93" fmla="*/ 2314 h 2540"/>
              <a:gd name="T94" fmla="*/ 2624 w 3390"/>
              <a:gd name="T95" fmla="*/ 2540 h 2540"/>
              <a:gd name="T96" fmla="*/ 2082 w 3390"/>
              <a:gd name="T97" fmla="*/ 2314 h 2540"/>
              <a:gd name="T98" fmla="*/ 1859 w 3390"/>
              <a:gd name="T99" fmla="*/ 1772 h 2540"/>
              <a:gd name="T100" fmla="*/ 1805 w 3390"/>
              <a:gd name="T101" fmla="*/ 1469 h 2540"/>
              <a:gd name="T102" fmla="*/ 1547 w 3390"/>
              <a:gd name="T103" fmla="*/ 1507 h 2540"/>
              <a:gd name="T104" fmla="*/ 1468 w 3390"/>
              <a:gd name="T105" fmla="*/ 2101 h 2540"/>
              <a:gd name="T106" fmla="*/ 1039 w 3390"/>
              <a:gd name="T107" fmla="*/ 2491 h 2540"/>
              <a:gd name="T108" fmla="*/ 442 w 3390"/>
              <a:gd name="T109" fmla="*/ 2466 h 2540"/>
              <a:gd name="T110" fmla="*/ 48 w 3390"/>
              <a:gd name="T111" fmla="*/ 2039 h 2540"/>
              <a:gd name="T112" fmla="*/ 34 w 3390"/>
              <a:gd name="T113" fmla="*/ 1579 h 2540"/>
              <a:gd name="T114" fmla="*/ 170 w 3390"/>
              <a:gd name="T115" fmla="*/ 1318 h 2540"/>
              <a:gd name="T116" fmla="*/ 413 w 3390"/>
              <a:gd name="T117" fmla="*/ 972 h 2540"/>
              <a:gd name="T118" fmla="*/ 703 w 3390"/>
              <a:gd name="T119" fmla="*/ 558 h 2540"/>
              <a:gd name="T120" fmla="*/ 888 w 3390"/>
              <a:gd name="T121" fmla="*/ 294 h 2540"/>
              <a:gd name="T122" fmla="*/ 1124 w 3390"/>
              <a:gd name="T123" fmla="*/ 34 h 2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0" h="254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61" name="Group 14">
            <a:extLst>
              <a:ext uri="{FF2B5EF4-FFF2-40B4-BE49-F238E27FC236}">
                <a16:creationId xmlns:a16="http://schemas.microsoft.com/office/drawing/2014/main" id="{E4FC873F-4671-CD80-CDD0-05235FBE406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45373" y="2438267"/>
            <a:ext cx="713404" cy="692800"/>
            <a:chOff x="638" y="291"/>
            <a:chExt cx="554" cy="538"/>
          </a:xfrm>
          <a:solidFill>
            <a:schemeClr val="bg1"/>
          </a:solidFill>
        </p:grpSpPr>
        <p:sp>
          <p:nvSpPr>
            <p:cNvPr id="362" name="Freeform 16">
              <a:extLst>
                <a:ext uri="{FF2B5EF4-FFF2-40B4-BE49-F238E27FC236}">
                  <a16:creationId xmlns:a16="http://schemas.microsoft.com/office/drawing/2014/main" id="{A7EAB33C-218F-CFF1-0F1E-B959C8257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444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1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6 h 371"/>
                <a:gd name="T16" fmla="*/ 330 w 341"/>
                <a:gd name="T17" fmla="*/ 111 h 371"/>
                <a:gd name="T18" fmla="*/ 338 w 341"/>
                <a:gd name="T19" fmla="*/ 141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1 h 371"/>
                <a:gd name="T32" fmla="*/ 280 w 341"/>
                <a:gd name="T33" fmla="*/ 331 h 371"/>
                <a:gd name="T34" fmla="*/ 257 w 341"/>
                <a:gd name="T35" fmla="*/ 349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Freeform 17">
              <a:extLst>
                <a:ext uri="{FF2B5EF4-FFF2-40B4-BE49-F238E27FC236}">
                  <a16:creationId xmlns:a16="http://schemas.microsoft.com/office/drawing/2014/main" id="{EB76D96E-1E64-6941-6EA0-DF746D778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17"/>
              <a:ext cx="57" cy="62"/>
            </a:xfrm>
            <a:custGeom>
              <a:avLst/>
              <a:gdLst>
                <a:gd name="T0" fmla="*/ 0 w 341"/>
                <a:gd name="T1" fmla="*/ 0 h 372"/>
                <a:gd name="T2" fmla="*/ 171 w 341"/>
                <a:gd name="T3" fmla="*/ 0 h 372"/>
                <a:gd name="T4" fmla="*/ 201 w 341"/>
                <a:gd name="T5" fmla="*/ 4 h 372"/>
                <a:gd name="T6" fmla="*/ 230 w 341"/>
                <a:gd name="T7" fmla="*/ 11 h 372"/>
                <a:gd name="T8" fmla="*/ 257 w 341"/>
                <a:gd name="T9" fmla="*/ 24 h 372"/>
                <a:gd name="T10" fmla="*/ 280 w 341"/>
                <a:gd name="T11" fmla="*/ 41 h 372"/>
                <a:gd name="T12" fmla="*/ 301 w 341"/>
                <a:gd name="T13" fmla="*/ 61 h 372"/>
                <a:gd name="T14" fmla="*/ 317 w 341"/>
                <a:gd name="T15" fmla="*/ 85 h 372"/>
                <a:gd name="T16" fmla="*/ 330 w 341"/>
                <a:gd name="T17" fmla="*/ 112 h 372"/>
                <a:gd name="T18" fmla="*/ 338 w 341"/>
                <a:gd name="T19" fmla="*/ 141 h 372"/>
                <a:gd name="T20" fmla="*/ 341 w 341"/>
                <a:gd name="T21" fmla="*/ 172 h 372"/>
                <a:gd name="T22" fmla="*/ 341 w 341"/>
                <a:gd name="T23" fmla="*/ 201 h 372"/>
                <a:gd name="T24" fmla="*/ 338 w 341"/>
                <a:gd name="T25" fmla="*/ 231 h 372"/>
                <a:gd name="T26" fmla="*/ 330 w 341"/>
                <a:gd name="T27" fmla="*/ 260 h 372"/>
                <a:gd name="T28" fmla="*/ 317 w 341"/>
                <a:gd name="T29" fmla="*/ 287 h 372"/>
                <a:gd name="T30" fmla="*/ 301 w 341"/>
                <a:gd name="T31" fmla="*/ 311 h 372"/>
                <a:gd name="T32" fmla="*/ 280 w 341"/>
                <a:gd name="T33" fmla="*/ 332 h 372"/>
                <a:gd name="T34" fmla="*/ 257 w 341"/>
                <a:gd name="T35" fmla="*/ 349 h 372"/>
                <a:gd name="T36" fmla="*/ 230 w 341"/>
                <a:gd name="T37" fmla="*/ 361 h 372"/>
                <a:gd name="T38" fmla="*/ 201 w 341"/>
                <a:gd name="T39" fmla="*/ 370 h 372"/>
                <a:gd name="T40" fmla="*/ 171 w 341"/>
                <a:gd name="T41" fmla="*/ 372 h 372"/>
                <a:gd name="T42" fmla="*/ 0 w 341"/>
                <a:gd name="T43" fmla="*/ 372 h 372"/>
                <a:gd name="T44" fmla="*/ 0 w 341"/>
                <a:gd name="T45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2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Freeform 18">
              <a:extLst>
                <a:ext uri="{FF2B5EF4-FFF2-40B4-BE49-F238E27FC236}">
                  <a16:creationId xmlns:a16="http://schemas.microsoft.com/office/drawing/2014/main" id="{52B8E94F-86FB-5210-BF51-A2702FE4C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90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0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4 h 371"/>
                <a:gd name="T16" fmla="*/ 330 w 341"/>
                <a:gd name="T17" fmla="*/ 111 h 371"/>
                <a:gd name="T18" fmla="*/ 338 w 341"/>
                <a:gd name="T19" fmla="*/ 140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0 h 371"/>
                <a:gd name="T32" fmla="*/ 280 w 341"/>
                <a:gd name="T33" fmla="*/ 331 h 371"/>
                <a:gd name="T34" fmla="*/ 257 w 341"/>
                <a:gd name="T35" fmla="*/ 348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Freeform 19">
              <a:extLst>
                <a:ext uri="{FF2B5EF4-FFF2-40B4-BE49-F238E27FC236}">
                  <a16:creationId xmlns:a16="http://schemas.microsoft.com/office/drawing/2014/main" id="{3F825E85-B698-D8D1-C3E8-4D3E341D5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339"/>
              <a:ext cx="72" cy="72"/>
            </a:xfrm>
            <a:custGeom>
              <a:avLst/>
              <a:gdLst>
                <a:gd name="T0" fmla="*/ 317 w 430"/>
                <a:gd name="T1" fmla="*/ 0 h 433"/>
                <a:gd name="T2" fmla="*/ 341 w 430"/>
                <a:gd name="T3" fmla="*/ 3 h 433"/>
                <a:gd name="T4" fmla="*/ 362 w 430"/>
                <a:gd name="T5" fmla="*/ 10 h 433"/>
                <a:gd name="T6" fmla="*/ 382 w 430"/>
                <a:gd name="T7" fmla="*/ 22 h 433"/>
                <a:gd name="T8" fmla="*/ 398 w 430"/>
                <a:gd name="T9" fmla="*/ 37 h 433"/>
                <a:gd name="T10" fmla="*/ 411 w 430"/>
                <a:gd name="T11" fmla="*/ 56 h 433"/>
                <a:gd name="T12" fmla="*/ 421 w 430"/>
                <a:gd name="T13" fmla="*/ 77 h 433"/>
                <a:gd name="T14" fmla="*/ 427 w 430"/>
                <a:gd name="T15" fmla="*/ 102 h 433"/>
                <a:gd name="T16" fmla="*/ 430 w 430"/>
                <a:gd name="T17" fmla="*/ 129 h 433"/>
                <a:gd name="T18" fmla="*/ 430 w 430"/>
                <a:gd name="T19" fmla="*/ 153 h 433"/>
                <a:gd name="T20" fmla="*/ 426 w 430"/>
                <a:gd name="T21" fmla="*/ 189 h 433"/>
                <a:gd name="T22" fmla="*/ 416 w 430"/>
                <a:gd name="T23" fmla="*/ 225 h 433"/>
                <a:gd name="T24" fmla="*/ 402 w 430"/>
                <a:gd name="T25" fmla="*/ 259 h 433"/>
                <a:gd name="T26" fmla="*/ 383 w 430"/>
                <a:gd name="T27" fmla="*/ 291 h 433"/>
                <a:gd name="T28" fmla="*/ 358 w 430"/>
                <a:gd name="T29" fmla="*/ 321 h 433"/>
                <a:gd name="T30" fmla="*/ 331 w 430"/>
                <a:gd name="T31" fmla="*/ 345 h 433"/>
                <a:gd name="T32" fmla="*/ 301 w 430"/>
                <a:gd name="T33" fmla="*/ 366 h 433"/>
                <a:gd name="T34" fmla="*/ 269 w 430"/>
                <a:gd name="T35" fmla="*/ 382 h 433"/>
                <a:gd name="T36" fmla="*/ 0 w 430"/>
                <a:gd name="T37" fmla="*/ 433 h 433"/>
                <a:gd name="T38" fmla="*/ 0 w 430"/>
                <a:gd name="T39" fmla="*/ 37 h 433"/>
                <a:gd name="T40" fmla="*/ 266 w 430"/>
                <a:gd name="T41" fmla="*/ 6 h 433"/>
                <a:gd name="T42" fmla="*/ 293 w 430"/>
                <a:gd name="T43" fmla="*/ 1 h 433"/>
                <a:gd name="T44" fmla="*/ 317 w 430"/>
                <a:gd name="T45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0" h="433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Freeform 20">
              <a:extLst>
                <a:ext uri="{FF2B5EF4-FFF2-40B4-BE49-F238E27FC236}">
                  <a16:creationId xmlns:a16="http://schemas.microsoft.com/office/drawing/2014/main" id="{C05A5B1E-E136-659F-9308-21104732B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" y="291"/>
              <a:ext cx="245" cy="420"/>
            </a:xfrm>
            <a:custGeom>
              <a:avLst/>
              <a:gdLst>
                <a:gd name="T0" fmla="*/ 1304 w 1472"/>
                <a:gd name="T1" fmla="*/ 0 h 2521"/>
                <a:gd name="T2" fmla="*/ 1363 w 1472"/>
                <a:gd name="T3" fmla="*/ 12 h 2521"/>
                <a:gd name="T4" fmla="*/ 1412 w 1472"/>
                <a:gd name="T5" fmla="*/ 40 h 2521"/>
                <a:gd name="T6" fmla="*/ 1449 w 1472"/>
                <a:gd name="T7" fmla="*/ 85 h 2521"/>
                <a:gd name="T8" fmla="*/ 1469 w 1472"/>
                <a:gd name="T9" fmla="*/ 140 h 2521"/>
                <a:gd name="T10" fmla="*/ 1472 w 1472"/>
                <a:gd name="T11" fmla="*/ 2351 h 2521"/>
                <a:gd name="T12" fmla="*/ 1461 w 1472"/>
                <a:gd name="T13" fmla="*/ 2411 h 2521"/>
                <a:gd name="T14" fmla="*/ 1432 w 1472"/>
                <a:gd name="T15" fmla="*/ 2461 h 2521"/>
                <a:gd name="T16" fmla="*/ 1388 w 1472"/>
                <a:gd name="T17" fmla="*/ 2498 h 2521"/>
                <a:gd name="T18" fmla="*/ 1334 w 1472"/>
                <a:gd name="T19" fmla="*/ 2519 h 2521"/>
                <a:gd name="T20" fmla="*/ 947 w 1472"/>
                <a:gd name="T21" fmla="*/ 2521 h 2521"/>
                <a:gd name="T22" fmla="*/ 955 w 1472"/>
                <a:gd name="T23" fmla="*/ 2488 h 2521"/>
                <a:gd name="T24" fmla="*/ 961 w 1472"/>
                <a:gd name="T25" fmla="*/ 2467 h 2521"/>
                <a:gd name="T26" fmla="*/ 977 w 1472"/>
                <a:gd name="T27" fmla="*/ 2383 h 2521"/>
                <a:gd name="T28" fmla="*/ 823 w 1472"/>
                <a:gd name="T29" fmla="*/ 2367 h 2521"/>
                <a:gd name="T30" fmla="*/ 838 w 1472"/>
                <a:gd name="T31" fmla="*/ 2330 h 2521"/>
                <a:gd name="T32" fmla="*/ 837 w 1472"/>
                <a:gd name="T33" fmla="*/ 2286 h 2521"/>
                <a:gd name="T34" fmla="*/ 816 w 1472"/>
                <a:gd name="T35" fmla="*/ 2244 h 2521"/>
                <a:gd name="T36" fmla="*/ 780 w 1472"/>
                <a:gd name="T37" fmla="*/ 2215 h 2521"/>
                <a:gd name="T38" fmla="*/ 733 w 1472"/>
                <a:gd name="T39" fmla="*/ 2203 h 2521"/>
                <a:gd name="T40" fmla="*/ 686 w 1472"/>
                <a:gd name="T41" fmla="*/ 2215 h 2521"/>
                <a:gd name="T42" fmla="*/ 650 w 1472"/>
                <a:gd name="T43" fmla="*/ 2244 h 2521"/>
                <a:gd name="T44" fmla="*/ 630 w 1472"/>
                <a:gd name="T45" fmla="*/ 2286 h 2521"/>
                <a:gd name="T46" fmla="*/ 629 w 1472"/>
                <a:gd name="T47" fmla="*/ 2330 h 2521"/>
                <a:gd name="T48" fmla="*/ 643 w 1472"/>
                <a:gd name="T49" fmla="*/ 2367 h 2521"/>
                <a:gd name="T50" fmla="*/ 360 w 1472"/>
                <a:gd name="T51" fmla="*/ 2383 h 2521"/>
                <a:gd name="T52" fmla="*/ 363 w 1472"/>
                <a:gd name="T53" fmla="*/ 2374 h 2521"/>
                <a:gd name="T54" fmla="*/ 369 w 1472"/>
                <a:gd name="T55" fmla="*/ 2356 h 2521"/>
                <a:gd name="T56" fmla="*/ 372 w 1472"/>
                <a:gd name="T57" fmla="*/ 2054 h 2521"/>
                <a:gd name="T58" fmla="*/ 1212 w 1472"/>
                <a:gd name="T59" fmla="*/ 2051 h 2521"/>
                <a:gd name="T60" fmla="*/ 1236 w 1472"/>
                <a:gd name="T61" fmla="*/ 2034 h 2521"/>
                <a:gd name="T62" fmla="*/ 1244 w 1472"/>
                <a:gd name="T63" fmla="*/ 2006 h 2521"/>
                <a:gd name="T64" fmla="*/ 1242 w 1472"/>
                <a:gd name="T65" fmla="*/ 313 h 2521"/>
                <a:gd name="T66" fmla="*/ 1226 w 1472"/>
                <a:gd name="T67" fmla="*/ 290 h 2521"/>
                <a:gd name="T68" fmla="*/ 1198 w 1472"/>
                <a:gd name="T69" fmla="*/ 281 h 2521"/>
                <a:gd name="T70" fmla="*/ 259 w 1472"/>
                <a:gd name="T71" fmla="*/ 284 h 2521"/>
                <a:gd name="T72" fmla="*/ 237 w 1472"/>
                <a:gd name="T73" fmla="*/ 300 h 2521"/>
                <a:gd name="T74" fmla="*/ 228 w 1472"/>
                <a:gd name="T75" fmla="*/ 328 h 2521"/>
                <a:gd name="T76" fmla="*/ 0 w 1472"/>
                <a:gd name="T77" fmla="*/ 1459 h 2521"/>
                <a:gd name="T78" fmla="*/ 3 w 1472"/>
                <a:gd name="T79" fmla="*/ 140 h 2521"/>
                <a:gd name="T80" fmla="*/ 23 w 1472"/>
                <a:gd name="T81" fmla="*/ 85 h 2521"/>
                <a:gd name="T82" fmla="*/ 60 w 1472"/>
                <a:gd name="T83" fmla="*/ 40 h 2521"/>
                <a:gd name="T84" fmla="*/ 110 w 1472"/>
                <a:gd name="T85" fmla="*/ 12 h 2521"/>
                <a:gd name="T86" fmla="*/ 169 w 1472"/>
                <a:gd name="T87" fmla="*/ 0 h 2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72" h="2521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Freeform 21">
              <a:extLst>
                <a:ext uri="{FF2B5EF4-FFF2-40B4-BE49-F238E27FC236}">
                  <a16:creationId xmlns:a16="http://schemas.microsoft.com/office/drawing/2014/main" id="{DFA6DFDD-E755-DE42-B481-89D354445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" y="439"/>
              <a:ext cx="403" cy="390"/>
            </a:xfrm>
            <a:custGeom>
              <a:avLst/>
              <a:gdLst>
                <a:gd name="T0" fmla="*/ 1252 w 2416"/>
                <a:gd name="T1" fmla="*/ 666 h 2337"/>
                <a:gd name="T2" fmla="*/ 2225 w 2416"/>
                <a:gd name="T3" fmla="*/ 669 h 2337"/>
                <a:gd name="T4" fmla="*/ 2293 w 2416"/>
                <a:gd name="T5" fmla="*/ 689 h 2337"/>
                <a:gd name="T6" fmla="*/ 2349 w 2416"/>
                <a:gd name="T7" fmla="*/ 727 h 2337"/>
                <a:gd name="T8" fmla="*/ 2390 w 2416"/>
                <a:gd name="T9" fmla="*/ 780 h 2337"/>
                <a:gd name="T10" fmla="*/ 2413 w 2416"/>
                <a:gd name="T11" fmla="*/ 843 h 2337"/>
                <a:gd name="T12" fmla="*/ 2413 w 2416"/>
                <a:gd name="T13" fmla="*/ 912 h 2337"/>
                <a:gd name="T14" fmla="*/ 2390 w 2416"/>
                <a:gd name="T15" fmla="*/ 976 h 2337"/>
                <a:gd name="T16" fmla="*/ 2349 w 2416"/>
                <a:gd name="T17" fmla="*/ 1029 h 2337"/>
                <a:gd name="T18" fmla="*/ 2293 w 2416"/>
                <a:gd name="T19" fmla="*/ 1067 h 2337"/>
                <a:gd name="T20" fmla="*/ 2225 w 2416"/>
                <a:gd name="T21" fmla="*/ 1087 h 2337"/>
                <a:gd name="T22" fmla="*/ 1616 w 2416"/>
                <a:gd name="T23" fmla="*/ 1090 h 2337"/>
                <a:gd name="T24" fmla="*/ 1604 w 2416"/>
                <a:gd name="T25" fmla="*/ 1504 h 2337"/>
                <a:gd name="T26" fmla="*/ 1572 w 2416"/>
                <a:gd name="T27" fmla="*/ 1577 h 2337"/>
                <a:gd name="T28" fmla="*/ 1532 w 2416"/>
                <a:gd name="T29" fmla="*/ 1647 h 2337"/>
                <a:gd name="T30" fmla="*/ 1489 w 2416"/>
                <a:gd name="T31" fmla="*/ 1714 h 2337"/>
                <a:gd name="T32" fmla="*/ 1443 w 2416"/>
                <a:gd name="T33" fmla="*/ 1775 h 2337"/>
                <a:gd name="T34" fmla="*/ 1400 w 2416"/>
                <a:gd name="T35" fmla="*/ 1829 h 2337"/>
                <a:gd name="T36" fmla="*/ 1360 w 2416"/>
                <a:gd name="T37" fmla="*/ 1873 h 2337"/>
                <a:gd name="T38" fmla="*/ 1329 w 2416"/>
                <a:gd name="T39" fmla="*/ 1907 h 2337"/>
                <a:gd name="T40" fmla="*/ 1307 w 2416"/>
                <a:gd name="T41" fmla="*/ 1929 h 2337"/>
                <a:gd name="T42" fmla="*/ 1298 w 2416"/>
                <a:gd name="T43" fmla="*/ 1937 h 2337"/>
                <a:gd name="T44" fmla="*/ 1280 w 2416"/>
                <a:gd name="T45" fmla="*/ 1968 h 2337"/>
                <a:gd name="T46" fmla="*/ 1279 w 2416"/>
                <a:gd name="T47" fmla="*/ 2002 h 2337"/>
                <a:gd name="T48" fmla="*/ 1295 w 2416"/>
                <a:gd name="T49" fmla="*/ 2034 h 2337"/>
                <a:gd name="T50" fmla="*/ 1327 w 2416"/>
                <a:gd name="T51" fmla="*/ 2053 h 2337"/>
                <a:gd name="T52" fmla="*/ 1360 w 2416"/>
                <a:gd name="T53" fmla="*/ 2054 h 2337"/>
                <a:gd name="T54" fmla="*/ 1390 w 2416"/>
                <a:gd name="T55" fmla="*/ 2037 h 2337"/>
                <a:gd name="T56" fmla="*/ 1401 w 2416"/>
                <a:gd name="T57" fmla="*/ 2026 h 2337"/>
                <a:gd name="T58" fmla="*/ 1427 w 2416"/>
                <a:gd name="T59" fmla="*/ 2001 h 2337"/>
                <a:gd name="T60" fmla="*/ 1463 w 2416"/>
                <a:gd name="T61" fmla="*/ 1963 h 2337"/>
                <a:gd name="T62" fmla="*/ 1506 w 2416"/>
                <a:gd name="T63" fmla="*/ 1913 h 2337"/>
                <a:gd name="T64" fmla="*/ 1554 w 2416"/>
                <a:gd name="T65" fmla="*/ 1855 h 2337"/>
                <a:gd name="T66" fmla="*/ 1603 w 2416"/>
                <a:gd name="T67" fmla="*/ 1787 h 2337"/>
                <a:gd name="T68" fmla="*/ 1651 w 2416"/>
                <a:gd name="T69" fmla="*/ 1712 h 2337"/>
                <a:gd name="T70" fmla="*/ 1695 w 2416"/>
                <a:gd name="T71" fmla="*/ 1633 h 2337"/>
                <a:gd name="T72" fmla="*/ 2205 w 2416"/>
                <a:gd name="T73" fmla="*/ 1592 h 2337"/>
                <a:gd name="T74" fmla="*/ 2203 w 2416"/>
                <a:gd name="T75" fmla="*/ 1604 h 2337"/>
                <a:gd name="T76" fmla="*/ 2195 w 2416"/>
                <a:gd name="T77" fmla="*/ 1637 h 2337"/>
                <a:gd name="T78" fmla="*/ 2181 w 2416"/>
                <a:gd name="T79" fmla="*/ 1686 h 2337"/>
                <a:gd name="T80" fmla="*/ 2161 w 2416"/>
                <a:gd name="T81" fmla="*/ 1746 h 2337"/>
                <a:gd name="T82" fmla="*/ 2134 w 2416"/>
                <a:gd name="T83" fmla="*/ 1814 h 2337"/>
                <a:gd name="T84" fmla="*/ 2102 w 2416"/>
                <a:gd name="T85" fmla="*/ 1886 h 2337"/>
                <a:gd name="T86" fmla="*/ 2061 w 2416"/>
                <a:gd name="T87" fmla="*/ 1955 h 2337"/>
                <a:gd name="T88" fmla="*/ 2011 w 2416"/>
                <a:gd name="T89" fmla="*/ 2017 h 2337"/>
                <a:gd name="T90" fmla="*/ 1954 w 2416"/>
                <a:gd name="T91" fmla="*/ 2068 h 2337"/>
                <a:gd name="T92" fmla="*/ 1829 w 2416"/>
                <a:gd name="T93" fmla="*/ 2148 h 2337"/>
                <a:gd name="T94" fmla="*/ 1705 w 2416"/>
                <a:gd name="T95" fmla="*/ 2212 h 2337"/>
                <a:gd name="T96" fmla="*/ 1596 w 2416"/>
                <a:gd name="T97" fmla="*/ 2265 h 2337"/>
                <a:gd name="T98" fmla="*/ 1539 w 2416"/>
                <a:gd name="T99" fmla="*/ 2291 h 2337"/>
                <a:gd name="T100" fmla="*/ 1474 w 2416"/>
                <a:gd name="T101" fmla="*/ 2314 h 2337"/>
                <a:gd name="T102" fmla="*/ 1408 w 2416"/>
                <a:gd name="T103" fmla="*/ 2331 h 2337"/>
                <a:gd name="T104" fmla="*/ 1346 w 2416"/>
                <a:gd name="T105" fmla="*/ 2337 h 2337"/>
                <a:gd name="T106" fmla="*/ 73 w 2416"/>
                <a:gd name="T107" fmla="*/ 2335 h 2337"/>
                <a:gd name="T108" fmla="*/ 35 w 2416"/>
                <a:gd name="T109" fmla="*/ 2320 h 2337"/>
                <a:gd name="T110" fmla="*/ 9 w 2416"/>
                <a:gd name="T111" fmla="*/ 2292 h 2337"/>
                <a:gd name="T112" fmla="*/ 0 w 2416"/>
                <a:gd name="T113" fmla="*/ 2255 h 2337"/>
                <a:gd name="T114" fmla="*/ 8 w 2416"/>
                <a:gd name="T115" fmla="*/ 2211 h 2337"/>
                <a:gd name="T116" fmla="*/ 623 w 2416"/>
                <a:gd name="T117" fmla="*/ 542 h 2337"/>
                <a:gd name="T118" fmla="*/ 674 w 2416"/>
                <a:gd name="T119" fmla="*/ 458 h 2337"/>
                <a:gd name="T120" fmla="*/ 738 w 2416"/>
                <a:gd name="T121" fmla="*/ 377 h 2337"/>
                <a:gd name="T122" fmla="*/ 810 w 2416"/>
                <a:gd name="T123" fmla="*/ 306 h 2337"/>
                <a:gd name="T124" fmla="*/ 882 w 2416"/>
                <a:gd name="T125" fmla="*/ 251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16" h="2337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8" name="Freeform 26">
            <a:extLst>
              <a:ext uri="{FF2B5EF4-FFF2-40B4-BE49-F238E27FC236}">
                <a16:creationId xmlns:a16="http://schemas.microsoft.com/office/drawing/2014/main" id="{8E3DC5D2-AAB7-8155-AC46-D4309BDBAFAD}"/>
              </a:ext>
            </a:extLst>
          </p:cNvPr>
          <p:cNvSpPr>
            <a:spLocks noEditPoints="1"/>
          </p:cNvSpPr>
          <p:nvPr/>
        </p:nvSpPr>
        <p:spPr bwMode="auto">
          <a:xfrm>
            <a:off x="6549005" y="3730542"/>
            <a:ext cx="355600" cy="695325"/>
          </a:xfrm>
          <a:custGeom>
            <a:avLst/>
            <a:gdLst>
              <a:gd name="T0" fmla="*/ 765 w 1790"/>
              <a:gd name="T1" fmla="*/ 1570 h 3502"/>
              <a:gd name="T2" fmla="*/ 778 w 1790"/>
              <a:gd name="T3" fmla="*/ 1793 h 3502"/>
              <a:gd name="T4" fmla="*/ 871 w 1790"/>
              <a:gd name="T5" fmla="*/ 1683 h 3502"/>
              <a:gd name="T6" fmla="*/ 1004 w 1790"/>
              <a:gd name="T7" fmla="*/ 1655 h 3502"/>
              <a:gd name="T8" fmla="*/ 1083 w 1790"/>
              <a:gd name="T9" fmla="*/ 1817 h 3502"/>
              <a:gd name="T10" fmla="*/ 1132 w 1790"/>
              <a:gd name="T11" fmla="*/ 1601 h 3502"/>
              <a:gd name="T12" fmla="*/ 942 w 1790"/>
              <a:gd name="T13" fmla="*/ 1469 h 3502"/>
              <a:gd name="T14" fmla="*/ 660 w 1790"/>
              <a:gd name="T15" fmla="*/ 1357 h 3502"/>
              <a:gd name="T16" fmla="*/ 517 w 1790"/>
              <a:gd name="T17" fmla="*/ 1673 h 3502"/>
              <a:gd name="T18" fmla="*/ 667 w 1790"/>
              <a:gd name="T19" fmla="*/ 1992 h 3502"/>
              <a:gd name="T20" fmla="*/ 775 w 1790"/>
              <a:gd name="T21" fmla="*/ 1920 h 3502"/>
              <a:gd name="T22" fmla="*/ 640 w 1790"/>
              <a:gd name="T23" fmla="*/ 1673 h 3502"/>
              <a:gd name="T24" fmla="*/ 777 w 1790"/>
              <a:gd name="T25" fmla="*/ 1421 h 3502"/>
              <a:gd name="T26" fmla="*/ 1068 w 1790"/>
              <a:gd name="T27" fmla="*/ 1401 h 3502"/>
              <a:gd name="T28" fmla="*/ 1239 w 1790"/>
              <a:gd name="T29" fmla="*/ 1629 h 3502"/>
              <a:gd name="T30" fmla="*/ 1133 w 1790"/>
              <a:gd name="T31" fmla="*/ 1903 h 3502"/>
              <a:gd name="T32" fmla="*/ 1228 w 1790"/>
              <a:gd name="T33" fmla="*/ 1980 h 3502"/>
              <a:gd name="T34" fmla="*/ 1365 w 1790"/>
              <a:gd name="T35" fmla="*/ 1673 h 3502"/>
              <a:gd name="T36" fmla="*/ 1223 w 1790"/>
              <a:gd name="T37" fmla="*/ 1357 h 3502"/>
              <a:gd name="T38" fmla="*/ 942 w 1790"/>
              <a:gd name="T39" fmla="*/ 1203 h 3502"/>
              <a:gd name="T40" fmla="*/ 1276 w 1790"/>
              <a:gd name="T41" fmla="*/ 1340 h 3502"/>
              <a:gd name="T42" fmla="*/ 1414 w 1790"/>
              <a:gd name="T43" fmla="*/ 1673 h 3502"/>
              <a:gd name="T44" fmla="*/ 1279 w 1790"/>
              <a:gd name="T45" fmla="*/ 2000 h 3502"/>
              <a:gd name="T46" fmla="*/ 1090 w 1790"/>
              <a:gd name="T47" fmla="*/ 2385 h 3502"/>
              <a:gd name="T48" fmla="*/ 1166 w 1790"/>
              <a:gd name="T49" fmla="*/ 2179 h 3502"/>
              <a:gd name="T50" fmla="*/ 1288 w 1790"/>
              <a:gd name="T51" fmla="*/ 2232 h 3502"/>
              <a:gd name="T52" fmla="*/ 1346 w 1790"/>
              <a:gd name="T53" fmla="*/ 2232 h 3502"/>
              <a:gd name="T54" fmla="*/ 1468 w 1790"/>
              <a:gd name="T55" fmla="*/ 2179 h 3502"/>
              <a:gd name="T56" fmla="*/ 1543 w 1790"/>
              <a:gd name="T57" fmla="*/ 2385 h 3502"/>
              <a:gd name="T58" fmla="*/ 1637 w 1790"/>
              <a:gd name="T59" fmla="*/ 2187 h 3502"/>
              <a:gd name="T60" fmla="*/ 1768 w 1790"/>
              <a:gd name="T61" fmla="*/ 2213 h 3502"/>
              <a:gd name="T62" fmla="*/ 1789 w 1790"/>
              <a:gd name="T63" fmla="*/ 3085 h 3502"/>
              <a:gd name="T64" fmla="*/ 1779 w 1790"/>
              <a:gd name="T65" fmla="*/ 3164 h 3502"/>
              <a:gd name="T66" fmla="*/ 1707 w 1790"/>
              <a:gd name="T67" fmla="*/ 3330 h 3502"/>
              <a:gd name="T68" fmla="*/ 1511 w 1790"/>
              <a:gd name="T69" fmla="*/ 3473 h 3502"/>
              <a:gd name="T70" fmla="*/ 1163 w 1790"/>
              <a:gd name="T71" fmla="*/ 3487 h 3502"/>
              <a:gd name="T72" fmla="*/ 934 w 1790"/>
              <a:gd name="T73" fmla="*/ 3373 h 3502"/>
              <a:gd name="T74" fmla="*/ 858 w 1790"/>
              <a:gd name="T75" fmla="*/ 3263 h 3502"/>
              <a:gd name="T76" fmla="*/ 768 w 1790"/>
              <a:gd name="T77" fmla="*/ 3106 h 3502"/>
              <a:gd name="T78" fmla="*/ 630 w 1790"/>
              <a:gd name="T79" fmla="*/ 2864 h 3502"/>
              <a:gd name="T80" fmla="*/ 521 w 1790"/>
              <a:gd name="T81" fmla="*/ 2667 h 3502"/>
              <a:gd name="T82" fmla="*/ 507 w 1790"/>
              <a:gd name="T83" fmla="*/ 2517 h 3502"/>
              <a:gd name="T84" fmla="*/ 636 w 1790"/>
              <a:gd name="T85" fmla="*/ 2496 h 3502"/>
              <a:gd name="T86" fmla="*/ 816 w 1790"/>
              <a:gd name="T87" fmla="*/ 2700 h 3502"/>
              <a:gd name="T88" fmla="*/ 615 w 1790"/>
              <a:gd name="T89" fmla="*/ 2011 h 3502"/>
              <a:gd name="T90" fmla="*/ 469 w 1790"/>
              <a:gd name="T91" fmla="*/ 1673 h 3502"/>
              <a:gd name="T92" fmla="*/ 608 w 1790"/>
              <a:gd name="T93" fmla="*/ 1340 h 3502"/>
              <a:gd name="T94" fmla="*/ 942 w 1790"/>
              <a:gd name="T95" fmla="*/ 1203 h 3502"/>
              <a:gd name="T96" fmla="*/ 639 w 1790"/>
              <a:gd name="T97" fmla="*/ 188 h 3502"/>
              <a:gd name="T98" fmla="*/ 1056 w 1790"/>
              <a:gd name="T99" fmla="*/ 141 h 3502"/>
              <a:gd name="T100" fmla="*/ 1625 w 1790"/>
              <a:gd name="T101" fmla="*/ 46 h 3502"/>
              <a:gd name="T102" fmla="*/ 1558 w 1790"/>
              <a:gd name="T103" fmla="*/ 2034 h 3502"/>
              <a:gd name="T104" fmla="*/ 161 w 1790"/>
              <a:gd name="T105" fmla="*/ 2902 h 3502"/>
              <a:gd name="T106" fmla="*/ 3 w 1790"/>
              <a:gd name="T107" fmla="*/ 2744 h 3502"/>
              <a:gd name="T108" fmla="*/ 71 w 1790"/>
              <a:gd name="T109" fmla="*/ 46 h 3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790" h="3502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C39D87-AA36-5084-CF59-92576425D0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EBE0FA-7944-92CD-37AE-1C815EB8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6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F4F744-F11F-6169-F7CF-AEEDFF17C6DD}"/>
              </a:ext>
            </a:extLst>
          </p:cNvPr>
          <p:cNvSpPr txBox="1"/>
          <p:nvPr/>
        </p:nvSpPr>
        <p:spPr>
          <a:xfrm>
            <a:off x="0" y="744245"/>
            <a:ext cx="12045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The Objective: From Insight to Prediction</a:t>
            </a:r>
            <a:endParaRPr lang="en-US" dirty="0"/>
          </a:p>
          <a:p>
            <a:r>
              <a:rPr lang="en-US" dirty="0"/>
              <a:t>Our clustering analysis </a:t>
            </a:r>
            <a:r>
              <a:rPr lang="en-US" i="1" dirty="0"/>
              <a:t>found</a:t>
            </a:r>
            <a:r>
              <a:rPr lang="en-US" dirty="0"/>
              <a:t> two distinct profiles. The next step was to </a:t>
            </a:r>
            <a:r>
              <a:rPr lang="en-US" i="1" dirty="0"/>
              <a:t>use</a:t>
            </a:r>
            <a:r>
              <a:rPr lang="en-US" dirty="0"/>
              <a:t> them.</a:t>
            </a:r>
          </a:p>
          <a:p>
            <a:r>
              <a:rPr lang="en-US" b="1" dirty="0"/>
              <a:t>Goal:</a:t>
            </a:r>
            <a:r>
              <a:rPr lang="en-US" dirty="0"/>
              <a:t> To build a </a:t>
            </a:r>
            <a:r>
              <a:rPr lang="en-US" b="1" dirty="0"/>
              <a:t>Supervised Classification Model</a:t>
            </a:r>
            <a:r>
              <a:rPr lang="en-US" dirty="0"/>
              <a:t> that can accurately predict whether a </a:t>
            </a:r>
            <a:r>
              <a:rPr lang="en-US" i="1" dirty="0"/>
              <a:t>new</a:t>
            </a:r>
            <a:r>
              <a:rPr lang="en-US" dirty="0"/>
              <a:t> district belongs to the "High Crime Profile" or "Low Crime Profile.“</a:t>
            </a:r>
          </a:p>
          <a:p>
            <a:endParaRPr lang="en-US" dirty="0"/>
          </a:p>
          <a:p>
            <a:r>
              <a:rPr lang="en-US" b="1" dirty="0"/>
              <a:t>2. The Methodology: Our Predictive Pipeline</a:t>
            </a:r>
            <a:endParaRPr lang="en-US" dirty="0"/>
          </a:p>
          <a:p>
            <a:r>
              <a:rPr lang="en-US" b="1" dirty="0"/>
              <a:t>Features (X):</a:t>
            </a:r>
            <a:r>
              <a:rPr lang="en-US" dirty="0"/>
              <a:t> The 11 selected crime columns (after being scaled and with outliers handled).</a:t>
            </a:r>
          </a:p>
          <a:p>
            <a:r>
              <a:rPr lang="en-US" b="1" dirty="0"/>
              <a:t>Target (y):</a:t>
            </a:r>
            <a:r>
              <a:rPr lang="en-US" dirty="0"/>
              <a:t> The two cluster labels we discovered (e.g., 0 for "Low Profile", 1 for "High Profile").</a:t>
            </a:r>
          </a:p>
          <a:p>
            <a:r>
              <a:rPr lang="en-US" b="1" dirty="0"/>
              <a:t>Process:</a:t>
            </a:r>
            <a:endParaRPr lang="en-US" dirty="0"/>
          </a:p>
          <a:p>
            <a:pPr lvl="1"/>
            <a:r>
              <a:rPr lang="en-US" b="1" dirty="0"/>
              <a:t>Split Data:</a:t>
            </a:r>
            <a:r>
              <a:rPr lang="en-US" dirty="0"/>
              <a:t> We split the dataset (80% for Training, 20% for Testing) to validate our model's performance on unseen data.</a:t>
            </a:r>
          </a:p>
          <a:p>
            <a:pPr lvl="1"/>
            <a:r>
              <a:rPr lang="en-US" b="1" dirty="0"/>
              <a:t>Trained Models:</a:t>
            </a:r>
            <a:r>
              <a:rPr lang="en-US" dirty="0"/>
              <a:t> We built and compared two models:</a:t>
            </a:r>
          </a:p>
          <a:p>
            <a:pPr lvl="2"/>
            <a:r>
              <a:rPr lang="en-US" b="1" dirty="0"/>
              <a:t>Logistic Regression:</a:t>
            </a:r>
            <a:r>
              <a:rPr lang="en-US" dirty="0"/>
              <a:t> A fast, simple, and highly interpretable baseline model.</a:t>
            </a:r>
          </a:p>
          <a:p>
            <a:pPr lvl="2"/>
            <a:r>
              <a:rPr lang="en-US" b="1" dirty="0"/>
              <a:t>Random Forest:</a:t>
            </a:r>
            <a:r>
              <a:rPr lang="en-US" dirty="0"/>
              <a:t> A powerful, advanced model that can find complex patterns.</a:t>
            </a:r>
          </a:p>
          <a:p>
            <a:pPr lvl="2"/>
            <a:endParaRPr lang="en-US" dirty="0"/>
          </a:p>
          <a:p>
            <a:r>
              <a:rPr lang="en-US" b="1" dirty="0"/>
              <a:t>3. Model Performance &amp; Key Insights</a:t>
            </a:r>
            <a:endParaRPr lang="en-US" dirty="0"/>
          </a:p>
          <a:p>
            <a:r>
              <a:rPr lang="en-US" b="1" dirty="0"/>
              <a:t>High Accuracy:</a:t>
            </a:r>
            <a:r>
              <a:rPr lang="en-US" dirty="0"/>
              <a:t> Both models achieved very high accuracy (over 99%). This confirms that our two clusters are very distinct and can be easily separated and predicted.</a:t>
            </a:r>
          </a:p>
          <a:p>
            <a:r>
              <a:rPr lang="en-US" b="1" dirty="0"/>
              <a:t>Logistic Regression Insights:</a:t>
            </a:r>
            <a:r>
              <a:rPr lang="en-US" dirty="0"/>
              <a:t> The model's coefficients showed a clear "push and pull." High </a:t>
            </a:r>
            <a:r>
              <a:rPr lang="en-US" dirty="0" err="1"/>
              <a:t>excise_act</a:t>
            </a:r>
            <a:r>
              <a:rPr lang="en-US" dirty="0"/>
              <a:t> and POCSO rates strongly predicted one class, while high </a:t>
            </a:r>
            <a:r>
              <a:rPr lang="en-US" dirty="0" err="1"/>
              <a:t>motor_vehicle_act</a:t>
            </a:r>
            <a:r>
              <a:rPr lang="en-US" dirty="0"/>
              <a:t> rates predicted the other.</a:t>
            </a:r>
          </a:p>
          <a:p>
            <a:r>
              <a:rPr lang="en-US" b="1" dirty="0"/>
              <a:t>Random Forest Insights (The Key Finding):</a:t>
            </a:r>
            <a:r>
              <a:rPr lang="en-US" dirty="0"/>
              <a:t> The "Feature Importance" report told us </a:t>
            </a:r>
            <a:r>
              <a:rPr lang="en-US" i="1" dirty="0"/>
              <a:t>which features mattered most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238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7185F-E1B3-4822-3FF8-8AC47CD5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C6ABFA98-9786-B08B-24CD-ECE821FD7CE5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FE0A210-2F0C-47E1-7FDD-FCA2BEB4F764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6A8B36AA-424C-90C7-D609-9DC9922659AC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BE4C5590-2EA9-07DF-9341-FD66BE0939A7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1074A9B3-D15B-00C2-5AA0-87A5D6BA6D50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214B4E10-6A0D-059A-24C1-C8081E479E5B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B2898236-5E16-2F9E-AF01-1D914125BCA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DCB0E4C8-A78D-EB21-A3C6-EA2BE228FBE2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1348B819-72C1-7ED3-7A3F-7714FC34C1D2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2C05FB1F-D579-ACAA-BBDC-3B8D4B4BF974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5A65A390-E46D-465A-C48E-3C5ABA936826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7D2C0055-BABB-3117-7746-8AC7AA3CE39A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71F3D303-2360-F941-842A-3F72D6638385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3BCD7C40-BD78-C7C5-8762-8430FA069F72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626A9AAA-44F5-47F3-048B-6523ED725DF0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E05B2947-E5E6-D221-B213-0C2615787A72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4D2D0518-1C34-B1EF-0FA6-4BBAC9C0D645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D7D7D5AA-0849-4C43-9CCB-C83B4D29E668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E9B2F0E9-150F-8306-EF66-CF9D91909A25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8C61F919-B557-862C-C13E-B360C9E8F9FC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C717B1F3-A786-F9F4-A7FF-115E5035E55C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5DAE2F12-685A-D301-92B1-35868E85B98D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27FF7371-F6FE-8E9C-B1B7-0A7DE0C6C7B9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7364DF75-58F0-7C00-93A8-A6431816CCB0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3B9678B0-6EE3-DC16-9F30-B270FDBCB077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2E9E7373-3CD6-2A67-B2F8-576F322EEFEC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F408DFA1-0474-5F3D-A3FB-2CF0FC146402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3F429B66-35D3-E392-E5F5-25F6A9D6A127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1D4255CB-6A73-5410-7EE6-D07CEB30E187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306DDD43-9639-CB84-FDEB-DB8A1157D483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F8CEC7E7-E0C0-EA13-EDDE-1F97C68A8498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85B77A3B-B030-5FFE-8149-F54F27FED886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686D296F-60E2-BB90-40CA-A5E18343C676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E72E6043-C700-2FB5-20D2-896F15A0E0C6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67273904-1097-1B19-8AE2-15FDA97D1ACF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432AA390-F28A-9B23-010C-FB08ADE4A223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55F45190-B723-6A4E-0092-C49A7AE479EC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86637651-B37B-0489-CE50-B877563B8EC6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0DC410B-7D08-36DA-30F3-1CCECEA2E1E6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0FD3AD28-8516-3881-F3C4-FA9498B1CC8F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1CB93B21-E5A3-18DC-F420-D74277E0D6C5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ACAE0373-068F-1837-18F6-89DE30A622CD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DE66332F-5B2D-DF7A-FFF6-B56B6202EF63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299C7197-D426-A849-5B78-84FC7FC90C4A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835FE622-18E7-5628-810E-586505A8E73C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D9ED9741-58CA-6AE4-689C-2F1993E6C24E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EAC43C51-9C48-5FE3-09D4-65AE15B5185D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EC7BA2E6-970C-8735-537E-07E8B93B4403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7C3F0D9C-47C1-D82C-2951-C059A4328F43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9E5A107E-6793-979D-5D1D-62626453F571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362BEA1D-CF60-AB74-766F-8739506BAA92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3A646E49-A45E-00AC-83DD-667C0AAD7104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019F520B-1431-DA2F-068E-8FE5CEF9FFFF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C2792D17-BE35-45AB-C05B-BDB2111CD6DC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0D88579F-134E-2E1A-CF3C-7811C1B0DF39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2EB3E7FF-2DCA-FE29-C7F4-1474C82F22E3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ECAB4CC1-7D07-6B1F-592A-6E8D1D4A90D5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E3FBFA7A-2057-229C-3A90-1DFEEB915D5A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B066935F-EA63-7F3C-B2A5-BB3BF601C9BA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BD5ADD12-4929-171F-6D65-82E7CD4D39D9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AB813164-1BB7-FAA2-8528-73B700E6033F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B0F74119-B4E8-53E6-EE44-19D18C2A6E06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64DD32F2-56A9-0272-9FA7-EB7FD8E38DD2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D20322BB-1F61-AA78-F7C4-3F1017D08659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14410997-4322-C1DE-1AC6-08FB46D9A312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DDC64349-36D1-A3E0-555A-5E4A5C7425BA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BFE8E238-9DCF-B3EA-D823-64D5033944A9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3AA939BA-C025-E164-5A83-C6D9803FC6DD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42598F52-BB4B-42B5-A592-45362952913D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1DDA10C3-9ECC-3627-1810-80EE3B8CB4A2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10A67BBC-DFB3-42B7-5783-7D639BF85811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0D4E2AF9-0F02-AE95-B290-3DB277F45161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4B825253-1F8C-57EB-4FF8-47CDBB3B5626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CE7482B2-F9FF-B7E9-FA00-E903631B948B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6E0B070-DA88-4DB6-E74A-25C6110C5DB0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Collaborated Dataset Overview</a:t>
            </a: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8A4F0C32-6D4E-8E75-A3F1-DEE3D2ED1EA5}"/>
              </a:ext>
            </a:extLst>
          </p:cNvPr>
          <p:cNvSpPr txBox="1"/>
          <p:nvPr/>
        </p:nvSpPr>
        <p:spPr>
          <a:xfrm>
            <a:off x="7483294" y="2282149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ED383630-06E2-AEDD-3B34-C0CA0D8D8CEF}"/>
              </a:ext>
            </a:extLst>
          </p:cNvPr>
          <p:cNvSpPr txBox="1"/>
          <p:nvPr/>
        </p:nvSpPr>
        <p:spPr>
          <a:xfrm>
            <a:off x="6095999" y="4927086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291D47B0-4C4C-6931-5AE7-ACC6A9D0E495}"/>
              </a:ext>
            </a:extLst>
          </p:cNvPr>
          <p:cNvSpPr txBox="1"/>
          <p:nvPr/>
        </p:nvSpPr>
        <p:spPr>
          <a:xfrm>
            <a:off x="3436733" y="3563674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359" name="Freeform 6">
            <a:extLst>
              <a:ext uri="{FF2B5EF4-FFF2-40B4-BE49-F238E27FC236}">
                <a16:creationId xmlns:a16="http://schemas.microsoft.com/office/drawing/2014/main" id="{EB4CD173-CD75-2685-80A4-964231535235}"/>
              </a:ext>
            </a:extLst>
          </p:cNvPr>
          <p:cNvSpPr>
            <a:spLocks noEditPoints="1"/>
          </p:cNvSpPr>
          <p:nvPr/>
        </p:nvSpPr>
        <p:spPr bwMode="auto">
          <a:xfrm>
            <a:off x="5133215" y="3730542"/>
            <a:ext cx="668338" cy="687387"/>
          </a:xfrm>
          <a:custGeom>
            <a:avLst/>
            <a:gdLst>
              <a:gd name="T0" fmla="*/ 1078 w 3366"/>
              <a:gd name="T1" fmla="*/ 2244 h 3464"/>
              <a:gd name="T2" fmla="*/ 1804 w 3366"/>
              <a:gd name="T3" fmla="*/ 2131 h 3464"/>
              <a:gd name="T4" fmla="*/ 1741 w 3366"/>
              <a:gd name="T5" fmla="*/ 452 h 3464"/>
              <a:gd name="T6" fmla="*/ 1878 w 3366"/>
              <a:gd name="T7" fmla="*/ 927 h 3464"/>
              <a:gd name="T8" fmla="*/ 1741 w 3366"/>
              <a:gd name="T9" fmla="*/ 452 h 3464"/>
              <a:gd name="T10" fmla="*/ 281 w 3366"/>
              <a:gd name="T11" fmla="*/ 3183 h 3464"/>
              <a:gd name="T12" fmla="*/ 2387 w 3366"/>
              <a:gd name="T13" fmla="*/ 1716 h 3464"/>
              <a:gd name="T14" fmla="*/ 2088 w 3366"/>
              <a:gd name="T15" fmla="*/ 2021 h 3464"/>
              <a:gd name="T16" fmla="*/ 1886 w 3366"/>
              <a:gd name="T17" fmla="*/ 2215 h 3464"/>
              <a:gd name="T18" fmla="*/ 2088 w 3366"/>
              <a:gd name="T19" fmla="*/ 2463 h 3464"/>
              <a:gd name="T20" fmla="*/ 580 w 3366"/>
              <a:gd name="T21" fmla="*/ 2604 h 3464"/>
              <a:gd name="T22" fmla="*/ 870 w 3366"/>
              <a:gd name="T23" fmla="*/ 2463 h 3464"/>
              <a:gd name="T24" fmla="*/ 580 w 3366"/>
              <a:gd name="T25" fmla="*/ 2021 h 3464"/>
              <a:gd name="T26" fmla="*/ 1110 w 3366"/>
              <a:gd name="T27" fmla="*/ 1880 h 3464"/>
              <a:gd name="T28" fmla="*/ 1366 w 3366"/>
              <a:gd name="T29" fmla="*/ 1438 h 3464"/>
              <a:gd name="T30" fmla="*/ 580 w 3366"/>
              <a:gd name="T31" fmla="*/ 1296 h 3464"/>
              <a:gd name="T32" fmla="*/ 1666 w 3366"/>
              <a:gd name="T33" fmla="*/ 1138 h 3464"/>
              <a:gd name="T34" fmla="*/ 1532 w 3366"/>
              <a:gd name="T35" fmla="*/ 281 h 3464"/>
              <a:gd name="T36" fmla="*/ 0 w 3366"/>
              <a:gd name="T37" fmla="*/ 0 h 3464"/>
              <a:gd name="T38" fmla="*/ 2241 w 3366"/>
              <a:gd name="T39" fmla="*/ 565 h 3464"/>
              <a:gd name="T40" fmla="*/ 2661 w 3366"/>
              <a:gd name="T41" fmla="*/ 150 h 3464"/>
              <a:gd name="T42" fmla="*/ 2712 w 3366"/>
              <a:gd name="T43" fmla="*/ 117 h 3464"/>
              <a:gd name="T44" fmla="*/ 2765 w 3366"/>
              <a:gd name="T45" fmla="*/ 97 h 3464"/>
              <a:gd name="T46" fmla="*/ 2816 w 3366"/>
              <a:gd name="T47" fmla="*/ 90 h 3464"/>
              <a:gd name="T48" fmla="*/ 2863 w 3366"/>
              <a:gd name="T49" fmla="*/ 100 h 3464"/>
              <a:gd name="T50" fmla="*/ 2900 w 3366"/>
              <a:gd name="T51" fmla="*/ 125 h 3464"/>
              <a:gd name="T52" fmla="*/ 3347 w 3366"/>
              <a:gd name="T53" fmla="*/ 578 h 3464"/>
              <a:gd name="T54" fmla="*/ 3364 w 3366"/>
              <a:gd name="T55" fmla="*/ 626 h 3464"/>
              <a:gd name="T56" fmla="*/ 3363 w 3366"/>
              <a:gd name="T57" fmla="*/ 680 h 3464"/>
              <a:gd name="T58" fmla="*/ 3344 w 3366"/>
              <a:gd name="T59" fmla="*/ 739 h 3464"/>
              <a:gd name="T60" fmla="*/ 3310 w 3366"/>
              <a:gd name="T61" fmla="*/ 796 h 3464"/>
              <a:gd name="T62" fmla="*/ 2668 w 3366"/>
              <a:gd name="T63" fmla="*/ 1437 h 3464"/>
              <a:gd name="T64" fmla="*/ 0 w 3366"/>
              <a:gd name="T65" fmla="*/ 3464 h 3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366" h="3464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" name="Freeform 11">
            <a:extLst>
              <a:ext uri="{FF2B5EF4-FFF2-40B4-BE49-F238E27FC236}">
                <a16:creationId xmlns:a16="http://schemas.microsoft.com/office/drawing/2014/main" id="{2E9F29D7-DA45-BE2F-5812-3FE8020289D0}"/>
              </a:ext>
            </a:extLst>
          </p:cNvPr>
          <p:cNvSpPr>
            <a:spLocks noEditPoints="1"/>
          </p:cNvSpPr>
          <p:nvPr/>
        </p:nvSpPr>
        <p:spPr bwMode="auto">
          <a:xfrm>
            <a:off x="5130834" y="2538361"/>
            <a:ext cx="673100" cy="503238"/>
          </a:xfrm>
          <a:custGeom>
            <a:avLst/>
            <a:gdLst>
              <a:gd name="T0" fmla="*/ 2212 w 3390"/>
              <a:gd name="T1" fmla="*/ 1401 h 2540"/>
              <a:gd name="T2" fmla="*/ 2082 w 3390"/>
              <a:gd name="T3" fmla="*/ 1890 h 2540"/>
              <a:gd name="T4" fmla="*/ 2394 w 3390"/>
              <a:gd name="T5" fmla="*/ 2275 h 2540"/>
              <a:gd name="T6" fmla="*/ 2900 w 3390"/>
              <a:gd name="T7" fmla="*/ 2249 h 2540"/>
              <a:gd name="T8" fmla="*/ 3170 w 3390"/>
              <a:gd name="T9" fmla="*/ 1832 h 2540"/>
              <a:gd name="T10" fmla="*/ 2991 w 3390"/>
              <a:gd name="T11" fmla="*/ 1361 h 2540"/>
              <a:gd name="T12" fmla="*/ 707 w 3390"/>
              <a:gd name="T13" fmla="*/ 1223 h 2540"/>
              <a:gd name="T14" fmla="*/ 290 w 3390"/>
              <a:gd name="T15" fmla="*/ 1493 h 2540"/>
              <a:gd name="T16" fmla="*/ 264 w 3390"/>
              <a:gd name="T17" fmla="*/ 1999 h 2540"/>
              <a:gd name="T18" fmla="*/ 649 w 3390"/>
              <a:gd name="T19" fmla="*/ 2312 h 2540"/>
              <a:gd name="T20" fmla="*/ 1137 w 3390"/>
              <a:gd name="T21" fmla="*/ 2182 h 2540"/>
              <a:gd name="T22" fmla="*/ 1316 w 3390"/>
              <a:gd name="T23" fmla="*/ 1712 h 2540"/>
              <a:gd name="T24" fmla="*/ 1046 w 3390"/>
              <a:gd name="T25" fmla="*/ 1295 h 2540"/>
              <a:gd name="T26" fmla="*/ 1556 w 3390"/>
              <a:gd name="T27" fmla="*/ 896 h 2540"/>
              <a:gd name="T28" fmla="*/ 1337 w 3390"/>
              <a:gd name="T29" fmla="*/ 1029 h 2540"/>
              <a:gd name="T30" fmla="*/ 1556 w 3390"/>
              <a:gd name="T31" fmla="*/ 1160 h 2540"/>
              <a:gd name="T32" fmla="*/ 1947 w 3390"/>
              <a:gd name="T33" fmla="*/ 1130 h 2540"/>
              <a:gd name="T34" fmla="*/ 2024 w 3390"/>
              <a:gd name="T35" fmla="*/ 973 h 2540"/>
              <a:gd name="T36" fmla="*/ 1695 w 3390"/>
              <a:gd name="T37" fmla="*/ 886 h 2540"/>
              <a:gd name="T38" fmla="*/ 1950 w 3390"/>
              <a:gd name="T39" fmla="*/ 406 h 2540"/>
              <a:gd name="T40" fmla="*/ 2007 w 3390"/>
              <a:gd name="T41" fmla="*/ 460 h 2540"/>
              <a:gd name="T42" fmla="*/ 2283 w 3390"/>
              <a:gd name="T43" fmla="*/ 342 h 2540"/>
              <a:gd name="T44" fmla="*/ 2422 w 3390"/>
              <a:gd name="T45" fmla="*/ 372 h 2540"/>
              <a:gd name="T46" fmla="*/ 2439 w 3390"/>
              <a:gd name="T47" fmla="*/ 294 h 2540"/>
              <a:gd name="T48" fmla="*/ 2260 w 3390"/>
              <a:gd name="T49" fmla="*/ 260 h 2540"/>
              <a:gd name="T50" fmla="*/ 954 w 3390"/>
              <a:gd name="T51" fmla="*/ 292 h 2540"/>
              <a:gd name="T52" fmla="*/ 955 w 3390"/>
              <a:gd name="T53" fmla="*/ 371 h 2540"/>
              <a:gd name="T54" fmla="*/ 1078 w 3390"/>
              <a:gd name="T55" fmla="*/ 346 h 2540"/>
              <a:gd name="T56" fmla="*/ 1326 w 3390"/>
              <a:gd name="T57" fmla="*/ 400 h 2540"/>
              <a:gd name="T58" fmla="*/ 1445 w 3390"/>
              <a:gd name="T59" fmla="*/ 441 h 2540"/>
              <a:gd name="T60" fmla="*/ 1225 w 3390"/>
              <a:gd name="T61" fmla="*/ 268 h 2540"/>
              <a:gd name="T62" fmla="*/ 1449 w 3390"/>
              <a:gd name="T63" fmla="*/ 92 h 2540"/>
              <a:gd name="T64" fmla="*/ 1505 w 3390"/>
              <a:gd name="T65" fmla="*/ 324 h 2540"/>
              <a:gd name="T66" fmla="*/ 1529 w 3390"/>
              <a:gd name="T67" fmla="*/ 705 h 2540"/>
              <a:gd name="T68" fmla="*/ 1626 w 3390"/>
              <a:gd name="T69" fmla="*/ 626 h 2540"/>
              <a:gd name="T70" fmla="*/ 1745 w 3390"/>
              <a:gd name="T71" fmla="*/ 610 h 2540"/>
              <a:gd name="T72" fmla="*/ 1828 w 3390"/>
              <a:gd name="T73" fmla="*/ 699 h 2540"/>
              <a:gd name="T74" fmla="*/ 1879 w 3390"/>
              <a:gd name="T75" fmla="*/ 406 h 2540"/>
              <a:gd name="T76" fmla="*/ 1904 w 3390"/>
              <a:gd name="T77" fmla="*/ 153 h 2540"/>
              <a:gd name="T78" fmla="*/ 2166 w 3390"/>
              <a:gd name="T79" fmla="*/ 1 h 2540"/>
              <a:gd name="T80" fmla="*/ 2396 w 3390"/>
              <a:gd name="T81" fmla="*/ 155 h 2540"/>
              <a:gd name="T82" fmla="*/ 2582 w 3390"/>
              <a:gd name="T83" fmla="*/ 410 h 2540"/>
              <a:gd name="T84" fmla="*/ 2844 w 3390"/>
              <a:gd name="T85" fmla="*/ 783 h 2540"/>
              <a:gd name="T86" fmla="*/ 3126 w 3390"/>
              <a:gd name="T87" fmla="*/ 1187 h 2540"/>
              <a:gd name="T88" fmla="*/ 3292 w 3390"/>
              <a:gd name="T89" fmla="*/ 1426 h 2540"/>
              <a:gd name="T90" fmla="*/ 3390 w 3390"/>
              <a:gd name="T91" fmla="*/ 1772 h 2540"/>
              <a:gd name="T92" fmla="*/ 3166 w 3390"/>
              <a:gd name="T93" fmla="*/ 2314 h 2540"/>
              <a:gd name="T94" fmla="*/ 2624 w 3390"/>
              <a:gd name="T95" fmla="*/ 2540 h 2540"/>
              <a:gd name="T96" fmla="*/ 2082 w 3390"/>
              <a:gd name="T97" fmla="*/ 2314 h 2540"/>
              <a:gd name="T98" fmla="*/ 1859 w 3390"/>
              <a:gd name="T99" fmla="*/ 1772 h 2540"/>
              <a:gd name="T100" fmla="*/ 1805 w 3390"/>
              <a:gd name="T101" fmla="*/ 1469 h 2540"/>
              <a:gd name="T102" fmla="*/ 1547 w 3390"/>
              <a:gd name="T103" fmla="*/ 1507 h 2540"/>
              <a:gd name="T104" fmla="*/ 1468 w 3390"/>
              <a:gd name="T105" fmla="*/ 2101 h 2540"/>
              <a:gd name="T106" fmla="*/ 1039 w 3390"/>
              <a:gd name="T107" fmla="*/ 2491 h 2540"/>
              <a:gd name="T108" fmla="*/ 442 w 3390"/>
              <a:gd name="T109" fmla="*/ 2466 h 2540"/>
              <a:gd name="T110" fmla="*/ 48 w 3390"/>
              <a:gd name="T111" fmla="*/ 2039 h 2540"/>
              <a:gd name="T112" fmla="*/ 34 w 3390"/>
              <a:gd name="T113" fmla="*/ 1579 h 2540"/>
              <a:gd name="T114" fmla="*/ 170 w 3390"/>
              <a:gd name="T115" fmla="*/ 1318 h 2540"/>
              <a:gd name="T116" fmla="*/ 413 w 3390"/>
              <a:gd name="T117" fmla="*/ 972 h 2540"/>
              <a:gd name="T118" fmla="*/ 703 w 3390"/>
              <a:gd name="T119" fmla="*/ 558 h 2540"/>
              <a:gd name="T120" fmla="*/ 888 w 3390"/>
              <a:gd name="T121" fmla="*/ 294 h 2540"/>
              <a:gd name="T122" fmla="*/ 1124 w 3390"/>
              <a:gd name="T123" fmla="*/ 34 h 2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0" h="254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61" name="Group 14">
            <a:extLst>
              <a:ext uri="{FF2B5EF4-FFF2-40B4-BE49-F238E27FC236}">
                <a16:creationId xmlns:a16="http://schemas.microsoft.com/office/drawing/2014/main" id="{6333F847-F520-4922-EAAE-29416DC477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45373" y="2438267"/>
            <a:ext cx="713404" cy="692800"/>
            <a:chOff x="638" y="291"/>
            <a:chExt cx="554" cy="538"/>
          </a:xfrm>
          <a:solidFill>
            <a:schemeClr val="bg1"/>
          </a:solidFill>
        </p:grpSpPr>
        <p:sp>
          <p:nvSpPr>
            <p:cNvPr id="362" name="Freeform 16">
              <a:extLst>
                <a:ext uri="{FF2B5EF4-FFF2-40B4-BE49-F238E27FC236}">
                  <a16:creationId xmlns:a16="http://schemas.microsoft.com/office/drawing/2014/main" id="{EF311136-501F-CFF8-5A24-8034B0068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444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1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6 h 371"/>
                <a:gd name="T16" fmla="*/ 330 w 341"/>
                <a:gd name="T17" fmla="*/ 111 h 371"/>
                <a:gd name="T18" fmla="*/ 338 w 341"/>
                <a:gd name="T19" fmla="*/ 141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1 h 371"/>
                <a:gd name="T32" fmla="*/ 280 w 341"/>
                <a:gd name="T33" fmla="*/ 331 h 371"/>
                <a:gd name="T34" fmla="*/ 257 w 341"/>
                <a:gd name="T35" fmla="*/ 349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Freeform 17">
              <a:extLst>
                <a:ext uri="{FF2B5EF4-FFF2-40B4-BE49-F238E27FC236}">
                  <a16:creationId xmlns:a16="http://schemas.microsoft.com/office/drawing/2014/main" id="{1DB67908-7512-11FF-6FBF-04C9FDD4B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17"/>
              <a:ext cx="57" cy="62"/>
            </a:xfrm>
            <a:custGeom>
              <a:avLst/>
              <a:gdLst>
                <a:gd name="T0" fmla="*/ 0 w 341"/>
                <a:gd name="T1" fmla="*/ 0 h 372"/>
                <a:gd name="T2" fmla="*/ 171 w 341"/>
                <a:gd name="T3" fmla="*/ 0 h 372"/>
                <a:gd name="T4" fmla="*/ 201 w 341"/>
                <a:gd name="T5" fmla="*/ 4 h 372"/>
                <a:gd name="T6" fmla="*/ 230 w 341"/>
                <a:gd name="T7" fmla="*/ 11 h 372"/>
                <a:gd name="T8" fmla="*/ 257 w 341"/>
                <a:gd name="T9" fmla="*/ 24 h 372"/>
                <a:gd name="T10" fmla="*/ 280 w 341"/>
                <a:gd name="T11" fmla="*/ 41 h 372"/>
                <a:gd name="T12" fmla="*/ 301 w 341"/>
                <a:gd name="T13" fmla="*/ 61 h 372"/>
                <a:gd name="T14" fmla="*/ 317 w 341"/>
                <a:gd name="T15" fmla="*/ 85 h 372"/>
                <a:gd name="T16" fmla="*/ 330 w 341"/>
                <a:gd name="T17" fmla="*/ 112 h 372"/>
                <a:gd name="T18" fmla="*/ 338 w 341"/>
                <a:gd name="T19" fmla="*/ 141 h 372"/>
                <a:gd name="T20" fmla="*/ 341 w 341"/>
                <a:gd name="T21" fmla="*/ 172 h 372"/>
                <a:gd name="T22" fmla="*/ 341 w 341"/>
                <a:gd name="T23" fmla="*/ 201 h 372"/>
                <a:gd name="T24" fmla="*/ 338 w 341"/>
                <a:gd name="T25" fmla="*/ 231 h 372"/>
                <a:gd name="T26" fmla="*/ 330 w 341"/>
                <a:gd name="T27" fmla="*/ 260 h 372"/>
                <a:gd name="T28" fmla="*/ 317 w 341"/>
                <a:gd name="T29" fmla="*/ 287 h 372"/>
                <a:gd name="T30" fmla="*/ 301 w 341"/>
                <a:gd name="T31" fmla="*/ 311 h 372"/>
                <a:gd name="T32" fmla="*/ 280 w 341"/>
                <a:gd name="T33" fmla="*/ 332 h 372"/>
                <a:gd name="T34" fmla="*/ 257 w 341"/>
                <a:gd name="T35" fmla="*/ 349 h 372"/>
                <a:gd name="T36" fmla="*/ 230 w 341"/>
                <a:gd name="T37" fmla="*/ 361 h 372"/>
                <a:gd name="T38" fmla="*/ 201 w 341"/>
                <a:gd name="T39" fmla="*/ 370 h 372"/>
                <a:gd name="T40" fmla="*/ 171 w 341"/>
                <a:gd name="T41" fmla="*/ 372 h 372"/>
                <a:gd name="T42" fmla="*/ 0 w 341"/>
                <a:gd name="T43" fmla="*/ 372 h 372"/>
                <a:gd name="T44" fmla="*/ 0 w 341"/>
                <a:gd name="T45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2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Freeform 18">
              <a:extLst>
                <a:ext uri="{FF2B5EF4-FFF2-40B4-BE49-F238E27FC236}">
                  <a16:creationId xmlns:a16="http://schemas.microsoft.com/office/drawing/2014/main" id="{8BD553BB-83AC-2455-A19A-C921F3BFA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90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0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4 h 371"/>
                <a:gd name="T16" fmla="*/ 330 w 341"/>
                <a:gd name="T17" fmla="*/ 111 h 371"/>
                <a:gd name="T18" fmla="*/ 338 w 341"/>
                <a:gd name="T19" fmla="*/ 140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0 h 371"/>
                <a:gd name="T32" fmla="*/ 280 w 341"/>
                <a:gd name="T33" fmla="*/ 331 h 371"/>
                <a:gd name="T34" fmla="*/ 257 w 341"/>
                <a:gd name="T35" fmla="*/ 348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Freeform 19">
              <a:extLst>
                <a:ext uri="{FF2B5EF4-FFF2-40B4-BE49-F238E27FC236}">
                  <a16:creationId xmlns:a16="http://schemas.microsoft.com/office/drawing/2014/main" id="{0AE2E8A3-BBDD-CF1F-6574-80B86E2ED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339"/>
              <a:ext cx="72" cy="72"/>
            </a:xfrm>
            <a:custGeom>
              <a:avLst/>
              <a:gdLst>
                <a:gd name="T0" fmla="*/ 317 w 430"/>
                <a:gd name="T1" fmla="*/ 0 h 433"/>
                <a:gd name="T2" fmla="*/ 341 w 430"/>
                <a:gd name="T3" fmla="*/ 3 h 433"/>
                <a:gd name="T4" fmla="*/ 362 w 430"/>
                <a:gd name="T5" fmla="*/ 10 h 433"/>
                <a:gd name="T6" fmla="*/ 382 w 430"/>
                <a:gd name="T7" fmla="*/ 22 h 433"/>
                <a:gd name="T8" fmla="*/ 398 w 430"/>
                <a:gd name="T9" fmla="*/ 37 h 433"/>
                <a:gd name="T10" fmla="*/ 411 w 430"/>
                <a:gd name="T11" fmla="*/ 56 h 433"/>
                <a:gd name="T12" fmla="*/ 421 w 430"/>
                <a:gd name="T13" fmla="*/ 77 h 433"/>
                <a:gd name="T14" fmla="*/ 427 w 430"/>
                <a:gd name="T15" fmla="*/ 102 h 433"/>
                <a:gd name="T16" fmla="*/ 430 w 430"/>
                <a:gd name="T17" fmla="*/ 129 h 433"/>
                <a:gd name="T18" fmla="*/ 430 w 430"/>
                <a:gd name="T19" fmla="*/ 153 h 433"/>
                <a:gd name="T20" fmla="*/ 426 w 430"/>
                <a:gd name="T21" fmla="*/ 189 h 433"/>
                <a:gd name="T22" fmla="*/ 416 w 430"/>
                <a:gd name="T23" fmla="*/ 225 h 433"/>
                <a:gd name="T24" fmla="*/ 402 w 430"/>
                <a:gd name="T25" fmla="*/ 259 h 433"/>
                <a:gd name="T26" fmla="*/ 383 w 430"/>
                <a:gd name="T27" fmla="*/ 291 h 433"/>
                <a:gd name="T28" fmla="*/ 358 w 430"/>
                <a:gd name="T29" fmla="*/ 321 h 433"/>
                <a:gd name="T30" fmla="*/ 331 w 430"/>
                <a:gd name="T31" fmla="*/ 345 h 433"/>
                <a:gd name="T32" fmla="*/ 301 w 430"/>
                <a:gd name="T33" fmla="*/ 366 h 433"/>
                <a:gd name="T34" fmla="*/ 269 w 430"/>
                <a:gd name="T35" fmla="*/ 382 h 433"/>
                <a:gd name="T36" fmla="*/ 0 w 430"/>
                <a:gd name="T37" fmla="*/ 433 h 433"/>
                <a:gd name="T38" fmla="*/ 0 w 430"/>
                <a:gd name="T39" fmla="*/ 37 h 433"/>
                <a:gd name="T40" fmla="*/ 266 w 430"/>
                <a:gd name="T41" fmla="*/ 6 h 433"/>
                <a:gd name="T42" fmla="*/ 293 w 430"/>
                <a:gd name="T43" fmla="*/ 1 h 433"/>
                <a:gd name="T44" fmla="*/ 317 w 430"/>
                <a:gd name="T45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0" h="433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Freeform 20">
              <a:extLst>
                <a:ext uri="{FF2B5EF4-FFF2-40B4-BE49-F238E27FC236}">
                  <a16:creationId xmlns:a16="http://schemas.microsoft.com/office/drawing/2014/main" id="{2537D980-0E2B-FC05-78EA-DA4BD0988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" y="291"/>
              <a:ext cx="245" cy="420"/>
            </a:xfrm>
            <a:custGeom>
              <a:avLst/>
              <a:gdLst>
                <a:gd name="T0" fmla="*/ 1304 w 1472"/>
                <a:gd name="T1" fmla="*/ 0 h 2521"/>
                <a:gd name="T2" fmla="*/ 1363 w 1472"/>
                <a:gd name="T3" fmla="*/ 12 h 2521"/>
                <a:gd name="T4" fmla="*/ 1412 w 1472"/>
                <a:gd name="T5" fmla="*/ 40 h 2521"/>
                <a:gd name="T6" fmla="*/ 1449 w 1472"/>
                <a:gd name="T7" fmla="*/ 85 h 2521"/>
                <a:gd name="T8" fmla="*/ 1469 w 1472"/>
                <a:gd name="T9" fmla="*/ 140 h 2521"/>
                <a:gd name="T10" fmla="*/ 1472 w 1472"/>
                <a:gd name="T11" fmla="*/ 2351 h 2521"/>
                <a:gd name="T12" fmla="*/ 1461 w 1472"/>
                <a:gd name="T13" fmla="*/ 2411 h 2521"/>
                <a:gd name="T14" fmla="*/ 1432 w 1472"/>
                <a:gd name="T15" fmla="*/ 2461 h 2521"/>
                <a:gd name="T16" fmla="*/ 1388 w 1472"/>
                <a:gd name="T17" fmla="*/ 2498 h 2521"/>
                <a:gd name="T18" fmla="*/ 1334 w 1472"/>
                <a:gd name="T19" fmla="*/ 2519 h 2521"/>
                <a:gd name="T20" fmla="*/ 947 w 1472"/>
                <a:gd name="T21" fmla="*/ 2521 h 2521"/>
                <a:gd name="T22" fmla="*/ 955 w 1472"/>
                <a:gd name="T23" fmla="*/ 2488 h 2521"/>
                <a:gd name="T24" fmla="*/ 961 w 1472"/>
                <a:gd name="T25" fmla="*/ 2467 h 2521"/>
                <a:gd name="T26" fmla="*/ 977 w 1472"/>
                <a:gd name="T27" fmla="*/ 2383 h 2521"/>
                <a:gd name="T28" fmla="*/ 823 w 1472"/>
                <a:gd name="T29" fmla="*/ 2367 h 2521"/>
                <a:gd name="T30" fmla="*/ 838 w 1472"/>
                <a:gd name="T31" fmla="*/ 2330 h 2521"/>
                <a:gd name="T32" fmla="*/ 837 w 1472"/>
                <a:gd name="T33" fmla="*/ 2286 h 2521"/>
                <a:gd name="T34" fmla="*/ 816 w 1472"/>
                <a:gd name="T35" fmla="*/ 2244 h 2521"/>
                <a:gd name="T36" fmla="*/ 780 w 1472"/>
                <a:gd name="T37" fmla="*/ 2215 h 2521"/>
                <a:gd name="T38" fmla="*/ 733 w 1472"/>
                <a:gd name="T39" fmla="*/ 2203 h 2521"/>
                <a:gd name="T40" fmla="*/ 686 w 1472"/>
                <a:gd name="T41" fmla="*/ 2215 h 2521"/>
                <a:gd name="T42" fmla="*/ 650 w 1472"/>
                <a:gd name="T43" fmla="*/ 2244 h 2521"/>
                <a:gd name="T44" fmla="*/ 630 w 1472"/>
                <a:gd name="T45" fmla="*/ 2286 h 2521"/>
                <a:gd name="T46" fmla="*/ 629 w 1472"/>
                <a:gd name="T47" fmla="*/ 2330 h 2521"/>
                <a:gd name="T48" fmla="*/ 643 w 1472"/>
                <a:gd name="T49" fmla="*/ 2367 h 2521"/>
                <a:gd name="T50" fmla="*/ 360 w 1472"/>
                <a:gd name="T51" fmla="*/ 2383 h 2521"/>
                <a:gd name="T52" fmla="*/ 363 w 1472"/>
                <a:gd name="T53" fmla="*/ 2374 h 2521"/>
                <a:gd name="T54" fmla="*/ 369 w 1472"/>
                <a:gd name="T55" fmla="*/ 2356 h 2521"/>
                <a:gd name="T56" fmla="*/ 372 w 1472"/>
                <a:gd name="T57" fmla="*/ 2054 h 2521"/>
                <a:gd name="T58" fmla="*/ 1212 w 1472"/>
                <a:gd name="T59" fmla="*/ 2051 h 2521"/>
                <a:gd name="T60" fmla="*/ 1236 w 1472"/>
                <a:gd name="T61" fmla="*/ 2034 h 2521"/>
                <a:gd name="T62" fmla="*/ 1244 w 1472"/>
                <a:gd name="T63" fmla="*/ 2006 h 2521"/>
                <a:gd name="T64" fmla="*/ 1242 w 1472"/>
                <a:gd name="T65" fmla="*/ 313 h 2521"/>
                <a:gd name="T66" fmla="*/ 1226 w 1472"/>
                <a:gd name="T67" fmla="*/ 290 h 2521"/>
                <a:gd name="T68" fmla="*/ 1198 w 1472"/>
                <a:gd name="T69" fmla="*/ 281 h 2521"/>
                <a:gd name="T70" fmla="*/ 259 w 1472"/>
                <a:gd name="T71" fmla="*/ 284 h 2521"/>
                <a:gd name="T72" fmla="*/ 237 w 1472"/>
                <a:gd name="T73" fmla="*/ 300 h 2521"/>
                <a:gd name="T74" fmla="*/ 228 w 1472"/>
                <a:gd name="T75" fmla="*/ 328 h 2521"/>
                <a:gd name="T76" fmla="*/ 0 w 1472"/>
                <a:gd name="T77" fmla="*/ 1459 h 2521"/>
                <a:gd name="T78" fmla="*/ 3 w 1472"/>
                <a:gd name="T79" fmla="*/ 140 h 2521"/>
                <a:gd name="T80" fmla="*/ 23 w 1472"/>
                <a:gd name="T81" fmla="*/ 85 h 2521"/>
                <a:gd name="T82" fmla="*/ 60 w 1472"/>
                <a:gd name="T83" fmla="*/ 40 h 2521"/>
                <a:gd name="T84" fmla="*/ 110 w 1472"/>
                <a:gd name="T85" fmla="*/ 12 h 2521"/>
                <a:gd name="T86" fmla="*/ 169 w 1472"/>
                <a:gd name="T87" fmla="*/ 0 h 2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72" h="2521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Freeform 21">
              <a:extLst>
                <a:ext uri="{FF2B5EF4-FFF2-40B4-BE49-F238E27FC236}">
                  <a16:creationId xmlns:a16="http://schemas.microsoft.com/office/drawing/2014/main" id="{6CF4A15A-3ED8-CC78-B1D1-13EAA53E7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" y="439"/>
              <a:ext cx="403" cy="390"/>
            </a:xfrm>
            <a:custGeom>
              <a:avLst/>
              <a:gdLst>
                <a:gd name="T0" fmla="*/ 1252 w 2416"/>
                <a:gd name="T1" fmla="*/ 666 h 2337"/>
                <a:gd name="T2" fmla="*/ 2225 w 2416"/>
                <a:gd name="T3" fmla="*/ 669 h 2337"/>
                <a:gd name="T4" fmla="*/ 2293 w 2416"/>
                <a:gd name="T5" fmla="*/ 689 h 2337"/>
                <a:gd name="T6" fmla="*/ 2349 w 2416"/>
                <a:gd name="T7" fmla="*/ 727 h 2337"/>
                <a:gd name="T8" fmla="*/ 2390 w 2416"/>
                <a:gd name="T9" fmla="*/ 780 h 2337"/>
                <a:gd name="T10" fmla="*/ 2413 w 2416"/>
                <a:gd name="T11" fmla="*/ 843 h 2337"/>
                <a:gd name="T12" fmla="*/ 2413 w 2416"/>
                <a:gd name="T13" fmla="*/ 912 h 2337"/>
                <a:gd name="T14" fmla="*/ 2390 w 2416"/>
                <a:gd name="T15" fmla="*/ 976 h 2337"/>
                <a:gd name="T16" fmla="*/ 2349 w 2416"/>
                <a:gd name="T17" fmla="*/ 1029 h 2337"/>
                <a:gd name="T18" fmla="*/ 2293 w 2416"/>
                <a:gd name="T19" fmla="*/ 1067 h 2337"/>
                <a:gd name="T20" fmla="*/ 2225 w 2416"/>
                <a:gd name="T21" fmla="*/ 1087 h 2337"/>
                <a:gd name="T22" fmla="*/ 1616 w 2416"/>
                <a:gd name="T23" fmla="*/ 1090 h 2337"/>
                <a:gd name="T24" fmla="*/ 1604 w 2416"/>
                <a:gd name="T25" fmla="*/ 1504 h 2337"/>
                <a:gd name="T26" fmla="*/ 1572 w 2416"/>
                <a:gd name="T27" fmla="*/ 1577 h 2337"/>
                <a:gd name="T28" fmla="*/ 1532 w 2416"/>
                <a:gd name="T29" fmla="*/ 1647 h 2337"/>
                <a:gd name="T30" fmla="*/ 1489 w 2416"/>
                <a:gd name="T31" fmla="*/ 1714 h 2337"/>
                <a:gd name="T32" fmla="*/ 1443 w 2416"/>
                <a:gd name="T33" fmla="*/ 1775 h 2337"/>
                <a:gd name="T34" fmla="*/ 1400 w 2416"/>
                <a:gd name="T35" fmla="*/ 1829 h 2337"/>
                <a:gd name="T36" fmla="*/ 1360 w 2416"/>
                <a:gd name="T37" fmla="*/ 1873 h 2337"/>
                <a:gd name="T38" fmla="*/ 1329 w 2416"/>
                <a:gd name="T39" fmla="*/ 1907 h 2337"/>
                <a:gd name="T40" fmla="*/ 1307 w 2416"/>
                <a:gd name="T41" fmla="*/ 1929 h 2337"/>
                <a:gd name="T42" fmla="*/ 1298 w 2416"/>
                <a:gd name="T43" fmla="*/ 1937 h 2337"/>
                <a:gd name="T44" fmla="*/ 1280 w 2416"/>
                <a:gd name="T45" fmla="*/ 1968 h 2337"/>
                <a:gd name="T46" fmla="*/ 1279 w 2416"/>
                <a:gd name="T47" fmla="*/ 2002 h 2337"/>
                <a:gd name="T48" fmla="*/ 1295 w 2416"/>
                <a:gd name="T49" fmla="*/ 2034 h 2337"/>
                <a:gd name="T50" fmla="*/ 1327 w 2416"/>
                <a:gd name="T51" fmla="*/ 2053 h 2337"/>
                <a:gd name="T52" fmla="*/ 1360 w 2416"/>
                <a:gd name="T53" fmla="*/ 2054 h 2337"/>
                <a:gd name="T54" fmla="*/ 1390 w 2416"/>
                <a:gd name="T55" fmla="*/ 2037 h 2337"/>
                <a:gd name="T56" fmla="*/ 1401 w 2416"/>
                <a:gd name="T57" fmla="*/ 2026 h 2337"/>
                <a:gd name="T58" fmla="*/ 1427 w 2416"/>
                <a:gd name="T59" fmla="*/ 2001 h 2337"/>
                <a:gd name="T60" fmla="*/ 1463 w 2416"/>
                <a:gd name="T61" fmla="*/ 1963 h 2337"/>
                <a:gd name="T62" fmla="*/ 1506 w 2416"/>
                <a:gd name="T63" fmla="*/ 1913 h 2337"/>
                <a:gd name="T64" fmla="*/ 1554 w 2416"/>
                <a:gd name="T65" fmla="*/ 1855 h 2337"/>
                <a:gd name="T66" fmla="*/ 1603 w 2416"/>
                <a:gd name="T67" fmla="*/ 1787 h 2337"/>
                <a:gd name="T68" fmla="*/ 1651 w 2416"/>
                <a:gd name="T69" fmla="*/ 1712 h 2337"/>
                <a:gd name="T70" fmla="*/ 1695 w 2416"/>
                <a:gd name="T71" fmla="*/ 1633 h 2337"/>
                <a:gd name="T72" fmla="*/ 2205 w 2416"/>
                <a:gd name="T73" fmla="*/ 1592 h 2337"/>
                <a:gd name="T74" fmla="*/ 2203 w 2416"/>
                <a:gd name="T75" fmla="*/ 1604 h 2337"/>
                <a:gd name="T76" fmla="*/ 2195 w 2416"/>
                <a:gd name="T77" fmla="*/ 1637 h 2337"/>
                <a:gd name="T78" fmla="*/ 2181 w 2416"/>
                <a:gd name="T79" fmla="*/ 1686 h 2337"/>
                <a:gd name="T80" fmla="*/ 2161 w 2416"/>
                <a:gd name="T81" fmla="*/ 1746 h 2337"/>
                <a:gd name="T82" fmla="*/ 2134 w 2416"/>
                <a:gd name="T83" fmla="*/ 1814 h 2337"/>
                <a:gd name="T84" fmla="*/ 2102 w 2416"/>
                <a:gd name="T85" fmla="*/ 1886 h 2337"/>
                <a:gd name="T86" fmla="*/ 2061 w 2416"/>
                <a:gd name="T87" fmla="*/ 1955 h 2337"/>
                <a:gd name="T88" fmla="*/ 2011 w 2416"/>
                <a:gd name="T89" fmla="*/ 2017 h 2337"/>
                <a:gd name="T90" fmla="*/ 1954 w 2416"/>
                <a:gd name="T91" fmla="*/ 2068 h 2337"/>
                <a:gd name="T92" fmla="*/ 1829 w 2416"/>
                <a:gd name="T93" fmla="*/ 2148 h 2337"/>
                <a:gd name="T94" fmla="*/ 1705 w 2416"/>
                <a:gd name="T95" fmla="*/ 2212 h 2337"/>
                <a:gd name="T96" fmla="*/ 1596 w 2416"/>
                <a:gd name="T97" fmla="*/ 2265 h 2337"/>
                <a:gd name="T98" fmla="*/ 1539 w 2416"/>
                <a:gd name="T99" fmla="*/ 2291 h 2337"/>
                <a:gd name="T100" fmla="*/ 1474 w 2416"/>
                <a:gd name="T101" fmla="*/ 2314 h 2337"/>
                <a:gd name="T102" fmla="*/ 1408 w 2416"/>
                <a:gd name="T103" fmla="*/ 2331 h 2337"/>
                <a:gd name="T104" fmla="*/ 1346 w 2416"/>
                <a:gd name="T105" fmla="*/ 2337 h 2337"/>
                <a:gd name="T106" fmla="*/ 73 w 2416"/>
                <a:gd name="T107" fmla="*/ 2335 h 2337"/>
                <a:gd name="T108" fmla="*/ 35 w 2416"/>
                <a:gd name="T109" fmla="*/ 2320 h 2337"/>
                <a:gd name="T110" fmla="*/ 9 w 2416"/>
                <a:gd name="T111" fmla="*/ 2292 h 2337"/>
                <a:gd name="T112" fmla="*/ 0 w 2416"/>
                <a:gd name="T113" fmla="*/ 2255 h 2337"/>
                <a:gd name="T114" fmla="*/ 8 w 2416"/>
                <a:gd name="T115" fmla="*/ 2211 h 2337"/>
                <a:gd name="T116" fmla="*/ 623 w 2416"/>
                <a:gd name="T117" fmla="*/ 542 h 2337"/>
                <a:gd name="T118" fmla="*/ 674 w 2416"/>
                <a:gd name="T119" fmla="*/ 458 h 2337"/>
                <a:gd name="T120" fmla="*/ 738 w 2416"/>
                <a:gd name="T121" fmla="*/ 377 h 2337"/>
                <a:gd name="T122" fmla="*/ 810 w 2416"/>
                <a:gd name="T123" fmla="*/ 306 h 2337"/>
                <a:gd name="T124" fmla="*/ 882 w 2416"/>
                <a:gd name="T125" fmla="*/ 251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16" h="2337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8" name="Freeform 26">
            <a:extLst>
              <a:ext uri="{FF2B5EF4-FFF2-40B4-BE49-F238E27FC236}">
                <a16:creationId xmlns:a16="http://schemas.microsoft.com/office/drawing/2014/main" id="{AEEF3C98-8EA2-A5FE-999F-C469E6E80D38}"/>
              </a:ext>
            </a:extLst>
          </p:cNvPr>
          <p:cNvSpPr>
            <a:spLocks noEditPoints="1"/>
          </p:cNvSpPr>
          <p:nvPr/>
        </p:nvSpPr>
        <p:spPr bwMode="auto">
          <a:xfrm>
            <a:off x="6549005" y="3730542"/>
            <a:ext cx="355600" cy="695325"/>
          </a:xfrm>
          <a:custGeom>
            <a:avLst/>
            <a:gdLst>
              <a:gd name="T0" fmla="*/ 765 w 1790"/>
              <a:gd name="T1" fmla="*/ 1570 h 3502"/>
              <a:gd name="T2" fmla="*/ 778 w 1790"/>
              <a:gd name="T3" fmla="*/ 1793 h 3502"/>
              <a:gd name="T4" fmla="*/ 871 w 1790"/>
              <a:gd name="T5" fmla="*/ 1683 h 3502"/>
              <a:gd name="T6" fmla="*/ 1004 w 1790"/>
              <a:gd name="T7" fmla="*/ 1655 h 3502"/>
              <a:gd name="T8" fmla="*/ 1083 w 1790"/>
              <a:gd name="T9" fmla="*/ 1817 h 3502"/>
              <a:gd name="T10" fmla="*/ 1132 w 1790"/>
              <a:gd name="T11" fmla="*/ 1601 h 3502"/>
              <a:gd name="T12" fmla="*/ 942 w 1790"/>
              <a:gd name="T13" fmla="*/ 1469 h 3502"/>
              <a:gd name="T14" fmla="*/ 660 w 1790"/>
              <a:gd name="T15" fmla="*/ 1357 h 3502"/>
              <a:gd name="T16" fmla="*/ 517 w 1790"/>
              <a:gd name="T17" fmla="*/ 1673 h 3502"/>
              <a:gd name="T18" fmla="*/ 667 w 1790"/>
              <a:gd name="T19" fmla="*/ 1992 h 3502"/>
              <a:gd name="T20" fmla="*/ 775 w 1790"/>
              <a:gd name="T21" fmla="*/ 1920 h 3502"/>
              <a:gd name="T22" fmla="*/ 640 w 1790"/>
              <a:gd name="T23" fmla="*/ 1673 h 3502"/>
              <a:gd name="T24" fmla="*/ 777 w 1790"/>
              <a:gd name="T25" fmla="*/ 1421 h 3502"/>
              <a:gd name="T26" fmla="*/ 1068 w 1790"/>
              <a:gd name="T27" fmla="*/ 1401 h 3502"/>
              <a:gd name="T28" fmla="*/ 1239 w 1790"/>
              <a:gd name="T29" fmla="*/ 1629 h 3502"/>
              <a:gd name="T30" fmla="*/ 1133 w 1790"/>
              <a:gd name="T31" fmla="*/ 1903 h 3502"/>
              <a:gd name="T32" fmla="*/ 1228 w 1790"/>
              <a:gd name="T33" fmla="*/ 1980 h 3502"/>
              <a:gd name="T34" fmla="*/ 1365 w 1790"/>
              <a:gd name="T35" fmla="*/ 1673 h 3502"/>
              <a:gd name="T36" fmla="*/ 1223 w 1790"/>
              <a:gd name="T37" fmla="*/ 1357 h 3502"/>
              <a:gd name="T38" fmla="*/ 942 w 1790"/>
              <a:gd name="T39" fmla="*/ 1203 h 3502"/>
              <a:gd name="T40" fmla="*/ 1276 w 1790"/>
              <a:gd name="T41" fmla="*/ 1340 h 3502"/>
              <a:gd name="T42" fmla="*/ 1414 w 1790"/>
              <a:gd name="T43" fmla="*/ 1673 h 3502"/>
              <a:gd name="T44" fmla="*/ 1279 w 1790"/>
              <a:gd name="T45" fmla="*/ 2000 h 3502"/>
              <a:gd name="T46" fmla="*/ 1090 w 1790"/>
              <a:gd name="T47" fmla="*/ 2385 h 3502"/>
              <a:gd name="T48" fmla="*/ 1166 w 1790"/>
              <a:gd name="T49" fmla="*/ 2179 h 3502"/>
              <a:gd name="T50" fmla="*/ 1288 w 1790"/>
              <a:gd name="T51" fmla="*/ 2232 h 3502"/>
              <a:gd name="T52" fmla="*/ 1346 w 1790"/>
              <a:gd name="T53" fmla="*/ 2232 h 3502"/>
              <a:gd name="T54" fmla="*/ 1468 w 1790"/>
              <a:gd name="T55" fmla="*/ 2179 h 3502"/>
              <a:gd name="T56" fmla="*/ 1543 w 1790"/>
              <a:gd name="T57" fmla="*/ 2385 h 3502"/>
              <a:gd name="T58" fmla="*/ 1637 w 1790"/>
              <a:gd name="T59" fmla="*/ 2187 h 3502"/>
              <a:gd name="T60" fmla="*/ 1768 w 1790"/>
              <a:gd name="T61" fmla="*/ 2213 h 3502"/>
              <a:gd name="T62" fmla="*/ 1789 w 1790"/>
              <a:gd name="T63" fmla="*/ 3085 h 3502"/>
              <a:gd name="T64" fmla="*/ 1779 w 1790"/>
              <a:gd name="T65" fmla="*/ 3164 h 3502"/>
              <a:gd name="T66" fmla="*/ 1707 w 1790"/>
              <a:gd name="T67" fmla="*/ 3330 h 3502"/>
              <a:gd name="T68" fmla="*/ 1511 w 1790"/>
              <a:gd name="T69" fmla="*/ 3473 h 3502"/>
              <a:gd name="T70" fmla="*/ 1163 w 1790"/>
              <a:gd name="T71" fmla="*/ 3487 h 3502"/>
              <a:gd name="T72" fmla="*/ 934 w 1790"/>
              <a:gd name="T73" fmla="*/ 3373 h 3502"/>
              <a:gd name="T74" fmla="*/ 858 w 1790"/>
              <a:gd name="T75" fmla="*/ 3263 h 3502"/>
              <a:gd name="T76" fmla="*/ 768 w 1790"/>
              <a:gd name="T77" fmla="*/ 3106 h 3502"/>
              <a:gd name="T78" fmla="*/ 630 w 1790"/>
              <a:gd name="T79" fmla="*/ 2864 h 3502"/>
              <a:gd name="T80" fmla="*/ 521 w 1790"/>
              <a:gd name="T81" fmla="*/ 2667 h 3502"/>
              <a:gd name="T82" fmla="*/ 507 w 1790"/>
              <a:gd name="T83" fmla="*/ 2517 h 3502"/>
              <a:gd name="T84" fmla="*/ 636 w 1790"/>
              <a:gd name="T85" fmla="*/ 2496 h 3502"/>
              <a:gd name="T86" fmla="*/ 816 w 1790"/>
              <a:gd name="T87" fmla="*/ 2700 h 3502"/>
              <a:gd name="T88" fmla="*/ 615 w 1790"/>
              <a:gd name="T89" fmla="*/ 2011 h 3502"/>
              <a:gd name="T90" fmla="*/ 469 w 1790"/>
              <a:gd name="T91" fmla="*/ 1673 h 3502"/>
              <a:gd name="T92" fmla="*/ 608 w 1790"/>
              <a:gd name="T93" fmla="*/ 1340 h 3502"/>
              <a:gd name="T94" fmla="*/ 942 w 1790"/>
              <a:gd name="T95" fmla="*/ 1203 h 3502"/>
              <a:gd name="T96" fmla="*/ 639 w 1790"/>
              <a:gd name="T97" fmla="*/ 188 h 3502"/>
              <a:gd name="T98" fmla="*/ 1056 w 1790"/>
              <a:gd name="T99" fmla="*/ 141 h 3502"/>
              <a:gd name="T100" fmla="*/ 1625 w 1790"/>
              <a:gd name="T101" fmla="*/ 46 h 3502"/>
              <a:gd name="T102" fmla="*/ 1558 w 1790"/>
              <a:gd name="T103" fmla="*/ 2034 h 3502"/>
              <a:gd name="T104" fmla="*/ 161 w 1790"/>
              <a:gd name="T105" fmla="*/ 2902 h 3502"/>
              <a:gd name="T106" fmla="*/ 3 w 1790"/>
              <a:gd name="T107" fmla="*/ 2744 h 3502"/>
              <a:gd name="T108" fmla="*/ 71 w 1790"/>
              <a:gd name="T109" fmla="*/ 46 h 3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790" h="3502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319D51-2100-5F84-F330-E3CD73C0A4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96A9E-6D6D-66B5-D701-731DC52F7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7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B4D7A7-AD85-AC0B-B74F-AE2AFF6C2839}"/>
              </a:ext>
            </a:extLst>
          </p:cNvPr>
          <p:cNvSpPr txBox="1"/>
          <p:nvPr/>
        </p:nvSpPr>
        <p:spPr>
          <a:xfrm>
            <a:off x="86553" y="1271235"/>
            <a:ext cx="12045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Overview:</a:t>
            </a:r>
            <a:br>
              <a:rPr lang="en-US" dirty="0"/>
            </a:br>
            <a:r>
              <a:rPr lang="en-US" dirty="0"/>
              <a:t>Collaborated with the </a:t>
            </a:r>
            <a:r>
              <a:rPr lang="en-US" i="1" dirty="0"/>
              <a:t>National Achievement Survey (NAS)</a:t>
            </a:r>
            <a:r>
              <a:rPr lang="en-US" dirty="0"/>
              <a:t> dataset obtained from the </a:t>
            </a:r>
            <a:r>
              <a:rPr lang="en-US" i="1" dirty="0"/>
              <a:t>National Data and Analytics Platform (NDAP)</a:t>
            </a:r>
            <a:r>
              <a:rPr lang="en-US" dirty="0"/>
              <a:t> under the </a:t>
            </a:r>
            <a:r>
              <a:rPr lang="en-US" i="1" dirty="0"/>
              <a:t>Ministry of Education, Government of India</a:t>
            </a:r>
            <a:r>
              <a:rPr lang="en-US" dirty="0"/>
              <a:t>. The dataset provides a comprehensive insight into district-level academic performance across India.</a:t>
            </a:r>
          </a:p>
          <a:p>
            <a:endParaRPr lang="en-US" dirty="0"/>
          </a:p>
          <a:p>
            <a:r>
              <a:rPr lang="en-US" b="1" dirty="0"/>
              <a:t>Key Details: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Source:</a:t>
            </a:r>
            <a:r>
              <a:rPr lang="en-US" dirty="0"/>
              <a:t> NDAP, Ministry of 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Coverage:</a:t>
            </a:r>
            <a:r>
              <a:rPr lang="en-US" dirty="0"/>
              <a:t> 737 districts across </a:t>
            </a:r>
            <a:r>
              <a:rPr lang="en-US" b="1" dirty="0"/>
              <a:t>36 States/UTs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Time Period:</a:t>
            </a:r>
            <a:r>
              <a:rPr lang="en-US" dirty="0"/>
              <a:t> </a:t>
            </a:r>
            <a:r>
              <a:rPr lang="en-US" b="1" dirty="0"/>
              <a:t>2017 – 2021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Dataset Size:</a:t>
            </a:r>
            <a:r>
              <a:rPr lang="en-US" dirty="0"/>
              <a:t> 1,405 records (district-year combinations)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Target Classes:</a:t>
            </a:r>
            <a:r>
              <a:rPr lang="en-US" dirty="0"/>
              <a:t> Class </a:t>
            </a:r>
            <a:r>
              <a:rPr lang="en-US" b="1" dirty="0"/>
              <a:t>3</a:t>
            </a:r>
            <a:r>
              <a:rPr lang="en-US" dirty="0"/>
              <a:t>, </a:t>
            </a:r>
            <a:r>
              <a:rPr lang="en-US" b="1" dirty="0"/>
              <a:t>5</a:t>
            </a:r>
            <a:r>
              <a:rPr lang="en-US" dirty="0"/>
              <a:t>, and </a:t>
            </a:r>
            <a:r>
              <a:rPr lang="en-US" b="1" dirty="0"/>
              <a:t>8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Subjects Covered:</a:t>
            </a:r>
            <a:r>
              <a:rPr lang="en-US" dirty="0"/>
              <a:t> Language, Mathematics, Science, and Social Science</a:t>
            </a:r>
          </a:p>
          <a:p>
            <a:endParaRPr lang="en-US" dirty="0"/>
          </a:p>
          <a:p>
            <a:r>
              <a:rPr lang="en-US" b="1" dirty="0"/>
              <a:t>Purpose of Collaboration:</a:t>
            </a:r>
            <a:br>
              <a:rPr lang="en-US" dirty="0"/>
            </a:br>
            <a:r>
              <a:rPr lang="en-US" dirty="0"/>
              <a:t>To analyze learning outcomes, identify regional performance trends, and develop data-driven insights that can guide educational policy and improvement initiatives.</a:t>
            </a:r>
          </a:p>
        </p:txBody>
      </p:sp>
    </p:spTree>
    <p:extLst>
      <p:ext uri="{BB962C8B-B14F-4D97-AF65-F5344CB8AC3E}">
        <p14:creationId xmlns:p14="http://schemas.microsoft.com/office/powerpoint/2010/main" val="487979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2DA05-4B91-27B8-4911-D168F8042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612F75BB-F845-71AA-67D7-5145DF16AB79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6FE04D9-831D-979D-CF2F-0F68AB914B75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C3D5960E-8639-0A9A-A602-C23B365DEDB6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04D0798B-511E-FBC8-4640-15FE3874A1A2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E84C1E0B-B082-72C7-B083-8C92020B967A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1370BB5F-419D-9385-9C90-003F85FCF722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1B56AE6A-55E8-924F-C6B4-55115F6A465B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60184891-F8A8-0AA9-EFCB-FD2F265DE0CE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C59D48CB-263D-100E-50C6-0519B46768F2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6C3CBECC-15FF-CEB6-5985-939EBC640C54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52E2A956-F472-C06C-00E2-328A759C8D90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8EB03B0E-C85B-A620-15D5-21953D3CEF5E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8D9027D5-D620-E26D-7F13-FE9DABFF86C5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06A1EFAF-89C0-A245-07EA-C20AD4C0F32A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75125F54-9F00-4FDE-9EB3-FE770D2E56A6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A1F41E8E-38EF-8E17-B68F-77F820149C97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A53CA220-602A-423B-F725-328C749E6BE3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32A73CC6-88B4-9F10-0CBC-9AC177713542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89671116-986C-7858-9945-D3AD3668D699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D340464F-A07D-64B1-AFDE-9F3D656732B5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87A92CE0-6F24-473A-0F50-94A1A4043F69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08E740E3-B110-BFCD-48BE-70A6EBF71C11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19699A16-5AB1-036B-B834-66281BC5E78A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88D9B076-0D0B-2C13-E1B7-6559C3D1D1F3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469CBCE8-6CF8-60C6-C229-FA9CDB93FA57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FD20BADF-BA1F-4025-22EE-0484AF9587D5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AEC527AF-AA2C-5607-7507-E07111DF5792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D3993583-6761-05B8-369A-5F0740E0CE07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59306780-17B2-7065-68DD-F3274FB4612E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9B5628E5-2AE8-693A-5325-244E224096F3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AC97D020-C0BC-9F36-4584-80E38DCB43F0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101B86C8-826B-C3BD-B167-5113F72180A5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76DF47F2-2F2C-F55C-2F61-933F4D9D5DFF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2E5040B2-D395-C9D8-A91B-3121C4FA9F13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2458A1BC-E4CE-BF8E-B020-E395A04619A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F6C5AE13-E3D6-B0E2-7071-6D6181D37BEF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37FBB4BD-87DC-87C8-05AC-92D51E1C438A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65AC9ADF-BE25-3BE5-49E1-1DA63BE27F86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F53A26A-C9C5-557B-E0C1-18C18120D0F6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0F7ECE61-2EC4-0C8F-4D63-F4BABC858584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038459F3-73B3-A7FA-127E-679E17E89FDF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39E2C570-A62E-72B7-B0F9-4E5F61444A25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8344CEFB-222C-9259-A21F-2736234870EB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9E28087F-8460-1B8E-696C-F6F49D32CDEF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92C79EDD-C3BE-4832-6F79-792CB7586D1E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3CB1D6B0-00F5-BBB8-0205-35765A00B590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C4ED3ACD-CF12-E823-8DE1-80AA082DB037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01C4A870-6DD9-FD9C-E1D9-5B9BB2E9A867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E67FCBB8-689F-DF06-32CF-B4AB40B1727B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A9C53C73-C87C-8A64-E87D-562CCD86C9E1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FDEE871F-2183-39B6-F0C2-324B2AD7F419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777B9A0E-8CD2-3B4F-C813-07F0BC9028BE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1C088F5F-31DE-9DFE-F306-E8FFC59B3E29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BA9912C7-3E8B-E2D9-BBD9-CF206AE6DE20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1F05A1DE-6118-31DF-DA94-094A1D090DE1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BF2540E2-785A-E7DE-D303-5B0D2AF46F5B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C18E178A-7949-6937-D375-67ED5E16739D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F6B3E63F-A5C5-366D-433F-28B33F2A1121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C7FB6B14-EA9A-96AF-3A8A-046CF580854F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2CFFE9FF-2509-185A-9B0C-F3F44FDA45CA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35E20DB9-D00C-212E-57ED-EBE904774288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3F22B047-08B5-E2F4-8A0F-0F61EA8FB5A9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E58C3BB2-DA3E-2F9F-7F22-C4BA2CAB0F2E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2DE7CC03-84AF-14E7-8BC6-CC22C2AC4418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56EC47E9-6928-2D07-4E62-0C7D37853DA9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40BD7B9D-D6BA-97E8-5D7F-C0613933628E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19C9256F-1A6F-347D-E949-0DA70B09DB20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A60FDCC9-0AAF-7250-6210-8D64DA00B450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FB83819C-7922-E016-26A0-E19BE88ED110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1773636A-AA04-5E82-A1B1-3233CDEBEF2D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D95FA473-5E96-F588-E797-289DDCE1E2E8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A296C77E-B778-E822-6E22-A7BE2D98D9BE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B4375BE5-CDCF-A2B6-4241-B79DF186760F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07D89E02-C1C8-1EC4-6585-8FD5AD94B3A5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C6E4D05-9CDD-4D0E-F940-BBB596D4BBC4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Collaborated Dataset Insights</a:t>
            </a: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C8D27870-D756-FD2C-38A6-90FB25F82F82}"/>
              </a:ext>
            </a:extLst>
          </p:cNvPr>
          <p:cNvSpPr txBox="1"/>
          <p:nvPr/>
        </p:nvSpPr>
        <p:spPr>
          <a:xfrm>
            <a:off x="7483294" y="2282149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71EDF5E7-5D12-B9A9-576F-F9BC9F348CEE}"/>
              </a:ext>
            </a:extLst>
          </p:cNvPr>
          <p:cNvSpPr txBox="1"/>
          <p:nvPr/>
        </p:nvSpPr>
        <p:spPr>
          <a:xfrm>
            <a:off x="6095999" y="4927086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AACB34E3-05FA-BB8D-A177-4F051304E3EC}"/>
              </a:ext>
            </a:extLst>
          </p:cNvPr>
          <p:cNvSpPr txBox="1"/>
          <p:nvPr/>
        </p:nvSpPr>
        <p:spPr>
          <a:xfrm>
            <a:off x="3436733" y="3563674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359" name="Freeform 6">
            <a:extLst>
              <a:ext uri="{FF2B5EF4-FFF2-40B4-BE49-F238E27FC236}">
                <a16:creationId xmlns:a16="http://schemas.microsoft.com/office/drawing/2014/main" id="{D04A7A17-46A5-3A26-92D8-F3D7CEBD5F91}"/>
              </a:ext>
            </a:extLst>
          </p:cNvPr>
          <p:cNvSpPr>
            <a:spLocks noEditPoints="1"/>
          </p:cNvSpPr>
          <p:nvPr/>
        </p:nvSpPr>
        <p:spPr bwMode="auto">
          <a:xfrm>
            <a:off x="5133215" y="3730542"/>
            <a:ext cx="668338" cy="687387"/>
          </a:xfrm>
          <a:custGeom>
            <a:avLst/>
            <a:gdLst>
              <a:gd name="T0" fmla="*/ 1078 w 3366"/>
              <a:gd name="T1" fmla="*/ 2244 h 3464"/>
              <a:gd name="T2" fmla="*/ 1804 w 3366"/>
              <a:gd name="T3" fmla="*/ 2131 h 3464"/>
              <a:gd name="T4" fmla="*/ 1741 w 3366"/>
              <a:gd name="T5" fmla="*/ 452 h 3464"/>
              <a:gd name="T6" fmla="*/ 1878 w 3366"/>
              <a:gd name="T7" fmla="*/ 927 h 3464"/>
              <a:gd name="T8" fmla="*/ 1741 w 3366"/>
              <a:gd name="T9" fmla="*/ 452 h 3464"/>
              <a:gd name="T10" fmla="*/ 281 w 3366"/>
              <a:gd name="T11" fmla="*/ 3183 h 3464"/>
              <a:gd name="T12" fmla="*/ 2387 w 3366"/>
              <a:gd name="T13" fmla="*/ 1716 h 3464"/>
              <a:gd name="T14" fmla="*/ 2088 w 3366"/>
              <a:gd name="T15" fmla="*/ 2021 h 3464"/>
              <a:gd name="T16" fmla="*/ 1886 w 3366"/>
              <a:gd name="T17" fmla="*/ 2215 h 3464"/>
              <a:gd name="T18" fmla="*/ 2088 w 3366"/>
              <a:gd name="T19" fmla="*/ 2463 h 3464"/>
              <a:gd name="T20" fmla="*/ 580 w 3366"/>
              <a:gd name="T21" fmla="*/ 2604 h 3464"/>
              <a:gd name="T22" fmla="*/ 870 w 3366"/>
              <a:gd name="T23" fmla="*/ 2463 h 3464"/>
              <a:gd name="T24" fmla="*/ 580 w 3366"/>
              <a:gd name="T25" fmla="*/ 2021 h 3464"/>
              <a:gd name="T26" fmla="*/ 1110 w 3366"/>
              <a:gd name="T27" fmla="*/ 1880 h 3464"/>
              <a:gd name="T28" fmla="*/ 1366 w 3366"/>
              <a:gd name="T29" fmla="*/ 1438 h 3464"/>
              <a:gd name="T30" fmla="*/ 580 w 3366"/>
              <a:gd name="T31" fmla="*/ 1296 h 3464"/>
              <a:gd name="T32" fmla="*/ 1666 w 3366"/>
              <a:gd name="T33" fmla="*/ 1138 h 3464"/>
              <a:gd name="T34" fmla="*/ 1532 w 3366"/>
              <a:gd name="T35" fmla="*/ 281 h 3464"/>
              <a:gd name="T36" fmla="*/ 0 w 3366"/>
              <a:gd name="T37" fmla="*/ 0 h 3464"/>
              <a:gd name="T38" fmla="*/ 2241 w 3366"/>
              <a:gd name="T39" fmla="*/ 565 h 3464"/>
              <a:gd name="T40" fmla="*/ 2661 w 3366"/>
              <a:gd name="T41" fmla="*/ 150 h 3464"/>
              <a:gd name="T42" fmla="*/ 2712 w 3366"/>
              <a:gd name="T43" fmla="*/ 117 h 3464"/>
              <a:gd name="T44" fmla="*/ 2765 w 3366"/>
              <a:gd name="T45" fmla="*/ 97 h 3464"/>
              <a:gd name="T46" fmla="*/ 2816 w 3366"/>
              <a:gd name="T47" fmla="*/ 90 h 3464"/>
              <a:gd name="T48" fmla="*/ 2863 w 3366"/>
              <a:gd name="T49" fmla="*/ 100 h 3464"/>
              <a:gd name="T50" fmla="*/ 2900 w 3366"/>
              <a:gd name="T51" fmla="*/ 125 h 3464"/>
              <a:gd name="T52" fmla="*/ 3347 w 3366"/>
              <a:gd name="T53" fmla="*/ 578 h 3464"/>
              <a:gd name="T54" fmla="*/ 3364 w 3366"/>
              <a:gd name="T55" fmla="*/ 626 h 3464"/>
              <a:gd name="T56" fmla="*/ 3363 w 3366"/>
              <a:gd name="T57" fmla="*/ 680 h 3464"/>
              <a:gd name="T58" fmla="*/ 3344 w 3366"/>
              <a:gd name="T59" fmla="*/ 739 h 3464"/>
              <a:gd name="T60" fmla="*/ 3310 w 3366"/>
              <a:gd name="T61" fmla="*/ 796 h 3464"/>
              <a:gd name="T62" fmla="*/ 2668 w 3366"/>
              <a:gd name="T63" fmla="*/ 1437 h 3464"/>
              <a:gd name="T64" fmla="*/ 0 w 3366"/>
              <a:gd name="T65" fmla="*/ 3464 h 3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366" h="3464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" name="Freeform 11">
            <a:extLst>
              <a:ext uri="{FF2B5EF4-FFF2-40B4-BE49-F238E27FC236}">
                <a16:creationId xmlns:a16="http://schemas.microsoft.com/office/drawing/2014/main" id="{CE1E7161-C46A-271E-F2BC-B94BF94E4438}"/>
              </a:ext>
            </a:extLst>
          </p:cNvPr>
          <p:cNvSpPr>
            <a:spLocks noEditPoints="1"/>
          </p:cNvSpPr>
          <p:nvPr/>
        </p:nvSpPr>
        <p:spPr bwMode="auto">
          <a:xfrm>
            <a:off x="5130834" y="2538361"/>
            <a:ext cx="673100" cy="503238"/>
          </a:xfrm>
          <a:custGeom>
            <a:avLst/>
            <a:gdLst>
              <a:gd name="T0" fmla="*/ 2212 w 3390"/>
              <a:gd name="T1" fmla="*/ 1401 h 2540"/>
              <a:gd name="T2" fmla="*/ 2082 w 3390"/>
              <a:gd name="T3" fmla="*/ 1890 h 2540"/>
              <a:gd name="T4" fmla="*/ 2394 w 3390"/>
              <a:gd name="T5" fmla="*/ 2275 h 2540"/>
              <a:gd name="T6" fmla="*/ 2900 w 3390"/>
              <a:gd name="T7" fmla="*/ 2249 h 2540"/>
              <a:gd name="T8" fmla="*/ 3170 w 3390"/>
              <a:gd name="T9" fmla="*/ 1832 h 2540"/>
              <a:gd name="T10" fmla="*/ 2991 w 3390"/>
              <a:gd name="T11" fmla="*/ 1361 h 2540"/>
              <a:gd name="T12" fmla="*/ 707 w 3390"/>
              <a:gd name="T13" fmla="*/ 1223 h 2540"/>
              <a:gd name="T14" fmla="*/ 290 w 3390"/>
              <a:gd name="T15" fmla="*/ 1493 h 2540"/>
              <a:gd name="T16" fmla="*/ 264 w 3390"/>
              <a:gd name="T17" fmla="*/ 1999 h 2540"/>
              <a:gd name="T18" fmla="*/ 649 w 3390"/>
              <a:gd name="T19" fmla="*/ 2312 h 2540"/>
              <a:gd name="T20" fmla="*/ 1137 w 3390"/>
              <a:gd name="T21" fmla="*/ 2182 h 2540"/>
              <a:gd name="T22" fmla="*/ 1316 w 3390"/>
              <a:gd name="T23" fmla="*/ 1712 h 2540"/>
              <a:gd name="T24" fmla="*/ 1046 w 3390"/>
              <a:gd name="T25" fmla="*/ 1295 h 2540"/>
              <a:gd name="T26" fmla="*/ 1556 w 3390"/>
              <a:gd name="T27" fmla="*/ 896 h 2540"/>
              <a:gd name="T28" fmla="*/ 1337 w 3390"/>
              <a:gd name="T29" fmla="*/ 1029 h 2540"/>
              <a:gd name="T30" fmla="*/ 1556 w 3390"/>
              <a:gd name="T31" fmla="*/ 1160 h 2540"/>
              <a:gd name="T32" fmla="*/ 1947 w 3390"/>
              <a:gd name="T33" fmla="*/ 1130 h 2540"/>
              <a:gd name="T34" fmla="*/ 2024 w 3390"/>
              <a:gd name="T35" fmla="*/ 973 h 2540"/>
              <a:gd name="T36" fmla="*/ 1695 w 3390"/>
              <a:gd name="T37" fmla="*/ 886 h 2540"/>
              <a:gd name="T38" fmla="*/ 1950 w 3390"/>
              <a:gd name="T39" fmla="*/ 406 h 2540"/>
              <a:gd name="T40" fmla="*/ 2007 w 3390"/>
              <a:gd name="T41" fmla="*/ 460 h 2540"/>
              <a:gd name="T42" fmla="*/ 2283 w 3390"/>
              <a:gd name="T43" fmla="*/ 342 h 2540"/>
              <a:gd name="T44" fmla="*/ 2422 w 3390"/>
              <a:gd name="T45" fmla="*/ 372 h 2540"/>
              <a:gd name="T46" fmla="*/ 2439 w 3390"/>
              <a:gd name="T47" fmla="*/ 294 h 2540"/>
              <a:gd name="T48" fmla="*/ 2260 w 3390"/>
              <a:gd name="T49" fmla="*/ 260 h 2540"/>
              <a:gd name="T50" fmla="*/ 954 w 3390"/>
              <a:gd name="T51" fmla="*/ 292 h 2540"/>
              <a:gd name="T52" fmla="*/ 955 w 3390"/>
              <a:gd name="T53" fmla="*/ 371 h 2540"/>
              <a:gd name="T54" fmla="*/ 1078 w 3390"/>
              <a:gd name="T55" fmla="*/ 346 h 2540"/>
              <a:gd name="T56" fmla="*/ 1326 w 3390"/>
              <a:gd name="T57" fmla="*/ 400 h 2540"/>
              <a:gd name="T58" fmla="*/ 1445 w 3390"/>
              <a:gd name="T59" fmla="*/ 441 h 2540"/>
              <a:gd name="T60" fmla="*/ 1225 w 3390"/>
              <a:gd name="T61" fmla="*/ 268 h 2540"/>
              <a:gd name="T62" fmla="*/ 1449 w 3390"/>
              <a:gd name="T63" fmla="*/ 92 h 2540"/>
              <a:gd name="T64" fmla="*/ 1505 w 3390"/>
              <a:gd name="T65" fmla="*/ 324 h 2540"/>
              <a:gd name="T66" fmla="*/ 1529 w 3390"/>
              <a:gd name="T67" fmla="*/ 705 h 2540"/>
              <a:gd name="T68" fmla="*/ 1626 w 3390"/>
              <a:gd name="T69" fmla="*/ 626 h 2540"/>
              <a:gd name="T70" fmla="*/ 1745 w 3390"/>
              <a:gd name="T71" fmla="*/ 610 h 2540"/>
              <a:gd name="T72" fmla="*/ 1828 w 3390"/>
              <a:gd name="T73" fmla="*/ 699 h 2540"/>
              <a:gd name="T74" fmla="*/ 1879 w 3390"/>
              <a:gd name="T75" fmla="*/ 406 h 2540"/>
              <a:gd name="T76" fmla="*/ 1904 w 3390"/>
              <a:gd name="T77" fmla="*/ 153 h 2540"/>
              <a:gd name="T78" fmla="*/ 2166 w 3390"/>
              <a:gd name="T79" fmla="*/ 1 h 2540"/>
              <a:gd name="T80" fmla="*/ 2396 w 3390"/>
              <a:gd name="T81" fmla="*/ 155 h 2540"/>
              <a:gd name="T82" fmla="*/ 2582 w 3390"/>
              <a:gd name="T83" fmla="*/ 410 h 2540"/>
              <a:gd name="T84" fmla="*/ 2844 w 3390"/>
              <a:gd name="T85" fmla="*/ 783 h 2540"/>
              <a:gd name="T86" fmla="*/ 3126 w 3390"/>
              <a:gd name="T87" fmla="*/ 1187 h 2540"/>
              <a:gd name="T88" fmla="*/ 3292 w 3390"/>
              <a:gd name="T89" fmla="*/ 1426 h 2540"/>
              <a:gd name="T90" fmla="*/ 3390 w 3390"/>
              <a:gd name="T91" fmla="*/ 1772 h 2540"/>
              <a:gd name="T92" fmla="*/ 3166 w 3390"/>
              <a:gd name="T93" fmla="*/ 2314 h 2540"/>
              <a:gd name="T94" fmla="*/ 2624 w 3390"/>
              <a:gd name="T95" fmla="*/ 2540 h 2540"/>
              <a:gd name="T96" fmla="*/ 2082 w 3390"/>
              <a:gd name="T97" fmla="*/ 2314 h 2540"/>
              <a:gd name="T98" fmla="*/ 1859 w 3390"/>
              <a:gd name="T99" fmla="*/ 1772 h 2540"/>
              <a:gd name="T100" fmla="*/ 1805 w 3390"/>
              <a:gd name="T101" fmla="*/ 1469 h 2540"/>
              <a:gd name="T102" fmla="*/ 1547 w 3390"/>
              <a:gd name="T103" fmla="*/ 1507 h 2540"/>
              <a:gd name="T104" fmla="*/ 1468 w 3390"/>
              <a:gd name="T105" fmla="*/ 2101 h 2540"/>
              <a:gd name="T106" fmla="*/ 1039 w 3390"/>
              <a:gd name="T107" fmla="*/ 2491 h 2540"/>
              <a:gd name="T108" fmla="*/ 442 w 3390"/>
              <a:gd name="T109" fmla="*/ 2466 h 2540"/>
              <a:gd name="T110" fmla="*/ 48 w 3390"/>
              <a:gd name="T111" fmla="*/ 2039 h 2540"/>
              <a:gd name="T112" fmla="*/ 34 w 3390"/>
              <a:gd name="T113" fmla="*/ 1579 h 2540"/>
              <a:gd name="T114" fmla="*/ 170 w 3390"/>
              <a:gd name="T115" fmla="*/ 1318 h 2540"/>
              <a:gd name="T116" fmla="*/ 413 w 3390"/>
              <a:gd name="T117" fmla="*/ 972 h 2540"/>
              <a:gd name="T118" fmla="*/ 703 w 3390"/>
              <a:gd name="T119" fmla="*/ 558 h 2540"/>
              <a:gd name="T120" fmla="*/ 888 w 3390"/>
              <a:gd name="T121" fmla="*/ 294 h 2540"/>
              <a:gd name="T122" fmla="*/ 1124 w 3390"/>
              <a:gd name="T123" fmla="*/ 34 h 2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0" h="254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61" name="Group 14">
            <a:extLst>
              <a:ext uri="{FF2B5EF4-FFF2-40B4-BE49-F238E27FC236}">
                <a16:creationId xmlns:a16="http://schemas.microsoft.com/office/drawing/2014/main" id="{AFDE6BD0-83CD-44E1-4F88-5BF65E388EF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45373" y="2438267"/>
            <a:ext cx="713404" cy="692800"/>
            <a:chOff x="638" y="291"/>
            <a:chExt cx="554" cy="538"/>
          </a:xfrm>
          <a:solidFill>
            <a:schemeClr val="bg1"/>
          </a:solidFill>
        </p:grpSpPr>
        <p:sp>
          <p:nvSpPr>
            <p:cNvPr id="362" name="Freeform 16">
              <a:extLst>
                <a:ext uri="{FF2B5EF4-FFF2-40B4-BE49-F238E27FC236}">
                  <a16:creationId xmlns:a16="http://schemas.microsoft.com/office/drawing/2014/main" id="{7585BB95-5895-4B95-CFF9-E2A7124DD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444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1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6 h 371"/>
                <a:gd name="T16" fmla="*/ 330 w 341"/>
                <a:gd name="T17" fmla="*/ 111 h 371"/>
                <a:gd name="T18" fmla="*/ 338 w 341"/>
                <a:gd name="T19" fmla="*/ 141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1 h 371"/>
                <a:gd name="T32" fmla="*/ 280 w 341"/>
                <a:gd name="T33" fmla="*/ 331 h 371"/>
                <a:gd name="T34" fmla="*/ 257 w 341"/>
                <a:gd name="T35" fmla="*/ 349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Freeform 17">
              <a:extLst>
                <a:ext uri="{FF2B5EF4-FFF2-40B4-BE49-F238E27FC236}">
                  <a16:creationId xmlns:a16="http://schemas.microsoft.com/office/drawing/2014/main" id="{BC01B48A-AA77-4B11-05BE-9DDAAE2289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17"/>
              <a:ext cx="57" cy="62"/>
            </a:xfrm>
            <a:custGeom>
              <a:avLst/>
              <a:gdLst>
                <a:gd name="T0" fmla="*/ 0 w 341"/>
                <a:gd name="T1" fmla="*/ 0 h 372"/>
                <a:gd name="T2" fmla="*/ 171 w 341"/>
                <a:gd name="T3" fmla="*/ 0 h 372"/>
                <a:gd name="T4" fmla="*/ 201 w 341"/>
                <a:gd name="T5" fmla="*/ 4 h 372"/>
                <a:gd name="T6" fmla="*/ 230 w 341"/>
                <a:gd name="T7" fmla="*/ 11 h 372"/>
                <a:gd name="T8" fmla="*/ 257 w 341"/>
                <a:gd name="T9" fmla="*/ 24 h 372"/>
                <a:gd name="T10" fmla="*/ 280 w 341"/>
                <a:gd name="T11" fmla="*/ 41 h 372"/>
                <a:gd name="T12" fmla="*/ 301 w 341"/>
                <a:gd name="T13" fmla="*/ 61 h 372"/>
                <a:gd name="T14" fmla="*/ 317 w 341"/>
                <a:gd name="T15" fmla="*/ 85 h 372"/>
                <a:gd name="T16" fmla="*/ 330 w 341"/>
                <a:gd name="T17" fmla="*/ 112 h 372"/>
                <a:gd name="T18" fmla="*/ 338 w 341"/>
                <a:gd name="T19" fmla="*/ 141 h 372"/>
                <a:gd name="T20" fmla="*/ 341 w 341"/>
                <a:gd name="T21" fmla="*/ 172 h 372"/>
                <a:gd name="T22" fmla="*/ 341 w 341"/>
                <a:gd name="T23" fmla="*/ 201 h 372"/>
                <a:gd name="T24" fmla="*/ 338 w 341"/>
                <a:gd name="T25" fmla="*/ 231 h 372"/>
                <a:gd name="T26" fmla="*/ 330 w 341"/>
                <a:gd name="T27" fmla="*/ 260 h 372"/>
                <a:gd name="T28" fmla="*/ 317 w 341"/>
                <a:gd name="T29" fmla="*/ 287 h 372"/>
                <a:gd name="T30" fmla="*/ 301 w 341"/>
                <a:gd name="T31" fmla="*/ 311 h 372"/>
                <a:gd name="T32" fmla="*/ 280 w 341"/>
                <a:gd name="T33" fmla="*/ 332 h 372"/>
                <a:gd name="T34" fmla="*/ 257 w 341"/>
                <a:gd name="T35" fmla="*/ 349 h 372"/>
                <a:gd name="T36" fmla="*/ 230 w 341"/>
                <a:gd name="T37" fmla="*/ 361 h 372"/>
                <a:gd name="T38" fmla="*/ 201 w 341"/>
                <a:gd name="T39" fmla="*/ 370 h 372"/>
                <a:gd name="T40" fmla="*/ 171 w 341"/>
                <a:gd name="T41" fmla="*/ 372 h 372"/>
                <a:gd name="T42" fmla="*/ 0 w 341"/>
                <a:gd name="T43" fmla="*/ 372 h 372"/>
                <a:gd name="T44" fmla="*/ 0 w 341"/>
                <a:gd name="T45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2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Freeform 18">
              <a:extLst>
                <a:ext uri="{FF2B5EF4-FFF2-40B4-BE49-F238E27FC236}">
                  <a16:creationId xmlns:a16="http://schemas.microsoft.com/office/drawing/2014/main" id="{159F5C0D-08EA-E975-786B-31C93DEA4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90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0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4 h 371"/>
                <a:gd name="T16" fmla="*/ 330 w 341"/>
                <a:gd name="T17" fmla="*/ 111 h 371"/>
                <a:gd name="T18" fmla="*/ 338 w 341"/>
                <a:gd name="T19" fmla="*/ 140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0 h 371"/>
                <a:gd name="T32" fmla="*/ 280 w 341"/>
                <a:gd name="T33" fmla="*/ 331 h 371"/>
                <a:gd name="T34" fmla="*/ 257 w 341"/>
                <a:gd name="T35" fmla="*/ 348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Freeform 19">
              <a:extLst>
                <a:ext uri="{FF2B5EF4-FFF2-40B4-BE49-F238E27FC236}">
                  <a16:creationId xmlns:a16="http://schemas.microsoft.com/office/drawing/2014/main" id="{6C169EDA-C187-D9FA-0069-98EAB4C2F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339"/>
              <a:ext cx="72" cy="72"/>
            </a:xfrm>
            <a:custGeom>
              <a:avLst/>
              <a:gdLst>
                <a:gd name="T0" fmla="*/ 317 w 430"/>
                <a:gd name="T1" fmla="*/ 0 h 433"/>
                <a:gd name="T2" fmla="*/ 341 w 430"/>
                <a:gd name="T3" fmla="*/ 3 h 433"/>
                <a:gd name="T4" fmla="*/ 362 w 430"/>
                <a:gd name="T5" fmla="*/ 10 h 433"/>
                <a:gd name="T6" fmla="*/ 382 w 430"/>
                <a:gd name="T7" fmla="*/ 22 h 433"/>
                <a:gd name="T8" fmla="*/ 398 w 430"/>
                <a:gd name="T9" fmla="*/ 37 h 433"/>
                <a:gd name="T10" fmla="*/ 411 w 430"/>
                <a:gd name="T11" fmla="*/ 56 h 433"/>
                <a:gd name="T12" fmla="*/ 421 w 430"/>
                <a:gd name="T13" fmla="*/ 77 h 433"/>
                <a:gd name="T14" fmla="*/ 427 w 430"/>
                <a:gd name="T15" fmla="*/ 102 h 433"/>
                <a:gd name="T16" fmla="*/ 430 w 430"/>
                <a:gd name="T17" fmla="*/ 129 h 433"/>
                <a:gd name="T18" fmla="*/ 430 w 430"/>
                <a:gd name="T19" fmla="*/ 153 h 433"/>
                <a:gd name="T20" fmla="*/ 426 w 430"/>
                <a:gd name="T21" fmla="*/ 189 h 433"/>
                <a:gd name="T22" fmla="*/ 416 w 430"/>
                <a:gd name="T23" fmla="*/ 225 h 433"/>
                <a:gd name="T24" fmla="*/ 402 w 430"/>
                <a:gd name="T25" fmla="*/ 259 h 433"/>
                <a:gd name="T26" fmla="*/ 383 w 430"/>
                <a:gd name="T27" fmla="*/ 291 h 433"/>
                <a:gd name="T28" fmla="*/ 358 w 430"/>
                <a:gd name="T29" fmla="*/ 321 h 433"/>
                <a:gd name="T30" fmla="*/ 331 w 430"/>
                <a:gd name="T31" fmla="*/ 345 h 433"/>
                <a:gd name="T32" fmla="*/ 301 w 430"/>
                <a:gd name="T33" fmla="*/ 366 h 433"/>
                <a:gd name="T34" fmla="*/ 269 w 430"/>
                <a:gd name="T35" fmla="*/ 382 h 433"/>
                <a:gd name="T36" fmla="*/ 0 w 430"/>
                <a:gd name="T37" fmla="*/ 433 h 433"/>
                <a:gd name="T38" fmla="*/ 0 w 430"/>
                <a:gd name="T39" fmla="*/ 37 h 433"/>
                <a:gd name="T40" fmla="*/ 266 w 430"/>
                <a:gd name="T41" fmla="*/ 6 h 433"/>
                <a:gd name="T42" fmla="*/ 293 w 430"/>
                <a:gd name="T43" fmla="*/ 1 h 433"/>
                <a:gd name="T44" fmla="*/ 317 w 430"/>
                <a:gd name="T45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0" h="433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Freeform 20">
              <a:extLst>
                <a:ext uri="{FF2B5EF4-FFF2-40B4-BE49-F238E27FC236}">
                  <a16:creationId xmlns:a16="http://schemas.microsoft.com/office/drawing/2014/main" id="{47A26E6F-0952-6D98-6852-645E23A4F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" y="291"/>
              <a:ext cx="245" cy="420"/>
            </a:xfrm>
            <a:custGeom>
              <a:avLst/>
              <a:gdLst>
                <a:gd name="T0" fmla="*/ 1304 w 1472"/>
                <a:gd name="T1" fmla="*/ 0 h 2521"/>
                <a:gd name="T2" fmla="*/ 1363 w 1472"/>
                <a:gd name="T3" fmla="*/ 12 h 2521"/>
                <a:gd name="T4" fmla="*/ 1412 w 1472"/>
                <a:gd name="T5" fmla="*/ 40 h 2521"/>
                <a:gd name="T6" fmla="*/ 1449 w 1472"/>
                <a:gd name="T7" fmla="*/ 85 h 2521"/>
                <a:gd name="T8" fmla="*/ 1469 w 1472"/>
                <a:gd name="T9" fmla="*/ 140 h 2521"/>
                <a:gd name="T10" fmla="*/ 1472 w 1472"/>
                <a:gd name="T11" fmla="*/ 2351 h 2521"/>
                <a:gd name="T12" fmla="*/ 1461 w 1472"/>
                <a:gd name="T13" fmla="*/ 2411 h 2521"/>
                <a:gd name="T14" fmla="*/ 1432 w 1472"/>
                <a:gd name="T15" fmla="*/ 2461 h 2521"/>
                <a:gd name="T16" fmla="*/ 1388 w 1472"/>
                <a:gd name="T17" fmla="*/ 2498 h 2521"/>
                <a:gd name="T18" fmla="*/ 1334 w 1472"/>
                <a:gd name="T19" fmla="*/ 2519 h 2521"/>
                <a:gd name="T20" fmla="*/ 947 w 1472"/>
                <a:gd name="T21" fmla="*/ 2521 h 2521"/>
                <a:gd name="T22" fmla="*/ 955 w 1472"/>
                <a:gd name="T23" fmla="*/ 2488 h 2521"/>
                <a:gd name="T24" fmla="*/ 961 w 1472"/>
                <a:gd name="T25" fmla="*/ 2467 h 2521"/>
                <a:gd name="T26" fmla="*/ 977 w 1472"/>
                <a:gd name="T27" fmla="*/ 2383 h 2521"/>
                <a:gd name="T28" fmla="*/ 823 w 1472"/>
                <a:gd name="T29" fmla="*/ 2367 h 2521"/>
                <a:gd name="T30" fmla="*/ 838 w 1472"/>
                <a:gd name="T31" fmla="*/ 2330 h 2521"/>
                <a:gd name="T32" fmla="*/ 837 w 1472"/>
                <a:gd name="T33" fmla="*/ 2286 h 2521"/>
                <a:gd name="T34" fmla="*/ 816 w 1472"/>
                <a:gd name="T35" fmla="*/ 2244 h 2521"/>
                <a:gd name="T36" fmla="*/ 780 w 1472"/>
                <a:gd name="T37" fmla="*/ 2215 h 2521"/>
                <a:gd name="T38" fmla="*/ 733 w 1472"/>
                <a:gd name="T39" fmla="*/ 2203 h 2521"/>
                <a:gd name="T40" fmla="*/ 686 w 1472"/>
                <a:gd name="T41" fmla="*/ 2215 h 2521"/>
                <a:gd name="T42" fmla="*/ 650 w 1472"/>
                <a:gd name="T43" fmla="*/ 2244 h 2521"/>
                <a:gd name="T44" fmla="*/ 630 w 1472"/>
                <a:gd name="T45" fmla="*/ 2286 h 2521"/>
                <a:gd name="T46" fmla="*/ 629 w 1472"/>
                <a:gd name="T47" fmla="*/ 2330 h 2521"/>
                <a:gd name="T48" fmla="*/ 643 w 1472"/>
                <a:gd name="T49" fmla="*/ 2367 h 2521"/>
                <a:gd name="T50" fmla="*/ 360 w 1472"/>
                <a:gd name="T51" fmla="*/ 2383 h 2521"/>
                <a:gd name="T52" fmla="*/ 363 w 1472"/>
                <a:gd name="T53" fmla="*/ 2374 h 2521"/>
                <a:gd name="T54" fmla="*/ 369 w 1472"/>
                <a:gd name="T55" fmla="*/ 2356 h 2521"/>
                <a:gd name="T56" fmla="*/ 372 w 1472"/>
                <a:gd name="T57" fmla="*/ 2054 h 2521"/>
                <a:gd name="T58" fmla="*/ 1212 w 1472"/>
                <a:gd name="T59" fmla="*/ 2051 h 2521"/>
                <a:gd name="T60" fmla="*/ 1236 w 1472"/>
                <a:gd name="T61" fmla="*/ 2034 h 2521"/>
                <a:gd name="T62" fmla="*/ 1244 w 1472"/>
                <a:gd name="T63" fmla="*/ 2006 h 2521"/>
                <a:gd name="T64" fmla="*/ 1242 w 1472"/>
                <a:gd name="T65" fmla="*/ 313 h 2521"/>
                <a:gd name="T66" fmla="*/ 1226 w 1472"/>
                <a:gd name="T67" fmla="*/ 290 h 2521"/>
                <a:gd name="T68" fmla="*/ 1198 w 1472"/>
                <a:gd name="T69" fmla="*/ 281 h 2521"/>
                <a:gd name="T70" fmla="*/ 259 w 1472"/>
                <a:gd name="T71" fmla="*/ 284 h 2521"/>
                <a:gd name="T72" fmla="*/ 237 w 1472"/>
                <a:gd name="T73" fmla="*/ 300 h 2521"/>
                <a:gd name="T74" fmla="*/ 228 w 1472"/>
                <a:gd name="T75" fmla="*/ 328 h 2521"/>
                <a:gd name="T76" fmla="*/ 0 w 1472"/>
                <a:gd name="T77" fmla="*/ 1459 h 2521"/>
                <a:gd name="T78" fmla="*/ 3 w 1472"/>
                <a:gd name="T79" fmla="*/ 140 h 2521"/>
                <a:gd name="T80" fmla="*/ 23 w 1472"/>
                <a:gd name="T81" fmla="*/ 85 h 2521"/>
                <a:gd name="T82" fmla="*/ 60 w 1472"/>
                <a:gd name="T83" fmla="*/ 40 h 2521"/>
                <a:gd name="T84" fmla="*/ 110 w 1472"/>
                <a:gd name="T85" fmla="*/ 12 h 2521"/>
                <a:gd name="T86" fmla="*/ 169 w 1472"/>
                <a:gd name="T87" fmla="*/ 0 h 2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72" h="2521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Freeform 21">
              <a:extLst>
                <a:ext uri="{FF2B5EF4-FFF2-40B4-BE49-F238E27FC236}">
                  <a16:creationId xmlns:a16="http://schemas.microsoft.com/office/drawing/2014/main" id="{92E87D58-531E-5BD2-CD84-B38BA2266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" y="439"/>
              <a:ext cx="403" cy="390"/>
            </a:xfrm>
            <a:custGeom>
              <a:avLst/>
              <a:gdLst>
                <a:gd name="T0" fmla="*/ 1252 w 2416"/>
                <a:gd name="T1" fmla="*/ 666 h 2337"/>
                <a:gd name="T2" fmla="*/ 2225 w 2416"/>
                <a:gd name="T3" fmla="*/ 669 h 2337"/>
                <a:gd name="T4" fmla="*/ 2293 w 2416"/>
                <a:gd name="T5" fmla="*/ 689 h 2337"/>
                <a:gd name="T6" fmla="*/ 2349 w 2416"/>
                <a:gd name="T7" fmla="*/ 727 h 2337"/>
                <a:gd name="T8" fmla="*/ 2390 w 2416"/>
                <a:gd name="T9" fmla="*/ 780 h 2337"/>
                <a:gd name="T10" fmla="*/ 2413 w 2416"/>
                <a:gd name="T11" fmla="*/ 843 h 2337"/>
                <a:gd name="T12" fmla="*/ 2413 w 2416"/>
                <a:gd name="T13" fmla="*/ 912 h 2337"/>
                <a:gd name="T14" fmla="*/ 2390 w 2416"/>
                <a:gd name="T15" fmla="*/ 976 h 2337"/>
                <a:gd name="T16" fmla="*/ 2349 w 2416"/>
                <a:gd name="T17" fmla="*/ 1029 h 2337"/>
                <a:gd name="T18" fmla="*/ 2293 w 2416"/>
                <a:gd name="T19" fmla="*/ 1067 h 2337"/>
                <a:gd name="T20" fmla="*/ 2225 w 2416"/>
                <a:gd name="T21" fmla="*/ 1087 h 2337"/>
                <a:gd name="T22" fmla="*/ 1616 w 2416"/>
                <a:gd name="T23" fmla="*/ 1090 h 2337"/>
                <a:gd name="T24" fmla="*/ 1604 w 2416"/>
                <a:gd name="T25" fmla="*/ 1504 h 2337"/>
                <a:gd name="T26" fmla="*/ 1572 w 2416"/>
                <a:gd name="T27" fmla="*/ 1577 h 2337"/>
                <a:gd name="T28" fmla="*/ 1532 w 2416"/>
                <a:gd name="T29" fmla="*/ 1647 h 2337"/>
                <a:gd name="T30" fmla="*/ 1489 w 2416"/>
                <a:gd name="T31" fmla="*/ 1714 h 2337"/>
                <a:gd name="T32" fmla="*/ 1443 w 2416"/>
                <a:gd name="T33" fmla="*/ 1775 h 2337"/>
                <a:gd name="T34" fmla="*/ 1400 w 2416"/>
                <a:gd name="T35" fmla="*/ 1829 h 2337"/>
                <a:gd name="T36" fmla="*/ 1360 w 2416"/>
                <a:gd name="T37" fmla="*/ 1873 h 2337"/>
                <a:gd name="T38" fmla="*/ 1329 w 2416"/>
                <a:gd name="T39" fmla="*/ 1907 h 2337"/>
                <a:gd name="T40" fmla="*/ 1307 w 2416"/>
                <a:gd name="T41" fmla="*/ 1929 h 2337"/>
                <a:gd name="T42" fmla="*/ 1298 w 2416"/>
                <a:gd name="T43" fmla="*/ 1937 h 2337"/>
                <a:gd name="T44" fmla="*/ 1280 w 2416"/>
                <a:gd name="T45" fmla="*/ 1968 h 2337"/>
                <a:gd name="T46" fmla="*/ 1279 w 2416"/>
                <a:gd name="T47" fmla="*/ 2002 h 2337"/>
                <a:gd name="T48" fmla="*/ 1295 w 2416"/>
                <a:gd name="T49" fmla="*/ 2034 h 2337"/>
                <a:gd name="T50" fmla="*/ 1327 w 2416"/>
                <a:gd name="T51" fmla="*/ 2053 h 2337"/>
                <a:gd name="T52" fmla="*/ 1360 w 2416"/>
                <a:gd name="T53" fmla="*/ 2054 h 2337"/>
                <a:gd name="T54" fmla="*/ 1390 w 2416"/>
                <a:gd name="T55" fmla="*/ 2037 h 2337"/>
                <a:gd name="T56" fmla="*/ 1401 w 2416"/>
                <a:gd name="T57" fmla="*/ 2026 h 2337"/>
                <a:gd name="T58" fmla="*/ 1427 w 2416"/>
                <a:gd name="T59" fmla="*/ 2001 h 2337"/>
                <a:gd name="T60" fmla="*/ 1463 w 2416"/>
                <a:gd name="T61" fmla="*/ 1963 h 2337"/>
                <a:gd name="T62" fmla="*/ 1506 w 2416"/>
                <a:gd name="T63" fmla="*/ 1913 h 2337"/>
                <a:gd name="T64" fmla="*/ 1554 w 2416"/>
                <a:gd name="T65" fmla="*/ 1855 h 2337"/>
                <a:gd name="T66" fmla="*/ 1603 w 2416"/>
                <a:gd name="T67" fmla="*/ 1787 h 2337"/>
                <a:gd name="T68" fmla="*/ 1651 w 2416"/>
                <a:gd name="T69" fmla="*/ 1712 h 2337"/>
                <a:gd name="T70" fmla="*/ 1695 w 2416"/>
                <a:gd name="T71" fmla="*/ 1633 h 2337"/>
                <a:gd name="T72" fmla="*/ 2205 w 2416"/>
                <a:gd name="T73" fmla="*/ 1592 h 2337"/>
                <a:gd name="T74" fmla="*/ 2203 w 2416"/>
                <a:gd name="T75" fmla="*/ 1604 h 2337"/>
                <a:gd name="T76" fmla="*/ 2195 w 2416"/>
                <a:gd name="T77" fmla="*/ 1637 h 2337"/>
                <a:gd name="T78" fmla="*/ 2181 w 2416"/>
                <a:gd name="T79" fmla="*/ 1686 h 2337"/>
                <a:gd name="T80" fmla="*/ 2161 w 2416"/>
                <a:gd name="T81" fmla="*/ 1746 h 2337"/>
                <a:gd name="T82" fmla="*/ 2134 w 2416"/>
                <a:gd name="T83" fmla="*/ 1814 h 2337"/>
                <a:gd name="T84" fmla="*/ 2102 w 2416"/>
                <a:gd name="T85" fmla="*/ 1886 h 2337"/>
                <a:gd name="T86" fmla="*/ 2061 w 2416"/>
                <a:gd name="T87" fmla="*/ 1955 h 2337"/>
                <a:gd name="T88" fmla="*/ 2011 w 2416"/>
                <a:gd name="T89" fmla="*/ 2017 h 2337"/>
                <a:gd name="T90" fmla="*/ 1954 w 2416"/>
                <a:gd name="T91" fmla="*/ 2068 h 2337"/>
                <a:gd name="T92" fmla="*/ 1829 w 2416"/>
                <a:gd name="T93" fmla="*/ 2148 h 2337"/>
                <a:gd name="T94" fmla="*/ 1705 w 2416"/>
                <a:gd name="T95" fmla="*/ 2212 h 2337"/>
                <a:gd name="T96" fmla="*/ 1596 w 2416"/>
                <a:gd name="T97" fmla="*/ 2265 h 2337"/>
                <a:gd name="T98" fmla="*/ 1539 w 2416"/>
                <a:gd name="T99" fmla="*/ 2291 h 2337"/>
                <a:gd name="T100" fmla="*/ 1474 w 2416"/>
                <a:gd name="T101" fmla="*/ 2314 h 2337"/>
                <a:gd name="T102" fmla="*/ 1408 w 2416"/>
                <a:gd name="T103" fmla="*/ 2331 h 2337"/>
                <a:gd name="T104" fmla="*/ 1346 w 2416"/>
                <a:gd name="T105" fmla="*/ 2337 h 2337"/>
                <a:gd name="T106" fmla="*/ 73 w 2416"/>
                <a:gd name="T107" fmla="*/ 2335 h 2337"/>
                <a:gd name="T108" fmla="*/ 35 w 2416"/>
                <a:gd name="T109" fmla="*/ 2320 h 2337"/>
                <a:gd name="T110" fmla="*/ 9 w 2416"/>
                <a:gd name="T111" fmla="*/ 2292 h 2337"/>
                <a:gd name="T112" fmla="*/ 0 w 2416"/>
                <a:gd name="T113" fmla="*/ 2255 h 2337"/>
                <a:gd name="T114" fmla="*/ 8 w 2416"/>
                <a:gd name="T115" fmla="*/ 2211 h 2337"/>
                <a:gd name="T116" fmla="*/ 623 w 2416"/>
                <a:gd name="T117" fmla="*/ 542 h 2337"/>
                <a:gd name="T118" fmla="*/ 674 w 2416"/>
                <a:gd name="T119" fmla="*/ 458 h 2337"/>
                <a:gd name="T120" fmla="*/ 738 w 2416"/>
                <a:gd name="T121" fmla="*/ 377 h 2337"/>
                <a:gd name="T122" fmla="*/ 810 w 2416"/>
                <a:gd name="T123" fmla="*/ 306 h 2337"/>
                <a:gd name="T124" fmla="*/ 882 w 2416"/>
                <a:gd name="T125" fmla="*/ 251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16" h="2337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8" name="Freeform 26">
            <a:extLst>
              <a:ext uri="{FF2B5EF4-FFF2-40B4-BE49-F238E27FC236}">
                <a16:creationId xmlns:a16="http://schemas.microsoft.com/office/drawing/2014/main" id="{5A72132A-8223-2B2C-1E5D-70CB18D9DCA1}"/>
              </a:ext>
            </a:extLst>
          </p:cNvPr>
          <p:cNvSpPr>
            <a:spLocks noEditPoints="1"/>
          </p:cNvSpPr>
          <p:nvPr/>
        </p:nvSpPr>
        <p:spPr bwMode="auto">
          <a:xfrm>
            <a:off x="6549005" y="3730542"/>
            <a:ext cx="355600" cy="695325"/>
          </a:xfrm>
          <a:custGeom>
            <a:avLst/>
            <a:gdLst>
              <a:gd name="T0" fmla="*/ 765 w 1790"/>
              <a:gd name="T1" fmla="*/ 1570 h 3502"/>
              <a:gd name="T2" fmla="*/ 778 w 1790"/>
              <a:gd name="T3" fmla="*/ 1793 h 3502"/>
              <a:gd name="T4" fmla="*/ 871 w 1790"/>
              <a:gd name="T5" fmla="*/ 1683 h 3502"/>
              <a:gd name="T6" fmla="*/ 1004 w 1790"/>
              <a:gd name="T7" fmla="*/ 1655 h 3502"/>
              <a:gd name="T8" fmla="*/ 1083 w 1790"/>
              <a:gd name="T9" fmla="*/ 1817 h 3502"/>
              <a:gd name="T10" fmla="*/ 1132 w 1790"/>
              <a:gd name="T11" fmla="*/ 1601 h 3502"/>
              <a:gd name="T12" fmla="*/ 942 w 1790"/>
              <a:gd name="T13" fmla="*/ 1469 h 3502"/>
              <a:gd name="T14" fmla="*/ 660 w 1790"/>
              <a:gd name="T15" fmla="*/ 1357 h 3502"/>
              <a:gd name="T16" fmla="*/ 517 w 1790"/>
              <a:gd name="T17" fmla="*/ 1673 h 3502"/>
              <a:gd name="T18" fmla="*/ 667 w 1790"/>
              <a:gd name="T19" fmla="*/ 1992 h 3502"/>
              <a:gd name="T20" fmla="*/ 775 w 1790"/>
              <a:gd name="T21" fmla="*/ 1920 h 3502"/>
              <a:gd name="T22" fmla="*/ 640 w 1790"/>
              <a:gd name="T23" fmla="*/ 1673 h 3502"/>
              <a:gd name="T24" fmla="*/ 777 w 1790"/>
              <a:gd name="T25" fmla="*/ 1421 h 3502"/>
              <a:gd name="T26" fmla="*/ 1068 w 1790"/>
              <a:gd name="T27" fmla="*/ 1401 h 3502"/>
              <a:gd name="T28" fmla="*/ 1239 w 1790"/>
              <a:gd name="T29" fmla="*/ 1629 h 3502"/>
              <a:gd name="T30" fmla="*/ 1133 w 1790"/>
              <a:gd name="T31" fmla="*/ 1903 h 3502"/>
              <a:gd name="T32" fmla="*/ 1228 w 1790"/>
              <a:gd name="T33" fmla="*/ 1980 h 3502"/>
              <a:gd name="T34" fmla="*/ 1365 w 1790"/>
              <a:gd name="T35" fmla="*/ 1673 h 3502"/>
              <a:gd name="T36" fmla="*/ 1223 w 1790"/>
              <a:gd name="T37" fmla="*/ 1357 h 3502"/>
              <a:gd name="T38" fmla="*/ 942 w 1790"/>
              <a:gd name="T39" fmla="*/ 1203 h 3502"/>
              <a:gd name="T40" fmla="*/ 1276 w 1790"/>
              <a:gd name="T41" fmla="*/ 1340 h 3502"/>
              <a:gd name="T42" fmla="*/ 1414 w 1790"/>
              <a:gd name="T43" fmla="*/ 1673 h 3502"/>
              <a:gd name="T44" fmla="*/ 1279 w 1790"/>
              <a:gd name="T45" fmla="*/ 2000 h 3502"/>
              <a:gd name="T46" fmla="*/ 1090 w 1790"/>
              <a:gd name="T47" fmla="*/ 2385 h 3502"/>
              <a:gd name="T48" fmla="*/ 1166 w 1790"/>
              <a:gd name="T49" fmla="*/ 2179 h 3502"/>
              <a:gd name="T50" fmla="*/ 1288 w 1790"/>
              <a:gd name="T51" fmla="*/ 2232 h 3502"/>
              <a:gd name="T52" fmla="*/ 1346 w 1790"/>
              <a:gd name="T53" fmla="*/ 2232 h 3502"/>
              <a:gd name="T54" fmla="*/ 1468 w 1790"/>
              <a:gd name="T55" fmla="*/ 2179 h 3502"/>
              <a:gd name="T56" fmla="*/ 1543 w 1790"/>
              <a:gd name="T57" fmla="*/ 2385 h 3502"/>
              <a:gd name="T58" fmla="*/ 1637 w 1790"/>
              <a:gd name="T59" fmla="*/ 2187 h 3502"/>
              <a:gd name="T60" fmla="*/ 1768 w 1790"/>
              <a:gd name="T61" fmla="*/ 2213 h 3502"/>
              <a:gd name="T62" fmla="*/ 1789 w 1790"/>
              <a:gd name="T63" fmla="*/ 3085 h 3502"/>
              <a:gd name="T64" fmla="*/ 1779 w 1790"/>
              <a:gd name="T65" fmla="*/ 3164 h 3502"/>
              <a:gd name="T66" fmla="*/ 1707 w 1790"/>
              <a:gd name="T67" fmla="*/ 3330 h 3502"/>
              <a:gd name="T68" fmla="*/ 1511 w 1790"/>
              <a:gd name="T69" fmla="*/ 3473 h 3502"/>
              <a:gd name="T70" fmla="*/ 1163 w 1790"/>
              <a:gd name="T71" fmla="*/ 3487 h 3502"/>
              <a:gd name="T72" fmla="*/ 934 w 1790"/>
              <a:gd name="T73" fmla="*/ 3373 h 3502"/>
              <a:gd name="T74" fmla="*/ 858 w 1790"/>
              <a:gd name="T75" fmla="*/ 3263 h 3502"/>
              <a:gd name="T76" fmla="*/ 768 w 1790"/>
              <a:gd name="T77" fmla="*/ 3106 h 3502"/>
              <a:gd name="T78" fmla="*/ 630 w 1790"/>
              <a:gd name="T79" fmla="*/ 2864 h 3502"/>
              <a:gd name="T80" fmla="*/ 521 w 1790"/>
              <a:gd name="T81" fmla="*/ 2667 h 3502"/>
              <a:gd name="T82" fmla="*/ 507 w 1790"/>
              <a:gd name="T83" fmla="*/ 2517 h 3502"/>
              <a:gd name="T84" fmla="*/ 636 w 1790"/>
              <a:gd name="T85" fmla="*/ 2496 h 3502"/>
              <a:gd name="T86" fmla="*/ 816 w 1790"/>
              <a:gd name="T87" fmla="*/ 2700 h 3502"/>
              <a:gd name="T88" fmla="*/ 615 w 1790"/>
              <a:gd name="T89" fmla="*/ 2011 h 3502"/>
              <a:gd name="T90" fmla="*/ 469 w 1790"/>
              <a:gd name="T91" fmla="*/ 1673 h 3502"/>
              <a:gd name="T92" fmla="*/ 608 w 1790"/>
              <a:gd name="T93" fmla="*/ 1340 h 3502"/>
              <a:gd name="T94" fmla="*/ 942 w 1790"/>
              <a:gd name="T95" fmla="*/ 1203 h 3502"/>
              <a:gd name="T96" fmla="*/ 639 w 1790"/>
              <a:gd name="T97" fmla="*/ 188 h 3502"/>
              <a:gd name="T98" fmla="*/ 1056 w 1790"/>
              <a:gd name="T99" fmla="*/ 141 h 3502"/>
              <a:gd name="T100" fmla="*/ 1625 w 1790"/>
              <a:gd name="T101" fmla="*/ 46 h 3502"/>
              <a:gd name="T102" fmla="*/ 1558 w 1790"/>
              <a:gd name="T103" fmla="*/ 2034 h 3502"/>
              <a:gd name="T104" fmla="*/ 161 w 1790"/>
              <a:gd name="T105" fmla="*/ 2902 h 3502"/>
              <a:gd name="T106" fmla="*/ 3 w 1790"/>
              <a:gd name="T107" fmla="*/ 2744 h 3502"/>
              <a:gd name="T108" fmla="*/ 71 w 1790"/>
              <a:gd name="T109" fmla="*/ 46 h 3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790" h="3502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62F496-16DB-7060-C304-DD67049469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18979-A8A4-6229-8FE0-79CB0742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8</a:t>
            </a:fld>
            <a:endParaRPr lang="en-I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3A16944-D77B-7132-E426-0405B4D1F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1" y="3370321"/>
            <a:ext cx="5226747" cy="2945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CB025537-FBF7-F034-CB87-4254DB835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474" y="872909"/>
            <a:ext cx="7320026" cy="2830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9F5142-0802-5104-30CB-114BE3B12499}"/>
              </a:ext>
            </a:extLst>
          </p:cNvPr>
          <p:cNvSpPr txBox="1"/>
          <p:nvPr/>
        </p:nvSpPr>
        <p:spPr>
          <a:xfrm>
            <a:off x="5805042" y="3890810"/>
            <a:ext cx="617677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titled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"Regional Benchmarking: Education and Crime Combined,"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presents a comparison of states across two groups: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5 Overall Performing States (High Performance &amp; Low Crime)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5 Challenged States (Low Performance &amp; High Crime)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"Top 5 Performing" states/UTs, like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Ladakh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Chandigarh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 high average overall performance percentages (blue bars) coupled with significantly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Total Crime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(red dots and line, measured as the sum of districts' crime). This indicates a positive correlation where strong educational performance coexists with lower crime rates in these regions. Conversely, the "Top 5 Challenged" states, such as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Kerala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Maharashtra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exhibit lower average overall performance (red bars) paired with extremely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Total Crime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(blue dots and line), suggesting an inverse relationship in this group, with lower educational performance being associated with much higher crime figures.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87BCF8-32E4-33F4-A9D9-8D00469D92E5}"/>
              </a:ext>
            </a:extLst>
          </p:cNvPr>
          <p:cNvSpPr txBox="1"/>
          <p:nvPr/>
        </p:nvSpPr>
        <p:spPr>
          <a:xfrm>
            <a:off x="13136" y="710866"/>
            <a:ext cx="447694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titled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"Top 10 States: Overall Performance vs. Total Child Crimes,"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focuses on the top 10 states by academic performance (blue bars) and overlays their corresponding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Child Crime Incidents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(red line). States like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Rajasthan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Chandigarh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 in academic performance, with Rajasthan also having a relatively high number of child crime incidents, while Chandigarh has one of the lowest in this group.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Karnataka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stands out with a moderately high academic performance but the highest number of total child crime incidents among the top 10. The visualization reveals a varied relationship, indicating that while high overall academic performance is the common criterion for selection, it does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consistently correlate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low total child crime incidents across these specific top-performing states.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725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C94F7-8185-D319-0811-CC5876E08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FA50C26E-5BDC-7796-FA6E-812F2094C28E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2B4F56A-1A43-08F8-BF1A-6EEFC9DD031F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2F340EB9-1BA5-117B-6D2D-D3F9E83C1DBF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E5F27F5B-C914-B685-15B8-9A3E24DC4D2B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497B81EC-E60B-88E0-1938-2AA5F8239213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DD6A49F6-30BC-ECB9-3C4B-93C4D59067E9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A8F002AB-AEF1-1ED5-1440-CE4661D3B8D6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FF66614D-3FC4-F4DD-BB8C-4729BD800753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BB520736-32A9-1BEF-7CA7-5A419464A1EA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7809D587-24D2-9A62-7CD3-36B0AF169D74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52B982F3-0116-EBCC-6740-D7D9048060D4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12B17044-C14E-07F8-DF27-CEED68B9605A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3584294C-5F0C-3EBD-701E-9B092E5FF942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2B11D6CA-9B47-337A-770E-6B220B9B9546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B0B7483E-ECA6-70A8-9B23-F6C36CA5739D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959D9142-2B76-D3C1-A1FC-BB0551718AB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ACB11314-405F-CBBA-E0C8-4FE9FA529831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05457B1A-E114-0B7D-DDCE-F0A11F192595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241B6265-8BAF-DFDA-4409-46970D849C21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A8B4CCD0-FC24-5E6D-3579-96C6BCF2BA20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A1C56AFB-73E0-4494-A807-9E88C0B5CA05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A3DEB4AD-5E48-36A0-4A74-CCBB4C0B8C49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0D0C6E74-7B36-F207-9587-673C67A9650C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5A656862-9726-0E0A-1C07-CDF11C0AAA9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4B820CA0-3541-3BA3-D8C6-1228C718FAEB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ABF64F59-382F-AA93-A204-40003C93578A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B74C8B5A-02C5-7556-54BC-47017FD58AFB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E04F3709-16C4-C603-0C13-A9BA0064CCB7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606BBAE4-1CF9-FCA8-8129-9D13D50E7CF0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B245A7E8-4DDA-6B2C-D912-D6D49A1589BC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8D486CD3-6FA6-300D-79D8-BF7DD1C7C88C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2FDD9007-527E-56B6-2D5D-6B81F3DB9643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50A4BF1A-34D7-B727-E95A-96F677B5FC4B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3488E795-44B3-BF54-20EB-348F55D84250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3C5DE559-A405-35DC-9D42-65502D566679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CCF56575-B100-5780-A851-3229AB8DF746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CC86989F-54FB-1B97-213C-4879284E6D28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377E03B6-702D-B234-8AF2-BB51626ADB47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4F8E268-872D-7878-23CA-EDCDAC00C0CE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58A8F7AB-D812-E581-4DFB-5D80A8C9B1BB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4C7AFCB7-5404-6050-64E7-C8D7B9B2AE87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81AB99E7-C6D8-B21E-D1BB-317F013B7A8A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670F2017-29AE-AD55-CB25-E199C8A60BDC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D4BA587C-7A09-2F24-B0FF-D5E8E4F69C0D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816D3120-3339-9BF2-3337-CDF170E83B32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CE521215-FF29-ABAC-99C1-204D7CEB2EF8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E0A5D025-9009-C547-4011-F88BF493183B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6CEFF88D-CFE3-B480-ED69-D204D0228BB8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6DF4CC7E-45AC-A676-1FC6-AEE954FB19CC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5FC102E5-1C74-21AA-1FFE-6478DD64BB72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9DA86C81-FB8A-FD2C-F6D4-E12ABCEABE16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827CF067-710A-10DD-A5AE-33BF2677548D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ECB48433-A186-0CA9-5606-0D0B2D96B6E9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2EFD0E07-1F8C-2719-14F3-0D502C0B4D91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CE078D1F-3716-0B30-60C0-77DE399F876F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17F785AC-A14A-E59A-CFD5-A92BA365D3F2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8D62E04C-7D8B-5825-C40F-2F8F2377991C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A075D335-583E-BFC7-B759-D5ABE6C8BCAB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8F67849D-E5A3-8574-BB6F-9EA13458A2F8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E7EA639C-D92F-27DD-380C-E0CFC712E10E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0B646EBF-23AA-79BE-992D-A899EE9B85ED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CE490B26-6E9B-DA2C-DC2F-5847A2C6577B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DFF048B7-7699-4F6B-8031-BE10A79F8551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7A58C0AF-E8AD-5A8C-D58B-E521BD243035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14AA025B-48E1-D815-0CDD-E7CFAE8052A1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C52B240A-CE81-FA76-A175-B705AF06042C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7E018939-5492-7D52-5B1A-CB97A6CAE3A2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2A8DCC71-3029-86B6-41A1-25B9C8ADAD90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9A16501C-EA01-B0D5-121C-E9A15D75A595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368F8953-958A-CFC7-D7CE-63897F962A83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88851943-4A67-E6EC-D327-5D272F60180F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A034C90D-B420-369A-2277-C850E8F34BBB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EDE5672B-F887-52A6-C97C-89267EE93B29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4E1991EA-1419-E4B0-27F4-BB036CC21BA5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938E647-494F-6F26-1033-66E2E1D33200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Collaborated Dataset Insights</a:t>
            </a: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FA586F5B-7F6C-9BCC-A9F7-642D71DF8652}"/>
              </a:ext>
            </a:extLst>
          </p:cNvPr>
          <p:cNvSpPr txBox="1"/>
          <p:nvPr/>
        </p:nvSpPr>
        <p:spPr>
          <a:xfrm>
            <a:off x="7483294" y="2282149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3CF806AA-9E00-E1E2-50D3-4BF20ADBFFE2}"/>
              </a:ext>
            </a:extLst>
          </p:cNvPr>
          <p:cNvSpPr txBox="1"/>
          <p:nvPr/>
        </p:nvSpPr>
        <p:spPr>
          <a:xfrm>
            <a:off x="6095999" y="4927086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D9FFA871-5232-0A1D-3904-7A433E6354D8}"/>
              </a:ext>
            </a:extLst>
          </p:cNvPr>
          <p:cNvSpPr txBox="1"/>
          <p:nvPr/>
        </p:nvSpPr>
        <p:spPr>
          <a:xfrm>
            <a:off x="3436733" y="3563674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359" name="Freeform 6">
            <a:extLst>
              <a:ext uri="{FF2B5EF4-FFF2-40B4-BE49-F238E27FC236}">
                <a16:creationId xmlns:a16="http://schemas.microsoft.com/office/drawing/2014/main" id="{06A14716-8CAA-3F76-2163-152D480E0DFE}"/>
              </a:ext>
            </a:extLst>
          </p:cNvPr>
          <p:cNvSpPr>
            <a:spLocks noEditPoints="1"/>
          </p:cNvSpPr>
          <p:nvPr/>
        </p:nvSpPr>
        <p:spPr bwMode="auto">
          <a:xfrm>
            <a:off x="5133215" y="3730542"/>
            <a:ext cx="668338" cy="687387"/>
          </a:xfrm>
          <a:custGeom>
            <a:avLst/>
            <a:gdLst>
              <a:gd name="T0" fmla="*/ 1078 w 3366"/>
              <a:gd name="T1" fmla="*/ 2244 h 3464"/>
              <a:gd name="T2" fmla="*/ 1804 w 3366"/>
              <a:gd name="T3" fmla="*/ 2131 h 3464"/>
              <a:gd name="T4" fmla="*/ 1741 w 3366"/>
              <a:gd name="T5" fmla="*/ 452 h 3464"/>
              <a:gd name="T6" fmla="*/ 1878 w 3366"/>
              <a:gd name="T7" fmla="*/ 927 h 3464"/>
              <a:gd name="T8" fmla="*/ 1741 w 3366"/>
              <a:gd name="T9" fmla="*/ 452 h 3464"/>
              <a:gd name="T10" fmla="*/ 281 w 3366"/>
              <a:gd name="T11" fmla="*/ 3183 h 3464"/>
              <a:gd name="T12" fmla="*/ 2387 w 3366"/>
              <a:gd name="T13" fmla="*/ 1716 h 3464"/>
              <a:gd name="T14" fmla="*/ 2088 w 3366"/>
              <a:gd name="T15" fmla="*/ 2021 h 3464"/>
              <a:gd name="T16" fmla="*/ 1886 w 3366"/>
              <a:gd name="T17" fmla="*/ 2215 h 3464"/>
              <a:gd name="T18" fmla="*/ 2088 w 3366"/>
              <a:gd name="T19" fmla="*/ 2463 h 3464"/>
              <a:gd name="T20" fmla="*/ 580 w 3366"/>
              <a:gd name="T21" fmla="*/ 2604 h 3464"/>
              <a:gd name="T22" fmla="*/ 870 w 3366"/>
              <a:gd name="T23" fmla="*/ 2463 h 3464"/>
              <a:gd name="T24" fmla="*/ 580 w 3366"/>
              <a:gd name="T25" fmla="*/ 2021 h 3464"/>
              <a:gd name="T26" fmla="*/ 1110 w 3366"/>
              <a:gd name="T27" fmla="*/ 1880 h 3464"/>
              <a:gd name="T28" fmla="*/ 1366 w 3366"/>
              <a:gd name="T29" fmla="*/ 1438 h 3464"/>
              <a:gd name="T30" fmla="*/ 580 w 3366"/>
              <a:gd name="T31" fmla="*/ 1296 h 3464"/>
              <a:gd name="T32" fmla="*/ 1666 w 3366"/>
              <a:gd name="T33" fmla="*/ 1138 h 3464"/>
              <a:gd name="T34" fmla="*/ 1532 w 3366"/>
              <a:gd name="T35" fmla="*/ 281 h 3464"/>
              <a:gd name="T36" fmla="*/ 0 w 3366"/>
              <a:gd name="T37" fmla="*/ 0 h 3464"/>
              <a:gd name="T38" fmla="*/ 2241 w 3366"/>
              <a:gd name="T39" fmla="*/ 565 h 3464"/>
              <a:gd name="T40" fmla="*/ 2661 w 3366"/>
              <a:gd name="T41" fmla="*/ 150 h 3464"/>
              <a:gd name="T42" fmla="*/ 2712 w 3366"/>
              <a:gd name="T43" fmla="*/ 117 h 3464"/>
              <a:gd name="T44" fmla="*/ 2765 w 3366"/>
              <a:gd name="T45" fmla="*/ 97 h 3464"/>
              <a:gd name="T46" fmla="*/ 2816 w 3366"/>
              <a:gd name="T47" fmla="*/ 90 h 3464"/>
              <a:gd name="T48" fmla="*/ 2863 w 3366"/>
              <a:gd name="T49" fmla="*/ 100 h 3464"/>
              <a:gd name="T50" fmla="*/ 2900 w 3366"/>
              <a:gd name="T51" fmla="*/ 125 h 3464"/>
              <a:gd name="T52" fmla="*/ 3347 w 3366"/>
              <a:gd name="T53" fmla="*/ 578 h 3464"/>
              <a:gd name="T54" fmla="*/ 3364 w 3366"/>
              <a:gd name="T55" fmla="*/ 626 h 3464"/>
              <a:gd name="T56" fmla="*/ 3363 w 3366"/>
              <a:gd name="T57" fmla="*/ 680 h 3464"/>
              <a:gd name="T58" fmla="*/ 3344 w 3366"/>
              <a:gd name="T59" fmla="*/ 739 h 3464"/>
              <a:gd name="T60" fmla="*/ 3310 w 3366"/>
              <a:gd name="T61" fmla="*/ 796 h 3464"/>
              <a:gd name="T62" fmla="*/ 2668 w 3366"/>
              <a:gd name="T63" fmla="*/ 1437 h 3464"/>
              <a:gd name="T64" fmla="*/ 0 w 3366"/>
              <a:gd name="T65" fmla="*/ 3464 h 3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366" h="3464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" name="Freeform 11">
            <a:extLst>
              <a:ext uri="{FF2B5EF4-FFF2-40B4-BE49-F238E27FC236}">
                <a16:creationId xmlns:a16="http://schemas.microsoft.com/office/drawing/2014/main" id="{9CEBFAAB-3B30-D659-26D4-534F392B7DB4}"/>
              </a:ext>
            </a:extLst>
          </p:cNvPr>
          <p:cNvSpPr>
            <a:spLocks noEditPoints="1"/>
          </p:cNvSpPr>
          <p:nvPr/>
        </p:nvSpPr>
        <p:spPr bwMode="auto">
          <a:xfrm>
            <a:off x="5130834" y="2538361"/>
            <a:ext cx="673100" cy="503238"/>
          </a:xfrm>
          <a:custGeom>
            <a:avLst/>
            <a:gdLst>
              <a:gd name="T0" fmla="*/ 2212 w 3390"/>
              <a:gd name="T1" fmla="*/ 1401 h 2540"/>
              <a:gd name="T2" fmla="*/ 2082 w 3390"/>
              <a:gd name="T3" fmla="*/ 1890 h 2540"/>
              <a:gd name="T4" fmla="*/ 2394 w 3390"/>
              <a:gd name="T5" fmla="*/ 2275 h 2540"/>
              <a:gd name="T6" fmla="*/ 2900 w 3390"/>
              <a:gd name="T7" fmla="*/ 2249 h 2540"/>
              <a:gd name="T8" fmla="*/ 3170 w 3390"/>
              <a:gd name="T9" fmla="*/ 1832 h 2540"/>
              <a:gd name="T10" fmla="*/ 2991 w 3390"/>
              <a:gd name="T11" fmla="*/ 1361 h 2540"/>
              <a:gd name="T12" fmla="*/ 707 w 3390"/>
              <a:gd name="T13" fmla="*/ 1223 h 2540"/>
              <a:gd name="T14" fmla="*/ 290 w 3390"/>
              <a:gd name="T15" fmla="*/ 1493 h 2540"/>
              <a:gd name="T16" fmla="*/ 264 w 3390"/>
              <a:gd name="T17" fmla="*/ 1999 h 2540"/>
              <a:gd name="T18" fmla="*/ 649 w 3390"/>
              <a:gd name="T19" fmla="*/ 2312 h 2540"/>
              <a:gd name="T20" fmla="*/ 1137 w 3390"/>
              <a:gd name="T21" fmla="*/ 2182 h 2540"/>
              <a:gd name="T22" fmla="*/ 1316 w 3390"/>
              <a:gd name="T23" fmla="*/ 1712 h 2540"/>
              <a:gd name="T24" fmla="*/ 1046 w 3390"/>
              <a:gd name="T25" fmla="*/ 1295 h 2540"/>
              <a:gd name="T26" fmla="*/ 1556 w 3390"/>
              <a:gd name="T27" fmla="*/ 896 h 2540"/>
              <a:gd name="T28" fmla="*/ 1337 w 3390"/>
              <a:gd name="T29" fmla="*/ 1029 h 2540"/>
              <a:gd name="T30" fmla="*/ 1556 w 3390"/>
              <a:gd name="T31" fmla="*/ 1160 h 2540"/>
              <a:gd name="T32" fmla="*/ 1947 w 3390"/>
              <a:gd name="T33" fmla="*/ 1130 h 2540"/>
              <a:gd name="T34" fmla="*/ 2024 w 3390"/>
              <a:gd name="T35" fmla="*/ 973 h 2540"/>
              <a:gd name="T36" fmla="*/ 1695 w 3390"/>
              <a:gd name="T37" fmla="*/ 886 h 2540"/>
              <a:gd name="T38" fmla="*/ 1950 w 3390"/>
              <a:gd name="T39" fmla="*/ 406 h 2540"/>
              <a:gd name="T40" fmla="*/ 2007 w 3390"/>
              <a:gd name="T41" fmla="*/ 460 h 2540"/>
              <a:gd name="T42" fmla="*/ 2283 w 3390"/>
              <a:gd name="T43" fmla="*/ 342 h 2540"/>
              <a:gd name="T44" fmla="*/ 2422 w 3390"/>
              <a:gd name="T45" fmla="*/ 372 h 2540"/>
              <a:gd name="T46" fmla="*/ 2439 w 3390"/>
              <a:gd name="T47" fmla="*/ 294 h 2540"/>
              <a:gd name="T48" fmla="*/ 2260 w 3390"/>
              <a:gd name="T49" fmla="*/ 260 h 2540"/>
              <a:gd name="T50" fmla="*/ 954 w 3390"/>
              <a:gd name="T51" fmla="*/ 292 h 2540"/>
              <a:gd name="T52" fmla="*/ 955 w 3390"/>
              <a:gd name="T53" fmla="*/ 371 h 2540"/>
              <a:gd name="T54" fmla="*/ 1078 w 3390"/>
              <a:gd name="T55" fmla="*/ 346 h 2540"/>
              <a:gd name="T56" fmla="*/ 1326 w 3390"/>
              <a:gd name="T57" fmla="*/ 400 h 2540"/>
              <a:gd name="T58" fmla="*/ 1445 w 3390"/>
              <a:gd name="T59" fmla="*/ 441 h 2540"/>
              <a:gd name="T60" fmla="*/ 1225 w 3390"/>
              <a:gd name="T61" fmla="*/ 268 h 2540"/>
              <a:gd name="T62" fmla="*/ 1449 w 3390"/>
              <a:gd name="T63" fmla="*/ 92 h 2540"/>
              <a:gd name="T64" fmla="*/ 1505 w 3390"/>
              <a:gd name="T65" fmla="*/ 324 h 2540"/>
              <a:gd name="T66" fmla="*/ 1529 w 3390"/>
              <a:gd name="T67" fmla="*/ 705 h 2540"/>
              <a:gd name="T68" fmla="*/ 1626 w 3390"/>
              <a:gd name="T69" fmla="*/ 626 h 2540"/>
              <a:gd name="T70" fmla="*/ 1745 w 3390"/>
              <a:gd name="T71" fmla="*/ 610 h 2540"/>
              <a:gd name="T72" fmla="*/ 1828 w 3390"/>
              <a:gd name="T73" fmla="*/ 699 h 2540"/>
              <a:gd name="T74" fmla="*/ 1879 w 3390"/>
              <a:gd name="T75" fmla="*/ 406 h 2540"/>
              <a:gd name="T76" fmla="*/ 1904 w 3390"/>
              <a:gd name="T77" fmla="*/ 153 h 2540"/>
              <a:gd name="T78" fmla="*/ 2166 w 3390"/>
              <a:gd name="T79" fmla="*/ 1 h 2540"/>
              <a:gd name="T80" fmla="*/ 2396 w 3390"/>
              <a:gd name="T81" fmla="*/ 155 h 2540"/>
              <a:gd name="T82" fmla="*/ 2582 w 3390"/>
              <a:gd name="T83" fmla="*/ 410 h 2540"/>
              <a:gd name="T84" fmla="*/ 2844 w 3390"/>
              <a:gd name="T85" fmla="*/ 783 h 2540"/>
              <a:gd name="T86" fmla="*/ 3126 w 3390"/>
              <a:gd name="T87" fmla="*/ 1187 h 2540"/>
              <a:gd name="T88" fmla="*/ 3292 w 3390"/>
              <a:gd name="T89" fmla="*/ 1426 h 2540"/>
              <a:gd name="T90" fmla="*/ 3390 w 3390"/>
              <a:gd name="T91" fmla="*/ 1772 h 2540"/>
              <a:gd name="T92" fmla="*/ 3166 w 3390"/>
              <a:gd name="T93" fmla="*/ 2314 h 2540"/>
              <a:gd name="T94" fmla="*/ 2624 w 3390"/>
              <a:gd name="T95" fmla="*/ 2540 h 2540"/>
              <a:gd name="T96" fmla="*/ 2082 w 3390"/>
              <a:gd name="T97" fmla="*/ 2314 h 2540"/>
              <a:gd name="T98" fmla="*/ 1859 w 3390"/>
              <a:gd name="T99" fmla="*/ 1772 h 2540"/>
              <a:gd name="T100" fmla="*/ 1805 w 3390"/>
              <a:gd name="T101" fmla="*/ 1469 h 2540"/>
              <a:gd name="T102" fmla="*/ 1547 w 3390"/>
              <a:gd name="T103" fmla="*/ 1507 h 2540"/>
              <a:gd name="T104" fmla="*/ 1468 w 3390"/>
              <a:gd name="T105" fmla="*/ 2101 h 2540"/>
              <a:gd name="T106" fmla="*/ 1039 w 3390"/>
              <a:gd name="T107" fmla="*/ 2491 h 2540"/>
              <a:gd name="T108" fmla="*/ 442 w 3390"/>
              <a:gd name="T109" fmla="*/ 2466 h 2540"/>
              <a:gd name="T110" fmla="*/ 48 w 3390"/>
              <a:gd name="T111" fmla="*/ 2039 h 2540"/>
              <a:gd name="T112" fmla="*/ 34 w 3390"/>
              <a:gd name="T113" fmla="*/ 1579 h 2540"/>
              <a:gd name="T114" fmla="*/ 170 w 3390"/>
              <a:gd name="T115" fmla="*/ 1318 h 2540"/>
              <a:gd name="T116" fmla="*/ 413 w 3390"/>
              <a:gd name="T117" fmla="*/ 972 h 2540"/>
              <a:gd name="T118" fmla="*/ 703 w 3390"/>
              <a:gd name="T119" fmla="*/ 558 h 2540"/>
              <a:gd name="T120" fmla="*/ 888 w 3390"/>
              <a:gd name="T121" fmla="*/ 294 h 2540"/>
              <a:gd name="T122" fmla="*/ 1124 w 3390"/>
              <a:gd name="T123" fmla="*/ 34 h 2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0" h="254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61" name="Group 14">
            <a:extLst>
              <a:ext uri="{FF2B5EF4-FFF2-40B4-BE49-F238E27FC236}">
                <a16:creationId xmlns:a16="http://schemas.microsoft.com/office/drawing/2014/main" id="{3950D6D4-8B2F-965F-2580-16D3FA540AA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45373" y="2438267"/>
            <a:ext cx="713404" cy="692800"/>
            <a:chOff x="638" y="291"/>
            <a:chExt cx="554" cy="538"/>
          </a:xfrm>
          <a:solidFill>
            <a:schemeClr val="bg1"/>
          </a:solidFill>
        </p:grpSpPr>
        <p:sp>
          <p:nvSpPr>
            <p:cNvPr id="362" name="Freeform 16">
              <a:extLst>
                <a:ext uri="{FF2B5EF4-FFF2-40B4-BE49-F238E27FC236}">
                  <a16:creationId xmlns:a16="http://schemas.microsoft.com/office/drawing/2014/main" id="{7EB0A2EB-F838-FFFD-CE53-BA7E538D5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444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1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6 h 371"/>
                <a:gd name="T16" fmla="*/ 330 w 341"/>
                <a:gd name="T17" fmla="*/ 111 h 371"/>
                <a:gd name="T18" fmla="*/ 338 w 341"/>
                <a:gd name="T19" fmla="*/ 141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1 h 371"/>
                <a:gd name="T32" fmla="*/ 280 w 341"/>
                <a:gd name="T33" fmla="*/ 331 h 371"/>
                <a:gd name="T34" fmla="*/ 257 w 341"/>
                <a:gd name="T35" fmla="*/ 349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Freeform 17">
              <a:extLst>
                <a:ext uri="{FF2B5EF4-FFF2-40B4-BE49-F238E27FC236}">
                  <a16:creationId xmlns:a16="http://schemas.microsoft.com/office/drawing/2014/main" id="{277DCC3E-9172-1DB8-01A4-4084C63473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17"/>
              <a:ext cx="57" cy="62"/>
            </a:xfrm>
            <a:custGeom>
              <a:avLst/>
              <a:gdLst>
                <a:gd name="T0" fmla="*/ 0 w 341"/>
                <a:gd name="T1" fmla="*/ 0 h 372"/>
                <a:gd name="T2" fmla="*/ 171 w 341"/>
                <a:gd name="T3" fmla="*/ 0 h 372"/>
                <a:gd name="T4" fmla="*/ 201 w 341"/>
                <a:gd name="T5" fmla="*/ 4 h 372"/>
                <a:gd name="T6" fmla="*/ 230 w 341"/>
                <a:gd name="T7" fmla="*/ 11 h 372"/>
                <a:gd name="T8" fmla="*/ 257 w 341"/>
                <a:gd name="T9" fmla="*/ 24 h 372"/>
                <a:gd name="T10" fmla="*/ 280 w 341"/>
                <a:gd name="T11" fmla="*/ 41 h 372"/>
                <a:gd name="T12" fmla="*/ 301 w 341"/>
                <a:gd name="T13" fmla="*/ 61 h 372"/>
                <a:gd name="T14" fmla="*/ 317 w 341"/>
                <a:gd name="T15" fmla="*/ 85 h 372"/>
                <a:gd name="T16" fmla="*/ 330 w 341"/>
                <a:gd name="T17" fmla="*/ 112 h 372"/>
                <a:gd name="T18" fmla="*/ 338 w 341"/>
                <a:gd name="T19" fmla="*/ 141 h 372"/>
                <a:gd name="T20" fmla="*/ 341 w 341"/>
                <a:gd name="T21" fmla="*/ 172 h 372"/>
                <a:gd name="T22" fmla="*/ 341 w 341"/>
                <a:gd name="T23" fmla="*/ 201 h 372"/>
                <a:gd name="T24" fmla="*/ 338 w 341"/>
                <a:gd name="T25" fmla="*/ 231 h 372"/>
                <a:gd name="T26" fmla="*/ 330 w 341"/>
                <a:gd name="T27" fmla="*/ 260 h 372"/>
                <a:gd name="T28" fmla="*/ 317 w 341"/>
                <a:gd name="T29" fmla="*/ 287 h 372"/>
                <a:gd name="T30" fmla="*/ 301 w 341"/>
                <a:gd name="T31" fmla="*/ 311 h 372"/>
                <a:gd name="T32" fmla="*/ 280 w 341"/>
                <a:gd name="T33" fmla="*/ 332 h 372"/>
                <a:gd name="T34" fmla="*/ 257 w 341"/>
                <a:gd name="T35" fmla="*/ 349 h 372"/>
                <a:gd name="T36" fmla="*/ 230 w 341"/>
                <a:gd name="T37" fmla="*/ 361 h 372"/>
                <a:gd name="T38" fmla="*/ 201 w 341"/>
                <a:gd name="T39" fmla="*/ 370 h 372"/>
                <a:gd name="T40" fmla="*/ 171 w 341"/>
                <a:gd name="T41" fmla="*/ 372 h 372"/>
                <a:gd name="T42" fmla="*/ 0 w 341"/>
                <a:gd name="T43" fmla="*/ 372 h 372"/>
                <a:gd name="T44" fmla="*/ 0 w 341"/>
                <a:gd name="T45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2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Freeform 18">
              <a:extLst>
                <a:ext uri="{FF2B5EF4-FFF2-40B4-BE49-F238E27FC236}">
                  <a16:creationId xmlns:a16="http://schemas.microsoft.com/office/drawing/2014/main" id="{8779DC63-606D-8707-B255-BC34BB882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90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0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4 h 371"/>
                <a:gd name="T16" fmla="*/ 330 w 341"/>
                <a:gd name="T17" fmla="*/ 111 h 371"/>
                <a:gd name="T18" fmla="*/ 338 w 341"/>
                <a:gd name="T19" fmla="*/ 140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0 h 371"/>
                <a:gd name="T32" fmla="*/ 280 w 341"/>
                <a:gd name="T33" fmla="*/ 331 h 371"/>
                <a:gd name="T34" fmla="*/ 257 w 341"/>
                <a:gd name="T35" fmla="*/ 348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Freeform 19">
              <a:extLst>
                <a:ext uri="{FF2B5EF4-FFF2-40B4-BE49-F238E27FC236}">
                  <a16:creationId xmlns:a16="http://schemas.microsoft.com/office/drawing/2014/main" id="{001E6A21-1117-57DD-97F0-C7E421229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339"/>
              <a:ext cx="72" cy="72"/>
            </a:xfrm>
            <a:custGeom>
              <a:avLst/>
              <a:gdLst>
                <a:gd name="T0" fmla="*/ 317 w 430"/>
                <a:gd name="T1" fmla="*/ 0 h 433"/>
                <a:gd name="T2" fmla="*/ 341 w 430"/>
                <a:gd name="T3" fmla="*/ 3 h 433"/>
                <a:gd name="T4" fmla="*/ 362 w 430"/>
                <a:gd name="T5" fmla="*/ 10 h 433"/>
                <a:gd name="T6" fmla="*/ 382 w 430"/>
                <a:gd name="T7" fmla="*/ 22 h 433"/>
                <a:gd name="T8" fmla="*/ 398 w 430"/>
                <a:gd name="T9" fmla="*/ 37 h 433"/>
                <a:gd name="T10" fmla="*/ 411 w 430"/>
                <a:gd name="T11" fmla="*/ 56 h 433"/>
                <a:gd name="T12" fmla="*/ 421 w 430"/>
                <a:gd name="T13" fmla="*/ 77 h 433"/>
                <a:gd name="T14" fmla="*/ 427 w 430"/>
                <a:gd name="T15" fmla="*/ 102 h 433"/>
                <a:gd name="T16" fmla="*/ 430 w 430"/>
                <a:gd name="T17" fmla="*/ 129 h 433"/>
                <a:gd name="T18" fmla="*/ 430 w 430"/>
                <a:gd name="T19" fmla="*/ 153 h 433"/>
                <a:gd name="T20" fmla="*/ 426 w 430"/>
                <a:gd name="T21" fmla="*/ 189 h 433"/>
                <a:gd name="T22" fmla="*/ 416 w 430"/>
                <a:gd name="T23" fmla="*/ 225 h 433"/>
                <a:gd name="T24" fmla="*/ 402 w 430"/>
                <a:gd name="T25" fmla="*/ 259 h 433"/>
                <a:gd name="T26" fmla="*/ 383 w 430"/>
                <a:gd name="T27" fmla="*/ 291 h 433"/>
                <a:gd name="T28" fmla="*/ 358 w 430"/>
                <a:gd name="T29" fmla="*/ 321 h 433"/>
                <a:gd name="T30" fmla="*/ 331 w 430"/>
                <a:gd name="T31" fmla="*/ 345 h 433"/>
                <a:gd name="T32" fmla="*/ 301 w 430"/>
                <a:gd name="T33" fmla="*/ 366 h 433"/>
                <a:gd name="T34" fmla="*/ 269 w 430"/>
                <a:gd name="T35" fmla="*/ 382 h 433"/>
                <a:gd name="T36" fmla="*/ 0 w 430"/>
                <a:gd name="T37" fmla="*/ 433 h 433"/>
                <a:gd name="T38" fmla="*/ 0 w 430"/>
                <a:gd name="T39" fmla="*/ 37 h 433"/>
                <a:gd name="T40" fmla="*/ 266 w 430"/>
                <a:gd name="T41" fmla="*/ 6 h 433"/>
                <a:gd name="T42" fmla="*/ 293 w 430"/>
                <a:gd name="T43" fmla="*/ 1 h 433"/>
                <a:gd name="T44" fmla="*/ 317 w 430"/>
                <a:gd name="T45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0" h="433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Freeform 20">
              <a:extLst>
                <a:ext uri="{FF2B5EF4-FFF2-40B4-BE49-F238E27FC236}">
                  <a16:creationId xmlns:a16="http://schemas.microsoft.com/office/drawing/2014/main" id="{40E4E939-22C7-23C5-E207-0C17601BA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" y="291"/>
              <a:ext cx="245" cy="420"/>
            </a:xfrm>
            <a:custGeom>
              <a:avLst/>
              <a:gdLst>
                <a:gd name="T0" fmla="*/ 1304 w 1472"/>
                <a:gd name="T1" fmla="*/ 0 h 2521"/>
                <a:gd name="T2" fmla="*/ 1363 w 1472"/>
                <a:gd name="T3" fmla="*/ 12 h 2521"/>
                <a:gd name="T4" fmla="*/ 1412 w 1472"/>
                <a:gd name="T5" fmla="*/ 40 h 2521"/>
                <a:gd name="T6" fmla="*/ 1449 w 1472"/>
                <a:gd name="T7" fmla="*/ 85 h 2521"/>
                <a:gd name="T8" fmla="*/ 1469 w 1472"/>
                <a:gd name="T9" fmla="*/ 140 h 2521"/>
                <a:gd name="T10" fmla="*/ 1472 w 1472"/>
                <a:gd name="T11" fmla="*/ 2351 h 2521"/>
                <a:gd name="T12" fmla="*/ 1461 w 1472"/>
                <a:gd name="T13" fmla="*/ 2411 h 2521"/>
                <a:gd name="T14" fmla="*/ 1432 w 1472"/>
                <a:gd name="T15" fmla="*/ 2461 h 2521"/>
                <a:gd name="T16" fmla="*/ 1388 w 1472"/>
                <a:gd name="T17" fmla="*/ 2498 h 2521"/>
                <a:gd name="T18" fmla="*/ 1334 w 1472"/>
                <a:gd name="T19" fmla="*/ 2519 h 2521"/>
                <a:gd name="T20" fmla="*/ 947 w 1472"/>
                <a:gd name="T21" fmla="*/ 2521 h 2521"/>
                <a:gd name="T22" fmla="*/ 955 w 1472"/>
                <a:gd name="T23" fmla="*/ 2488 h 2521"/>
                <a:gd name="T24" fmla="*/ 961 w 1472"/>
                <a:gd name="T25" fmla="*/ 2467 h 2521"/>
                <a:gd name="T26" fmla="*/ 977 w 1472"/>
                <a:gd name="T27" fmla="*/ 2383 h 2521"/>
                <a:gd name="T28" fmla="*/ 823 w 1472"/>
                <a:gd name="T29" fmla="*/ 2367 h 2521"/>
                <a:gd name="T30" fmla="*/ 838 w 1472"/>
                <a:gd name="T31" fmla="*/ 2330 h 2521"/>
                <a:gd name="T32" fmla="*/ 837 w 1472"/>
                <a:gd name="T33" fmla="*/ 2286 h 2521"/>
                <a:gd name="T34" fmla="*/ 816 w 1472"/>
                <a:gd name="T35" fmla="*/ 2244 h 2521"/>
                <a:gd name="T36" fmla="*/ 780 w 1472"/>
                <a:gd name="T37" fmla="*/ 2215 h 2521"/>
                <a:gd name="T38" fmla="*/ 733 w 1472"/>
                <a:gd name="T39" fmla="*/ 2203 h 2521"/>
                <a:gd name="T40" fmla="*/ 686 w 1472"/>
                <a:gd name="T41" fmla="*/ 2215 h 2521"/>
                <a:gd name="T42" fmla="*/ 650 w 1472"/>
                <a:gd name="T43" fmla="*/ 2244 h 2521"/>
                <a:gd name="T44" fmla="*/ 630 w 1472"/>
                <a:gd name="T45" fmla="*/ 2286 h 2521"/>
                <a:gd name="T46" fmla="*/ 629 w 1472"/>
                <a:gd name="T47" fmla="*/ 2330 h 2521"/>
                <a:gd name="T48" fmla="*/ 643 w 1472"/>
                <a:gd name="T49" fmla="*/ 2367 h 2521"/>
                <a:gd name="T50" fmla="*/ 360 w 1472"/>
                <a:gd name="T51" fmla="*/ 2383 h 2521"/>
                <a:gd name="T52" fmla="*/ 363 w 1472"/>
                <a:gd name="T53" fmla="*/ 2374 h 2521"/>
                <a:gd name="T54" fmla="*/ 369 w 1472"/>
                <a:gd name="T55" fmla="*/ 2356 h 2521"/>
                <a:gd name="T56" fmla="*/ 372 w 1472"/>
                <a:gd name="T57" fmla="*/ 2054 h 2521"/>
                <a:gd name="T58" fmla="*/ 1212 w 1472"/>
                <a:gd name="T59" fmla="*/ 2051 h 2521"/>
                <a:gd name="T60" fmla="*/ 1236 w 1472"/>
                <a:gd name="T61" fmla="*/ 2034 h 2521"/>
                <a:gd name="T62" fmla="*/ 1244 w 1472"/>
                <a:gd name="T63" fmla="*/ 2006 h 2521"/>
                <a:gd name="T64" fmla="*/ 1242 w 1472"/>
                <a:gd name="T65" fmla="*/ 313 h 2521"/>
                <a:gd name="T66" fmla="*/ 1226 w 1472"/>
                <a:gd name="T67" fmla="*/ 290 h 2521"/>
                <a:gd name="T68" fmla="*/ 1198 w 1472"/>
                <a:gd name="T69" fmla="*/ 281 h 2521"/>
                <a:gd name="T70" fmla="*/ 259 w 1472"/>
                <a:gd name="T71" fmla="*/ 284 h 2521"/>
                <a:gd name="T72" fmla="*/ 237 w 1472"/>
                <a:gd name="T73" fmla="*/ 300 h 2521"/>
                <a:gd name="T74" fmla="*/ 228 w 1472"/>
                <a:gd name="T75" fmla="*/ 328 h 2521"/>
                <a:gd name="T76" fmla="*/ 0 w 1472"/>
                <a:gd name="T77" fmla="*/ 1459 h 2521"/>
                <a:gd name="T78" fmla="*/ 3 w 1472"/>
                <a:gd name="T79" fmla="*/ 140 h 2521"/>
                <a:gd name="T80" fmla="*/ 23 w 1472"/>
                <a:gd name="T81" fmla="*/ 85 h 2521"/>
                <a:gd name="T82" fmla="*/ 60 w 1472"/>
                <a:gd name="T83" fmla="*/ 40 h 2521"/>
                <a:gd name="T84" fmla="*/ 110 w 1472"/>
                <a:gd name="T85" fmla="*/ 12 h 2521"/>
                <a:gd name="T86" fmla="*/ 169 w 1472"/>
                <a:gd name="T87" fmla="*/ 0 h 2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72" h="2521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Freeform 21">
              <a:extLst>
                <a:ext uri="{FF2B5EF4-FFF2-40B4-BE49-F238E27FC236}">
                  <a16:creationId xmlns:a16="http://schemas.microsoft.com/office/drawing/2014/main" id="{E2826FB6-3B08-FD1F-C0BB-7A02A9DB1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" y="439"/>
              <a:ext cx="403" cy="390"/>
            </a:xfrm>
            <a:custGeom>
              <a:avLst/>
              <a:gdLst>
                <a:gd name="T0" fmla="*/ 1252 w 2416"/>
                <a:gd name="T1" fmla="*/ 666 h 2337"/>
                <a:gd name="T2" fmla="*/ 2225 w 2416"/>
                <a:gd name="T3" fmla="*/ 669 h 2337"/>
                <a:gd name="T4" fmla="*/ 2293 w 2416"/>
                <a:gd name="T5" fmla="*/ 689 h 2337"/>
                <a:gd name="T6" fmla="*/ 2349 w 2416"/>
                <a:gd name="T7" fmla="*/ 727 h 2337"/>
                <a:gd name="T8" fmla="*/ 2390 w 2416"/>
                <a:gd name="T9" fmla="*/ 780 h 2337"/>
                <a:gd name="T10" fmla="*/ 2413 w 2416"/>
                <a:gd name="T11" fmla="*/ 843 h 2337"/>
                <a:gd name="T12" fmla="*/ 2413 w 2416"/>
                <a:gd name="T13" fmla="*/ 912 h 2337"/>
                <a:gd name="T14" fmla="*/ 2390 w 2416"/>
                <a:gd name="T15" fmla="*/ 976 h 2337"/>
                <a:gd name="T16" fmla="*/ 2349 w 2416"/>
                <a:gd name="T17" fmla="*/ 1029 h 2337"/>
                <a:gd name="T18" fmla="*/ 2293 w 2416"/>
                <a:gd name="T19" fmla="*/ 1067 h 2337"/>
                <a:gd name="T20" fmla="*/ 2225 w 2416"/>
                <a:gd name="T21" fmla="*/ 1087 h 2337"/>
                <a:gd name="T22" fmla="*/ 1616 w 2416"/>
                <a:gd name="T23" fmla="*/ 1090 h 2337"/>
                <a:gd name="T24" fmla="*/ 1604 w 2416"/>
                <a:gd name="T25" fmla="*/ 1504 h 2337"/>
                <a:gd name="T26" fmla="*/ 1572 w 2416"/>
                <a:gd name="T27" fmla="*/ 1577 h 2337"/>
                <a:gd name="T28" fmla="*/ 1532 w 2416"/>
                <a:gd name="T29" fmla="*/ 1647 h 2337"/>
                <a:gd name="T30" fmla="*/ 1489 w 2416"/>
                <a:gd name="T31" fmla="*/ 1714 h 2337"/>
                <a:gd name="T32" fmla="*/ 1443 w 2416"/>
                <a:gd name="T33" fmla="*/ 1775 h 2337"/>
                <a:gd name="T34" fmla="*/ 1400 w 2416"/>
                <a:gd name="T35" fmla="*/ 1829 h 2337"/>
                <a:gd name="T36" fmla="*/ 1360 w 2416"/>
                <a:gd name="T37" fmla="*/ 1873 h 2337"/>
                <a:gd name="T38" fmla="*/ 1329 w 2416"/>
                <a:gd name="T39" fmla="*/ 1907 h 2337"/>
                <a:gd name="T40" fmla="*/ 1307 w 2416"/>
                <a:gd name="T41" fmla="*/ 1929 h 2337"/>
                <a:gd name="T42" fmla="*/ 1298 w 2416"/>
                <a:gd name="T43" fmla="*/ 1937 h 2337"/>
                <a:gd name="T44" fmla="*/ 1280 w 2416"/>
                <a:gd name="T45" fmla="*/ 1968 h 2337"/>
                <a:gd name="T46" fmla="*/ 1279 w 2416"/>
                <a:gd name="T47" fmla="*/ 2002 h 2337"/>
                <a:gd name="T48" fmla="*/ 1295 w 2416"/>
                <a:gd name="T49" fmla="*/ 2034 h 2337"/>
                <a:gd name="T50" fmla="*/ 1327 w 2416"/>
                <a:gd name="T51" fmla="*/ 2053 h 2337"/>
                <a:gd name="T52" fmla="*/ 1360 w 2416"/>
                <a:gd name="T53" fmla="*/ 2054 h 2337"/>
                <a:gd name="T54" fmla="*/ 1390 w 2416"/>
                <a:gd name="T55" fmla="*/ 2037 h 2337"/>
                <a:gd name="T56" fmla="*/ 1401 w 2416"/>
                <a:gd name="T57" fmla="*/ 2026 h 2337"/>
                <a:gd name="T58" fmla="*/ 1427 w 2416"/>
                <a:gd name="T59" fmla="*/ 2001 h 2337"/>
                <a:gd name="T60" fmla="*/ 1463 w 2416"/>
                <a:gd name="T61" fmla="*/ 1963 h 2337"/>
                <a:gd name="T62" fmla="*/ 1506 w 2416"/>
                <a:gd name="T63" fmla="*/ 1913 h 2337"/>
                <a:gd name="T64" fmla="*/ 1554 w 2416"/>
                <a:gd name="T65" fmla="*/ 1855 h 2337"/>
                <a:gd name="T66" fmla="*/ 1603 w 2416"/>
                <a:gd name="T67" fmla="*/ 1787 h 2337"/>
                <a:gd name="T68" fmla="*/ 1651 w 2416"/>
                <a:gd name="T69" fmla="*/ 1712 h 2337"/>
                <a:gd name="T70" fmla="*/ 1695 w 2416"/>
                <a:gd name="T71" fmla="*/ 1633 h 2337"/>
                <a:gd name="T72" fmla="*/ 2205 w 2416"/>
                <a:gd name="T73" fmla="*/ 1592 h 2337"/>
                <a:gd name="T74" fmla="*/ 2203 w 2416"/>
                <a:gd name="T75" fmla="*/ 1604 h 2337"/>
                <a:gd name="T76" fmla="*/ 2195 w 2416"/>
                <a:gd name="T77" fmla="*/ 1637 h 2337"/>
                <a:gd name="T78" fmla="*/ 2181 w 2416"/>
                <a:gd name="T79" fmla="*/ 1686 h 2337"/>
                <a:gd name="T80" fmla="*/ 2161 w 2416"/>
                <a:gd name="T81" fmla="*/ 1746 h 2337"/>
                <a:gd name="T82" fmla="*/ 2134 w 2416"/>
                <a:gd name="T83" fmla="*/ 1814 h 2337"/>
                <a:gd name="T84" fmla="*/ 2102 w 2416"/>
                <a:gd name="T85" fmla="*/ 1886 h 2337"/>
                <a:gd name="T86" fmla="*/ 2061 w 2416"/>
                <a:gd name="T87" fmla="*/ 1955 h 2337"/>
                <a:gd name="T88" fmla="*/ 2011 w 2416"/>
                <a:gd name="T89" fmla="*/ 2017 h 2337"/>
                <a:gd name="T90" fmla="*/ 1954 w 2416"/>
                <a:gd name="T91" fmla="*/ 2068 h 2337"/>
                <a:gd name="T92" fmla="*/ 1829 w 2416"/>
                <a:gd name="T93" fmla="*/ 2148 h 2337"/>
                <a:gd name="T94" fmla="*/ 1705 w 2416"/>
                <a:gd name="T95" fmla="*/ 2212 h 2337"/>
                <a:gd name="T96" fmla="*/ 1596 w 2416"/>
                <a:gd name="T97" fmla="*/ 2265 h 2337"/>
                <a:gd name="T98" fmla="*/ 1539 w 2416"/>
                <a:gd name="T99" fmla="*/ 2291 h 2337"/>
                <a:gd name="T100" fmla="*/ 1474 w 2416"/>
                <a:gd name="T101" fmla="*/ 2314 h 2337"/>
                <a:gd name="T102" fmla="*/ 1408 w 2416"/>
                <a:gd name="T103" fmla="*/ 2331 h 2337"/>
                <a:gd name="T104" fmla="*/ 1346 w 2416"/>
                <a:gd name="T105" fmla="*/ 2337 h 2337"/>
                <a:gd name="T106" fmla="*/ 73 w 2416"/>
                <a:gd name="T107" fmla="*/ 2335 h 2337"/>
                <a:gd name="T108" fmla="*/ 35 w 2416"/>
                <a:gd name="T109" fmla="*/ 2320 h 2337"/>
                <a:gd name="T110" fmla="*/ 9 w 2416"/>
                <a:gd name="T111" fmla="*/ 2292 h 2337"/>
                <a:gd name="T112" fmla="*/ 0 w 2416"/>
                <a:gd name="T113" fmla="*/ 2255 h 2337"/>
                <a:gd name="T114" fmla="*/ 8 w 2416"/>
                <a:gd name="T115" fmla="*/ 2211 h 2337"/>
                <a:gd name="T116" fmla="*/ 623 w 2416"/>
                <a:gd name="T117" fmla="*/ 542 h 2337"/>
                <a:gd name="T118" fmla="*/ 674 w 2416"/>
                <a:gd name="T119" fmla="*/ 458 h 2337"/>
                <a:gd name="T120" fmla="*/ 738 w 2416"/>
                <a:gd name="T121" fmla="*/ 377 h 2337"/>
                <a:gd name="T122" fmla="*/ 810 w 2416"/>
                <a:gd name="T123" fmla="*/ 306 h 2337"/>
                <a:gd name="T124" fmla="*/ 882 w 2416"/>
                <a:gd name="T125" fmla="*/ 251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16" h="2337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544CB2C-AE90-ED40-275D-652E27B57B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8C176-B9FE-7E27-4CDB-2160311A3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9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04A4EA-149B-D06A-363F-A1DE12FC70DE}"/>
              </a:ext>
            </a:extLst>
          </p:cNvPr>
          <p:cNvSpPr txBox="1"/>
          <p:nvPr/>
        </p:nvSpPr>
        <p:spPr>
          <a:xfrm>
            <a:off x="0" y="744245"/>
            <a:ext cx="1204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A899FFA7-5F6C-60CB-A7E7-E4464A39A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424" y="903398"/>
            <a:ext cx="7473696" cy="2704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EC4AAF3D-6776-6CAC-B6ED-54FDF1948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3557019"/>
            <a:ext cx="5043868" cy="2837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4735FAE-9AA3-0BB6-7AC1-DCF8A2187557}"/>
              </a:ext>
            </a:extLst>
          </p:cNvPr>
          <p:cNvSpPr txBox="1"/>
          <p:nvPr/>
        </p:nvSpPr>
        <p:spPr>
          <a:xfrm>
            <a:off x="5832348" y="3922419"/>
            <a:ext cx="617677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 titled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"Temporal Trends in Education and Crime,"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illustrates changes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Performance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(left chart)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Crime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(right chart) for a selection of top states over a five-year period (2017 to 2021). The left chart shows 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declining trend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Average Overall Performance percentage for all listed states, with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Rajasthan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Madhya Pradesh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starting at the highest levels and experiencing significant drops, while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 Nadu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the lowest but most stable performance. Conversely, the right chart, which tracks Total Recorded Crime Incidents, shows a general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trend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stability for most states. Notably,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Madhya Pradesh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experiences the most dramatic increase in total crime over the period, while states like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Assam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Gujarat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show clear increases. This contrast highlights a potential inverse relationship across the analyzed states: as educational performance generally falls, crime rates generally rise or remain high.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3FD990-AC95-E76D-9C34-ED9D4A466651}"/>
              </a:ext>
            </a:extLst>
          </p:cNvPr>
          <p:cNvSpPr txBox="1"/>
          <p:nvPr/>
        </p:nvSpPr>
        <p:spPr>
          <a:xfrm>
            <a:off x="35938" y="626400"/>
            <a:ext cx="410203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chart,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"Top 10 States with Highest Child/Juvenile Crime: Performance vs. Crime,"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compares the absolute number of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Child/Juvenile Crime Incidents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(red bars, primary y-axis) with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Overall Academic Performance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percentage (blue line, secondary y-axis) for the ten states with the highest child crime. States like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Uttar Pradesh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Maharashtra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 in the highest volume of child/juvenile crime incidents. The chart reveals 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inconsistent relationship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two metrics. For instance,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Karnataka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Gujarat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relatively high overall academic performance percentages (peaks in the blue line) despite also being in the top 10 for child crime, with Karnataka's academic performance being the highest. Conversely,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 Nadu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Assam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lower academic performance percentages.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830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60EFF-1EDF-0448-AA61-2963053E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7CBF3EF0-97F9-9F55-57E6-2650FAAA6E28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7901489-C43A-5C69-9ADE-403D6A92F6CB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BAD19306-E0CB-EDC1-EFF0-D21B1072F09C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84922043-DD0B-C285-6492-9D99296A8621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8D047CBC-7A0E-76F0-A46D-95332CA4AE7D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9B9D430A-ADD4-5E5B-6B4F-6F6AC91F5860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54577592-1DD0-A724-AC73-D64A0EED7167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BAB8692A-1426-6BFA-1C7C-ED9423E2807B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16B85C65-4DA3-C8A7-0976-779F0D66F514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DAAB1A84-20E2-8367-DD4A-576944C8A680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1909178D-37E2-870A-F650-4BEAEB71A1A4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009A3D58-0901-EB6B-FA87-0EB5DCB5A49F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F9051B25-BAB6-5EC6-2184-B47A4E1B9BED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7B1F43F7-F1D9-3B0F-5C5F-1E82D9ECD7C7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96A24946-28F1-1E5C-59DF-07ED6E634C17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9250431A-7AE5-585F-EF61-57DE432FEB97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9CB4F026-5F21-FEA8-4A87-09180BBDD57A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C66503D5-2524-F8AE-C399-F9660E477E24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F7038753-FD90-95F0-A138-A80C3574EFF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B0344AF3-9913-7F4D-5A1B-8359819030D4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144FFEAC-C9BA-E135-B3E4-FA1AB3BC58E6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C8AEC8F7-AF72-3B36-9174-325F0D5A4D41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63A83D4D-AF10-2DD2-EA01-00E4A5C5088F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301265D2-F67D-1A88-1D89-87E8AF941866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C75D71A4-4D07-9FC2-9DD0-E2E90659EE3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9E922D84-9E90-0286-B8FB-3ED6AFE1E0F9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19A77588-8AE2-CD54-A680-5EBBA8071BC7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1BB7F8E5-2A9B-DD3F-2BC3-3280E836B112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D6F07CE1-7C1C-CCE8-5A70-689DA73416D3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4C98A812-7A6D-CCD8-A13E-43F5843FDFBB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C606AF30-06E3-46B2-90E2-B28011EC1A6C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2DD0011D-E547-7BDF-5B51-298C6994A6E1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71CC2F41-036F-9A0B-D900-1A61CAD36ED0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4989FE0F-2EFF-58DE-6162-531377A8A953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E8B355A9-84C1-9B06-AC53-4F8C4BD639E7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275A4F2F-5240-397E-E77F-1A1ECFFEFF3F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BEEF8CFE-AB84-A06B-DA9E-3BC12938BAAD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3E1FA9AD-E591-76A5-708B-44147008D930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277D41A-9851-B66F-9AE8-87319BFE09B6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FF386225-EBB3-366F-4A1A-9F2328C9AB3D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91BFB864-1FE7-D886-BA4F-C0E322E94741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35F55683-C578-5342-1538-0998B548D61A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1EFEEEB7-8B2A-0424-E8E7-EA1491C4FF05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8FDA734E-1642-E824-E022-AAA8F3C2CC63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1CAFC2A8-6C20-9759-A864-EF78190EB05F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5BF91927-A0FC-7FFB-532F-879D97ECBC68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98988E6B-C031-AD37-9250-B7464C3D4E16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E7233C00-6495-34AE-62A2-A04C03B8C608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2AE985AC-A8D2-F273-AF05-8823051AD64C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DDFF7870-4AA9-7D7D-FF5B-8295276438B8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54FFF151-8623-F08A-73FB-D1AEFB08C24F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9D706075-6660-5757-885A-9E4F1DBBBB9F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840F9C04-8407-92DA-3C9F-55DD1C58CDC6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ABA04FFC-486B-8BF8-4F99-BCB36D1A0C77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AF2F6FFD-3500-66BB-F946-170E6747E5CC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7CDC3101-5EEB-7AD6-0B47-9583F5610418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1CBFCCBA-5FCA-7B07-6599-6FAEF0B9B26B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232E222E-093C-EF33-AFC5-04F291ED8A5F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41D536F8-870F-22DF-6C1C-C71F7818BB0D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33D75EB5-C6A5-26C7-1FC5-F583CD9CBC18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8F6A45C7-8BFE-A0E6-137E-6559C4EE6210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C03C281D-CA88-031C-84B1-10A1DB34EDD3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1BC47D96-7D5D-45CB-E85B-76970358CF87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6BC86C18-01CA-1F72-1C01-B9FCBE60C072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0B109552-5CAE-3473-DA2E-19FE00F9372F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23051BC1-6580-0DF3-29DE-0558B4123133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8E499B7C-8DE1-BEAA-6884-6F73602A572A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61645598-EA5D-C083-C43D-42AD81CD96FC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4CA81138-87BA-4265-9E42-2D3DC1F5D461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5DABC9D8-304E-B527-F819-1699E7A894DE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2E5E02C1-0C0F-56E5-B7AB-EF9F88221583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95C339A0-B9FF-9847-FD44-3DAB106CC10D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D2110459-354F-4692-FE0B-61C7361269B9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7C627558-4C3A-8A11-8301-97C9F9409CE8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E9E610E-2FB8-4B0F-9CF8-B87F3CD900A1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CE54D8B9-64F1-E54F-BB11-DBF4CAC3A309}"/>
              </a:ext>
            </a:extLst>
          </p:cNvPr>
          <p:cNvSpPr txBox="1"/>
          <p:nvPr/>
        </p:nvSpPr>
        <p:spPr>
          <a:xfrm>
            <a:off x="7483294" y="2282149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49E352A-BB9B-DBCF-11CD-B78310E20A54}"/>
              </a:ext>
            </a:extLst>
          </p:cNvPr>
          <p:cNvSpPr txBox="1"/>
          <p:nvPr/>
        </p:nvSpPr>
        <p:spPr>
          <a:xfrm>
            <a:off x="6095999" y="4927086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5A5DED5E-975A-1B03-97DA-A438110EE83F}"/>
              </a:ext>
            </a:extLst>
          </p:cNvPr>
          <p:cNvSpPr txBox="1"/>
          <p:nvPr/>
        </p:nvSpPr>
        <p:spPr>
          <a:xfrm>
            <a:off x="3436733" y="3563674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359" name="Freeform 6">
            <a:extLst>
              <a:ext uri="{FF2B5EF4-FFF2-40B4-BE49-F238E27FC236}">
                <a16:creationId xmlns:a16="http://schemas.microsoft.com/office/drawing/2014/main" id="{4B92F70E-F5D0-375F-5A15-E73E812A13E4}"/>
              </a:ext>
            </a:extLst>
          </p:cNvPr>
          <p:cNvSpPr>
            <a:spLocks noEditPoints="1"/>
          </p:cNvSpPr>
          <p:nvPr/>
        </p:nvSpPr>
        <p:spPr bwMode="auto">
          <a:xfrm>
            <a:off x="5133215" y="3730542"/>
            <a:ext cx="668338" cy="687387"/>
          </a:xfrm>
          <a:custGeom>
            <a:avLst/>
            <a:gdLst>
              <a:gd name="T0" fmla="*/ 1078 w 3366"/>
              <a:gd name="T1" fmla="*/ 2244 h 3464"/>
              <a:gd name="T2" fmla="*/ 1804 w 3366"/>
              <a:gd name="T3" fmla="*/ 2131 h 3464"/>
              <a:gd name="T4" fmla="*/ 1741 w 3366"/>
              <a:gd name="T5" fmla="*/ 452 h 3464"/>
              <a:gd name="T6" fmla="*/ 1878 w 3366"/>
              <a:gd name="T7" fmla="*/ 927 h 3464"/>
              <a:gd name="T8" fmla="*/ 1741 w 3366"/>
              <a:gd name="T9" fmla="*/ 452 h 3464"/>
              <a:gd name="T10" fmla="*/ 281 w 3366"/>
              <a:gd name="T11" fmla="*/ 3183 h 3464"/>
              <a:gd name="T12" fmla="*/ 2387 w 3366"/>
              <a:gd name="T13" fmla="*/ 1716 h 3464"/>
              <a:gd name="T14" fmla="*/ 2088 w 3366"/>
              <a:gd name="T15" fmla="*/ 2021 h 3464"/>
              <a:gd name="T16" fmla="*/ 1886 w 3366"/>
              <a:gd name="T17" fmla="*/ 2215 h 3464"/>
              <a:gd name="T18" fmla="*/ 2088 w 3366"/>
              <a:gd name="T19" fmla="*/ 2463 h 3464"/>
              <a:gd name="T20" fmla="*/ 580 w 3366"/>
              <a:gd name="T21" fmla="*/ 2604 h 3464"/>
              <a:gd name="T22" fmla="*/ 870 w 3366"/>
              <a:gd name="T23" fmla="*/ 2463 h 3464"/>
              <a:gd name="T24" fmla="*/ 580 w 3366"/>
              <a:gd name="T25" fmla="*/ 2021 h 3464"/>
              <a:gd name="T26" fmla="*/ 1110 w 3366"/>
              <a:gd name="T27" fmla="*/ 1880 h 3464"/>
              <a:gd name="T28" fmla="*/ 1366 w 3366"/>
              <a:gd name="T29" fmla="*/ 1438 h 3464"/>
              <a:gd name="T30" fmla="*/ 580 w 3366"/>
              <a:gd name="T31" fmla="*/ 1296 h 3464"/>
              <a:gd name="T32" fmla="*/ 1666 w 3366"/>
              <a:gd name="T33" fmla="*/ 1138 h 3464"/>
              <a:gd name="T34" fmla="*/ 1532 w 3366"/>
              <a:gd name="T35" fmla="*/ 281 h 3464"/>
              <a:gd name="T36" fmla="*/ 0 w 3366"/>
              <a:gd name="T37" fmla="*/ 0 h 3464"/>
              <a:gd name="T38" fmla="*/ 2241 w 3366"/>
              <a:gd name="T39" fmla="*/ 565 h 3464"/>
              <a:gd name="T40" fmla="*/ 2661 w 3366"/>
              <a:gd name="T41" fmla="*/ 150 h 3464"/>
              <a:gd name="T42" fmla="*/ 2712 w 3366"/>
              <a:gd name="T43" fmla="*/ 117 h 3464"/>
              <a:gd name="T44" fmla="*/ 2765 w 3366"/>
              <a:gd name="T45" fmla="*/ 97 h 3464"/>
              <a:gd name="T46" fmla="*/ 2816 w 3366"/>
              <a:gd name="T47" fmla="*/ 90 h 3464"/>
              <a:gd name="T48" fmla="*/ 2863 w 3366"/>
              <a:gd name="T49" fmla="*/ 100 h 3464"/>
              <a:gd name="T50" fmla="*/ 2900 w 3366"/>
              <a:gd name="T51" fmla="*/ 125 h 3464"/>
              <a:gd name="T52" fmla="*/ 3347 w 3366"/>
              <a:gd name="T53" fmla="*/ 578 h 3464"/>
              <a:gd name="T54" fmla="*/ 3364 w 3366"/>
              <a:gd name="T55" fmla="*/ 626 h 3464"/>
              <a:gd name="T56" fmla="*/ 3363 w 3366"/>
              <a:gd name="T57" fmla="*/ 680 h 3464"/>
              <a:gd name="T58" fmla="*/ 3344 w 3366"/>
              <a:gd name="T59" fmla="*/ 739 h 3464"/>
              <a:gd name="T60" fmla="*/ 3310 w 3366"/>
              <a:gd name="T61" fmla="*/ 796 h 3464"/>
              <a:gd name="T62" fmla="*/ 2668 w 3366"/>
              <a:gd name="T63" fmla="*/ 1437 h 3464"/>
              <a:gd name="T64" fmla="*/ 0 w 3366"/>
              <a:gd name="T65" fmla="*/ 3464 h 3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366" h="3464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" name="Freeform 11">
            <a:extLst>
              <a:ext uri="{FF2B5EF4-FFF2-40B4-BE49-F238E27FC236}">
                <a16:creationId xmlns:a16="http://schemas.microsoft.com/office/drawing/2014/main" id="{C777E056-3E92-6E67-B32A-09ADBC56E8AE}"/>
              </a:ext>
            </a:extLst>
          </p:cNvPr>
          <p:cNvSpPr>
            <a:spLocks noEditPoints="1"/>
          </p:cNvSpPr>
          <p:nvPr/>
        </p:nvSpPr>
        <p:spPr bwMode="auto">
          <a:xfrm>
            <a:off x="5130834" y="2538361"/>
            <a:ext cx="673100" cy="503238"/>
          </a:xfrm>
          <a:custGeom>
            <a:avLst/>
            <a:gdLst>
              <a:gd name="T0" fmla="*/ 2212 w 3390"/>
              <a:gd name="T1" fmla="*/ 1401 h 2540"/>
              <a:gd name="T2" fmla="*/ 2082 w 3390"/>
              <a:gd name="T3" fmla="*/ 1890 h 2540"/>
              <a:gd name="T4" fmla="*/ 2394 w 3390"/>
              <a:gd name="T5" fmla="*/ 2275 h 2540"/>
              <a:gd name="T6" fmla="*/ 2900 w 3390"/>
              <a:gd name="T7" fmla="*/ 2249 h 2540"/>
              <a:gd name="T8" fmla="*/ 3170 w 3390"/>
              <a:gd name="T9" fmla="*/ 1832 h 2540"/>
              <a:gd name="T10" fmla="*/ 2991 w 3390"/>
              <a:gd name="T11" fmla="*/ 1361 h 2540"/>
              <a:gd name="T12" fmla="*/ 707 w 3390"/>
              <a:gd name="T13" fmla="*/ 1223 h 2540"/>
              <a:gd name="T14" fmla="*/ 290 w 3390"/>
              <a:gd name="T15" fmla="*/ 1493 h 2540"/>
              <a:gd name="T16" fmla="*/ 264 w 3390"/>
              <a:gd name="T17" fmla="*/ 1999 h 2540"/>
              <a:gd name="T18" fmla="*/ 649 w 3390"/>
              <a:gd name="T19" fmla="*/ 2312 h 2540"/>
              <a:gd name="T20" fmla="*/ 1137 w 3390"/>
              <a:gd name="T21" fmla="*/ 2182 h 2540"/>
              <a:gd name="T22" fmla="*/ 1316 w 3390"/>
              <a:gd name="T23" fmla="*/ 1712 h 2540"/>
              <a:gd name="T24" fmla="*/ 1046 w 3390"/>
              <a:gd name="T25" fmla="*/ 1295 h 2540"/>
              <a:gd name="T26" fmla="*/ 1556 w 3390"/>
              <a:gd name="T27" fmla="*/ 896 h 2540"/>
              <a:gd name="T28" fmla="*/ 1337 w 3390"/>
              <a:gd name="T29" fmla="*/ 1029 h 2540"/>
              <a:gd name="T30" fmla="*/ 1556 w 3390"/>
              <a:gd name="T31" fmla="*/ 1160 h 2540"/>
              <a:gd name="T32" fmla="*/ 1947 w 3390"/>
              <a:gd name="T33" fmla="*/ 1130 h 2540"/>
              <a:gd name="T34" fmla="*/ 2024 w 3390"/>
              <a:gd name="T35" fmla="*/ 973 h 2540"/>
              <a:gd name="T36" fmla="*/ 1695 w 3390"/>
              <a:gd name="T37" fmla="*/ 886 h 2540"/>
              <a:gd name="T38" fmla="*/ 1950 w 3390"/>
              <a:gd name="T39" fmla="*/ 406 h 2540"/>
              <a:gd name="T40" fmla="*/ 2007 w 3390"/>
              <a:gd name="T41" fmla="*/ 460 h 2540"/>
              <a:gd name="T42" fmla="*/ 2283 w 3390"/>
              <a:gd name="T43" fmla="*/ 342 h 2540"/>
              <a:gd name="T44" fmla="*/ 2422 w 3390"/>
              <a:gd name="T45" fmla="*/ 372 h 2540"/>
              <a:gd name="T46" fmla="*/ 2439 w 3390"/>
              <a:gd name="T47" fmla="*/ 294 h 2540"/>
              <a:gd name="T48" fmla="*/ 2260 w 3390"/>
              <a:gd name="T49" fmla="*/ 260 h 2540"/>
              <a:gd name="T50" fmla="*/ 954 w 3390"/>
              <a:gd name="T51" fmla="*/ 292 h 2540"/>
              <a:gd name="T52" fmla="*/ 955 w 3390"/>
              <a:gd name="T53" fmla="*/ 371 h 2540"/>
              <a:gd name="T54" fmla="*/ 1078 w 3390"/>
              <a:gd name="T55" fmla="*/ 346 h 2540"/>
              <a:gd name="T56" fmla="*/ 1326 w 3390"/>
              <a:gd name="T57" fmla="*/ 400 h 2540"/>
              <a:gd name="T58" fmla="*/ 1445 w 3390"/>
              <a:gd name="T59" fmla="*/ 441 h 2540"/>
              <a:gd name="T60" fmla="*/ 1225 w 3390"/>
              <a:gd name="T61" fmla="*/ 268 h 2540"/>
              <a:gd name="T62" fmla="*/ 1449 w 3390"/>
              <a:gd name="T63" fmla="*/ 92 h 2540"/>
              <a:gd name="T64" fmla="*/ 1505 w 3390"/>
              <a:gd name="T65" fmla="*/ 324 h 2540"/>
              <a:gd name="T66" fmla="*/ 1529 w 3390"/>
              <a:gd name="T67" fmla="*/ 705 h 2540"/>
              <a:gd name="T68" fmla="*/ 1626 w 3390"/>
              <a:gd name="T69" fmla="*/ 626 h 2540"/>
              <a:gd name="T70" fmla="*/ 1745 w 3390"/>
              <a:gd name="T71" fmla="*/ 610 h 2540"/>
              <a:gd name="T72" fmla="*/ 1828 w 3390"/>
              <a:gd name="T73" fmla="*/ 699 h 2540"/>
              <a:gd name="T74" fmla="*/ 1879 w 3390"/>
              <a:gd name="T75" fmla="*/ 406 h 2540"/>
              <a:gd name="T76" fmla="*/ 1904 w 3390"/>
              <a:gd name="T77" fmla="*/ 153 h 2540"/>
              <a:gd name="T78" fmla="*/ 2166 w 3390"/>
              <a:gd name="T79" fmla="*/ 1 h 2540"/>
              <a:gd name="T80" fmla="*/ 2396 w 3390"/>
              <a:gd name="T81" fmla="*/ 155 h 2540"/>
              <a:gd name="T82" fmla="*/ 2582 w 3390"/>
              <a:gd name="T83" fmla="*/ 410 h 2540"/>
              <a:gd name="T84" fmla="*/ 2844 w 3390"/>
              <a:gd name="T85" fmla="*/ 783 h 2540"/>
              <a:gd name="T86" fmla="*/ 3126 w 3390"/>
              <a:gd name="T87" fmla="*/ 1187 h 2540"/>
              <a:gd name="T88" fmla="*/ 3292 w 3390"/>
              <a:gd name="T89" fmla="*/ 1426 h 2540"/>
              <a:gd name="T90" fmla="*/ 3390 w 3390"/>
              <a:gd name="T91" fmla="*/ 1772 h 2540"/>
              <a:gd name="T92" fmla="*/ 3166 w 3390"/>
              <a:gd name="T93" fmla="*/ 2314 h 2540"/>
              <a:gd name="T94" fmla="*/ 2624 w 3390"/>
              <a:gd name="T95" fmla="*/ 2540 h 2540"/>
              <a:gd name="T96" fmla="*/ 2082 w 3390"/>
              <a:gd name="T97" fmla="*/ 2314 h 2540"/>
              <a:gd name="T98" fmla="*/ 1859 w 3390"/>
              <a:gd name="T99" fmla="*/ 1772 h 2540"/>
              <a:gd name="T100" fmla="*/ 1805 w 3390"/>
              <a:gd name="T101" fmla="*/ 1469 h 2540"/>
              <a:gd name="T102" fmla="*/ 1547 w 3390"/>
              <a:gd name="T103" fmla="*/ 1507 h 2540"/>
              <a:gd name="T104" fmla="*/ 1468 w 3390"/>
              <a:gd name="T105" fmla="*/ 2101 h 2540"/>
              <a:gd name="T106" fmla="*/ 1039 w 3390"/>
              <a:gd name="T107" fmla="*/ 2491 h 2540"/>
              <a:gd name="T108" fmla="*/ 442 w 3390"/>
              <a:gd name="T109" fmla="*/ 2466 h 2540"/>
              <a:gd name="T110" fmla="*/ 48 w 3390"/>
              <a:gd name="T111" fmla="*/ 2039 h 2540"/>
              <a:gd name="T112" fmla="*/ 34 w 3390"/>
              <a:gd name="T113" fmla="*/ 1579 h 2540"/>
              <a:gd name="T114" fmla="*/ 170 w 3390"/>
              <a:gd name="T115" fmla="*/ 1318 h 2540"/>
              <a:gd name="T116" fmla="*/ 413 w 3390"/>
              <a:gd name="T117" fmla="*/ 972 h 2540"/>
              <a:gd name="T118" fmla="*/ 703 w 3390"/>
              <a:gd name="T119" fmla="*/ 558 h 2540"/>
              <a:gd name="T120" fmla="*/ 888 w 3390"/>
              <a:gd name="T121" fmla="*/ 294 h 2540"/>
              <a:gd name="T122" fmla="*/ 1124 w 3390"/>
              <a:gd name="T123" fmla="*/ 34 h 2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0" h="254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61" name="Group 14">
            <a:extLst>
              <a:ext uri="{FF2B5EF4-FFF2-40B4-BE49-F238E27FC236}">
                <a16:creationId xmlns:a16="http://schemas.microsoft.com/office/drawing/2014/main" id="{D78A6CB7-58C9-42D9-F2E3-B6E6E41928E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45373" y="2438267"/>
            <a:ext cx="713404" cy="692800"/>
            <a:chOff x="638" y="291"/>
            <a:chExt cx="554" cy="538"/>
          </a:xfrm>
          <a:solidFill>
            <a:schemeClr val="bg1"/>
          </a:solidFill>
        </p:grpSpPr>
        <p:sp>
          <p:nvSpPr>
            <p:cNvPr id="362" name="Freeform 16">
              <a:extLst>
                <a:ext uri="{FF2B5EF4-FFF2-40B4-BE49-F238E27FC236}">
                  <a16:creationId xmlns:a16="http://schemas.microsoft.com/office/drawing/2014/main" id="{444E4040-7AE8-2A64-4D6A-7C2122546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444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1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6 h 371"/>
                <a:gd name="T16" fmla="*/ 330 w 341"/>
                <a:gd name="T17" fmla="*/ 111 h 371"/>
                <a:gd name="T18" fmla="*/ 338 w 341"/>
                <a:gd name="T19" fmla="*/ 141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1 h 371"/>
                <a:gd name="T32" fmla="*/ 280 w 341"/>
                <a:gd name="T33" fmla="*/ 331 h 371"/>
                <a:gd name="T34" fmla="*/ 257 w 341"/>
                <a:gd name="T35" fmla="*/ 349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Freeform 17">
              <a:extLst>
                <a:ext uri="{FF2B5EF4-FFF2-40B4-BE49-F238E27FC236}">
                  <a16:creationId xmlns:a16="http://schemas.microsoft.com/office/drawing/2014/main" id="{85296ABB-7C05-D795-3A87-62624C0EA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17"/>
              <a:ext cx="57" cy="62"/>
            </a:xfrm>
            <a:custGeom>
              <a:avLst/>
              <a:gdLst>
                <a:gd name="T0" fmla="*/ 0 w 341"/>
                <a:gd name="T1" fmla="*/ 0 h 372"/>
                <a:gd name="T2" fmla="*/ 171 w 341"/>
                <a:gd name="T3" fmla="*/ 0 h 372"/>
                <a:gd name="T4" fmla="*/ 201 w 341"/>
                <a:gd name="T5" fmla="*/ 4 h 372"/>
                <a:gd name="T6" fmla="*/ 230 w 341"/>
                <a:gd name="T7" fmla="*/ 11 h 372"/>
                <a:gd name="T8" fmla="*/ 257 w 341"/>
                <a:gd name="T9" fmla="*/ 24 h 372"/>
                <a:gd name="T10" fmla="*/ 280 w 341"/>
                <a:gd name="T11" fmla="*/ 41 h 372"/>
                <a:gd name="T12" fmla="*/ 301 w 341"/>
                <a:gd name="T13" fmla="*/ 61 h 372"/>
                <a:gd name="T14" fmla="*/ 317 w 341"/>
                <a:gd name="T15" fmla="*/ 85 h 372"/>
                <a:gd name="T16" fmla="*/ 330 w 341"/>
                <a:gd name="T17" fmla="*/ 112 h 372"/>
                <a:gd name="T18" fmla="*/ 338 w 341"/>
                <a:gd name="T19" fmla="*/ 141 h 372"/>
                <a:gd name="T20" fmla="*/ 341 w 341"/>
                <a:gd name="T21" fmla="*/ 172 h 372"/>
                <a:gd name="T22" fmla="*/ 341 w 341"/>
                <a:gd name="T23" fmla="*/ 201 h 372"/>
                <a:gd name="T24" fmla="*/ 338 w 341"/>
                <a:gd name="T25" fmla="*/ 231 h 372"/>
                <a:gd name="T26" fmla="*/ 330 w 341"/>
                <a:gd name="T27" fmla="*/ 260 h 372"/>
                <a:gd name="T28" fmla="*/ 317 w 341"/>
                <a:gd name="T29" fmla="*/ 287 h 372"/>
                <a:gd name="T30" fmla="*/ 301 w 341"/>
                <a:gd name="T31" fmla="*/ 311 h 372"/>
                <a:gd name="T32" fmla="*/ 280 w 341"/>
                <a:gd name="T33" fmla="*/ 332 h 372"/>
                <a:gd name="T34" fmla="*/ 257 w 341"/>
                <a:gd name="T35" fmla="*/ 349 h 372"/>
                <a:gd name="T36" fmla="*/ 230 w 341"/>
                <a:gd name="T37" fmla="*/ 361 h 372"/>
                <a:gd name="T38" fmla="*/ 201 w 341"/>
                <a:gd name="T39" fmla="*/ 370 h 372"/>
                <a:gd name="T40" fmla="*/ 171 w 341"/>
                <a:gd name="T41" fmla="*/ 372 h 372"/>
                <a:gd name="T42" fmla="*/ 0 w 341"/>
                <a:gd name="T43" fmla="*/ 372 h 372"/>
                <a:gd name="T44" fmla="*/ 0 w 341"/>
                <a:gd name="T45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2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Freeform 18">
              <a:extLst>
                <a:ext uri="{FF2B5EF4-FFF2-40B4-BE49-F238E27FC236}">
                  <a16:creationId xmlns:a16="http://schemas.microsoft.com/office/drawing/2014/main" id="{0C103253-F21A-BB22-2B77-68885CEED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90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0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4 h 371"/>
                <a:gd name="T16" fmla="*/ 330 w 341"/>
                <a:gd name="T17" fmla="*/ 111 h 371"/>
                <a:gd name="T18" fmla="*/ 338 w 341"/>
                <a:gd name="T19" fmla="*/ 140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0 h 371"/>
                <a:gd name="T32" fmla="*/ 280 w 341"/>
                <a:gd name="T33" fmla="*/ 331 h 371"/>
                <a:gd name="T34" fmla="*/ 257 w 341"/>
                <a:gd name="T35" fmla="*/ 348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Freeform 19">
              <a:extLst>
                <a:ext uri="{FF2B5EF4-FFF2-40B4-BE49-F238E27FC236}">
                  <a16:creationId xmlns:a16="http://schemas.microsoft.com/office/drawing/2014/main" id="{EAA8B0F6-6DCE-BB07-3D93-44851085B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339"/>
              <a:ext cx="72" cy="72"/>
            </a:xfrm>
            <a:custGeom>
              <a:avLst/>
              <a:gdLst>
                <a:gd name="T0" fmla="*/ 317 w 430"/>
                <a:gd name="T1" fmla="*/ 0 h 433"/>
                <a:gd name="T2" fmla="*/ 341 w 430"/>
                <a:gd name="T3" fmla="*/ 3 h 433"/>
                <a:gd name="T4" fmla="*/ 362 w 430"/>
                <a:gd name="T5" fmla="*/ 10 h 433"/>
                <a:gd name="T6" fmla="*/ 382 w 430"/>
                <a:gd name="T7" fmla="*/ 22 h 433"/>
                <a:gd name="T8" fmla="*/ 398 w 430"/>
                <a:gd name="T9" fmla="*/ 37 h 433"/>
                <a:gd name="T10" fmla="*/ 411 w 430"/>
                <a:gd name="T11" fmla="*/ 56 h 433"/>
                <a:gd name="T12" fmla="*/ 421 w 430"/>
                <a:gd name="T13" fmla="*/ 77 h 433"/>
                <a:gd name="T14" fmla="*/ 427 w 430"/>
                <a:gd name="T15" fmla="*/ 102 h 433"/>
                <a:gd name="T16" fmla="*/ 430 w 430"/>
                <a:gd name="T17" fmla="*/ 129 h 433"/>
                <a:gd name="T18" fmla="*/ 430 w 430"/>
                <a:gd name="T19" fmla="*/ 153 h 433"/>
                <a:gd name="T20" fmla="*/ 426 w 430"/>
                <a:gd name="T21" fmla="*/ 189 h 433"/>
                <a:gd name="T22" fmla="*/ 416 w 430"/>
                <a:gd name="T23" fmla="*/ 225 h 433"/>
                <a:gd name="T24" fmla="*/ 402 w 430"/>
                <a:gd name="T25" fmla="*/ 259 h 433"/>
                <a:gd name="T26" fmla="*/ 383 w 430"/>
                <a:gd name="T27" fmla="*/ 291 h 433"/>
                <a:gd name="T28" fmla="*/ 358 w 430"/>
                <a:gd name="T29" fmla="*/ 321 h 433"/>
                <a:gd name="T30" fmla="*/ 331 w 430"/>
                <a:gd name="T31" fmla="*/ 345 h 433"/>
                <a:gd name="T32" fmla="*/ 301 w 430"/>
                <a:gd name="T33" fmla="*/ 366 h 433"/>
                <a:gd name="T34" fmla="*/ 269 w 430"/>
                <a:gd name="T35" fmla="*/ 382 h 433"/>
                <a:gd name="T36" fmla="*/ 0 w 430"/>
                <a:gd name="T37" fmla="*/ 433 h 433"/>
                <a:gd name="T38" fmla="*/ 0 w 430"/>
                <a:gd name="T39" fmla="*/ 37 h 433"/>
                <a:gd name="T40" fmla="*/ 266 w 430"/>
                <a:gd name="T41" fmla="*/ 6 h 433"/>
                <a:gd name="T42" fmla="*/ 293 w 430"/>
                <a:gd name="T43" fmla="*/ 1 h 433"/>
                <a:gd name="T44" fmla="*/ 317 w 430"/>
                <a:gd name="T45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0" h="433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Freeform 20">
              <a:extLst>
                <a:ext uri="{FF2B5EF4-FFF2-40B4-BE49-F238E27FC236}">
                  <a16:creationId xmlns:a16="http://schemas.microsoft.com/office/drawing/2014/main" id="{685D1F20-4AD6-61AC-6B82-F5246B894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" y="291"/>
              <a:ext cx="245" cy="420"/>
            </a:xfrm>
            <a:custGeom>
              <a:avLst/>
              <a:gdLst>
                <a:gd name="T0" fmla="*/ 1304 w 1472"/>
                <a:gd name="T1" fmla="*/ 0 h 2521"/>
                <a:gd name="T2" fmla="*/ 1363 w 1472"/>
                <a:gd name="T3" fmla="*/ 12 h 2521"/>
                <a:gd name="T4" fmla="*/ 1412 w 1472"/>
                <a:gd name="T5" fmla="*/ 40 h 2521"/>
                <a:gd name="T6" fmla="*/ 1449 w 1472"/>
                <a:gd name="T7" fmla="*/ 85 h 2521"/>
                <a:gd name="T8" fmla="*/ 1469 w 1472"/>
                <a:gd name="T9" fmla="*/ 140 h 2521"/>
                <a:gd name="T10" fmla="*/ 1472 w 1472"/>
                <a:gd name="T11" fmla="*/ 2351 h 2521"/>
                <a:gd name="T12" fmla="*/ 1461 w 1472"/>
                <a:gd name="T13" fmla="*/ 2411 h 2521"/>
                <a:gd name="T14" fmla="*/ 1432 w 1472"/>
                <a:gd name="T15" fmla="*/ 2461 h 2521"/>
                <a:gd name="T16" fmla="*/ 1388 w 1472"/>
                <a:gd name="T17" fmla="*/ 2498 h 2521"/>
                <a:gd name="T18" fmla="*/ 1334 w 1472"/>
                <a:gd name="T19" fmla="*/ 2519 h 2521"/>
                <a:gd name="T20" fmla="*/ 947 w 1472"/>
                <a:gd name="T21" fmla="*/ 2521 h 2521"/>
                <a:gd name="T22" fmla="*/ 955 w 1472"/>
                <a:gd name="T23" fmla="*/ 2488 h 2521"/>
                <a:gd name="T24" fmla="*/ 961 w 1472"/>
                <a:gd name="T25" fmla="*/ 2467 h 2521"/>
                <a:gd name="T26" fmla="*/ 977 w 1472"/>
                <a:gd name="T27" fmla="*/ 2383 h 2521"/>
                <a:gd name="T28" fmla="*/ 823 w 1472"/>
                <a:gd name="T29" fmla="*/ 2367 h 2521"/>
                <a:gd name="T30" fmla="*/ 838 w 1472"/>
                <a:gd name="T31" fmla="*/ 2330 h 2521"/>
                <a:gd name="T32" fmla="*/ 837 w 1472"/>
                <a:gd name="T33" fmla="*/ 2286 h 2521"/>
                <a:gd name="T34" fmla="*/ 816 w 1472"/>
                <a:gd name="T35" fmla="*/ 2244 h 2521"/>
                <a:gd name="T36" fmla="*/ 780 w 1472"/>
                <a:gd name="T37" fmla="*/ 2215 h 2521"/>
                <a:gd name="T38" fmla="*/ 733 w 1472"/>
                <a:gd name="T39" fmla="*/ 2203 h 2521"/>
                <a:gd name="T40" fmla="*/ 686 w 1472"/>
                <a:gd name="T41" fmla="*/ 2215 h 2521"/>
                <a:gd name="T42" fmla="*/ 650 w 1472"/>
                <a:gd name="T43" fmla="*/ 2244 h 2521"/>
                <a:gd name="T44" fmla="*/ 630 w 1472"/>
                <a:gd name="T45" fmla="*/ 2286 h 2521"/>
                <a:gd name="T46" fmla="*/ 629 w 1472"/>
                <a:gd name="T47" fmla="*/ 2330 h 2521"/>
                <a:gd name="T48" fmla="*/ 643 w 1472"/>
                <a:gd name="T49" fmla="*/ 2367 h 2521"/>
                <a:gd name="T50" fmla="*/ 360 w 1472"/>
                <a:gd name="T51" fmla="*/ 2383 h 2521"/>
                <a:gd name="T52" fmla="*/ 363 w 1472"/>
                <a:gd name="T53" fmla="*/ 2374 h 2521"/>
                <a:gd name="T54" fmla="*/ 369 w 1472"/>
                <a:gd name="T55" fmla="*/ 2356 h 2521"/>
                <a:gd name="T56" fmla="*/ 372 w 1472"/>
                <a:gd name="T57" fmla="*/ 2054 h 2521"/>
                <a:gd name="T58" fmla="*/ 1212 w 1472"/>
                <a:gd name="T59" fmla="*/ 2051 h 2521"/>
                <a:gd name="T60" fmla="*/ 1236 w 1472"/>
                <a:gd name="T61" fmla="*/ 2034 h 2521"/>
                <a:gd name="T62" fmla="*/ 1244 w 1472"/>
                <a:gd name="T63" fmla="*/ 2006 h 2521"/>
                <a:gd name="T64" fmla="*/ 1242 w 1472"/>
                <a:gd name="T65" fmla="*/ 313 h 2521"/>
                <a:gd name="T66" fmla="*/ 1226 w 1472"/>
                <a:gd name="T67" fmla="*/ 290 h 2521"/>
                <a:gd name="T68" fmla="*/ 1198 w 1472"/>
                <a:gd name="T69" fmla="*/ 281 h 2521"/>
                <a:gd name="T70" fmla="*/ 259 w 1472"/>
                <a:gd name="T71" fmla="*/ 284 h 2521"/>
                <a:gd name="T72" fmla="*/ 237 w 1472"/>
                <a:gd name="T73" fmla="*/ 300 h 2521"/>
                <a:gd name="T74" fmla="*/ 228 w 1472"/>
                <a:gd name="T75" fmla="*/ 328 h 2521"/>
                <a:gd name="T76" fmla="*/ 0 w 1472"/>
                <a:gd name="T77" fmla="*/ 1459 h 2521"/>
                <a:gd name="T78" fmla="*/ 3 w 1472"/>
                <a:gd name="T79" fmla="*/ 140 h 2521"/>
                <a:gd name="T80" fmla="*/ 23 w 1472"/>
                <a:gd name="T81" fmla="*/ 85 h 2521"/>
                <a:gd name="T82" fmla="*/ 60 w 1472"/>
                <a:gd name="T83" fmla="*/ 40 h 2521"/>
                <a:gd name="T84" fmla="*/ 110 w 1472"/>
                <a:gd name="T85" fmla="*/ 12 h 2521"/>
                <a:gd name="T86" fmla="*/ 169 w 1472"/>
                <a:gd name="T87" fmla="*/ 0 h 2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72" h="2521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Freeform 21">
              <a:extLst>
                <a:ext uri="{FF2B5EF4-FFF2-40B4-BE49-F238E27FC236}">
                  <a16:creationId xmlns:a16="http://schemas.microsoft.com/office/drawing/2014/main" id="{99E807D9-3953-DEF5-4CE9-A39FF5329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" y="439"/>
              <a:ext cx="403" cy="390"/>
            </a:xfrm>
            <a:custGeom>
              <a:avLst/>
              <a:gdLst>
                <a:gd name="T0" fmla="*/ 1252 w 2416"/>
                <a:gd name="T1" fmla="*/ 666 h 2337"/>
                <a:gd name="T2" fmla="*/ 2225 w 2416"/>
                <a:gd name="T3" fmla="*/ 669 h 2337"/>
                <a:gd name="T4" fmla="*/ 2293 w 2416"/>
                <a:gd name="T5" fmla="*/ 689 h 2337"/>
                <a:gd name="T6" fmla="*/ 2349 w 2416"/>
                <a:gd name="T7" fmla="*/ 727 h 2337"/>
                <a:gd name="T8" fmla="*/ 2390 w 2416"/>
                <a:gd name="T9" fmla="*/ 780 h 2337"/>
                <a:gd name="T10" fmla="*/ 2413 w 2416"/>
                <a:gd name="T11" fmla="*/ 843 h 2337"/>
                <a:gd name="T12" fmla="*/ 2413 w 2416"/>
                <a:gd name="T13" fmla="*/ 912 h 2337"/>
                <a:gd name="T14" fmla="*/ 2390 w 2416"/>
                <a:gd name="T15" fmla="*/ 976 h 2337"/>
                <a:gd name="T16" fmla="*/ 2349 w 2416"/>
                <a:gd name="T17" fmla="*/ 1029 h 2337"/>
                <a:gd name="T18" fmla="*/ 2293 w 2416"/>
                <a:gd name="T19" fmla="*/ 1067 h 2337"/>
                <a:gd name="T20" fmla="*/ 2225 w 2416"/>
                <a:gd name="T21" fmla="*/ 1087 h 2337"/>
                <a:gd name="T22" fmla="*/ 1616 w 2416"/>
                <a:gd name="T23" fmla="*/ 1090 h 2337"/>
                <a:gd name="T24" fmla="*/ 1604 w 2416"/>
                <a:gd name="T25" fmla="*/ 1504 h 2337"/>
                <a:gd name="T26" fmla="*/ 1572 w 2416"/>
                <a:gd name="T27" fmla="*/ 1577 h 2337"/>
                <a:gd name="T28" fmla="*/ 1532 w 2416"/>
                <a:gd name="T29" fmla="*/ 1647 h 2337"/>
                <a:gd name="T30" fmla="*/ 1489 w 2416"/>
                <a:gd name="T31" fmla="*/ 1714 h 2337"/>
                <a:gd name="T32" fmla="*/ 1443 w 2416"/>
                <a:gd name="T33" fmla="*/ 1775 h 2337"/>
                <a:gd name="T34" fmla="*/ 1400 w 2416"/>
                <a:gd name="T35" fmla="*/ 1829 h 2337"/>
                <a:gd name="T36" fmla="*/ 1360 w 2416"/>
                <a:gd name="T37" fmla="*/ 1873 h 2337"/>
                <a:gd name="T38" fmla="*/ 1329 w 2416"/>
                <a:gd name="T39" fmla="*/ 1907 h 2337"/>
                <a:gd name="T40" fmla="*/ 1307 w 2416"/>
                <a:gd name="T41" fmla="*/ 1929 h 2337"/>
                <a:gd name="T42" fmla="*/ 1298 w 2416"/>
                <a:gd name="T43" fmla="*/ 1937 h 2337"/>
                <a:gd name="T44" fmla="*/ 1280 w 2416"/>
                <a:gd name="T45" fmla="*/ 1968 h 2337"/>
                <a:gd name="T46" fmla="*/ 1279 w 2416"/>
                <a:gd name="T47" fmla="*/ 2002 h 2337"/>
                <a:gd name="T48" fmla="*/ 1295 w 2416"/>
                <a:gd name="T49" fmla="*/ 2034 h 2337"/>
                <a:gd name="T50" fmla="*/ 1327 w 2416"/>
                <a:gd name="T51" fmla="*/ 2053 h 2337"/>
                <a:gd name="T52" fmla="*/ 1360 w 2416"/>
                <a:gd name="T53" fmla="*/ 2054 h 2337"/>
                <a:gd name="T54" fmla="*/ 1390 w 2416"/>
                <a:gd name="T55" fmla="*/ 2037 h 2337"/>
                <a:gd name="T56" fmla="*/ 1401 w 2416"/>
                <a:gd name="T57" fmla="*/ 2026 h 2337"/>
                <a:gd name="T58" fmla="*/ 1427 w 2416"/>
                <a:gd name="T59" fmla="*/ 2001 h 2337"/>
                <a:gd name="T60" fmla="*/ 1463 w 2416"/>
                <a:gd name="T61" fmla="*/ 1963 h 2337"/>
                <a:gd name="T62" fmla="*/ 1506 w 2416"/>
                <a:gd name="T63" fmla="*/ 1913 h 2337"/>
                <a:gd name="T64" fmla="*/ 1554 w 2416"/>
                <a:gd name="T65" fmla="*/ 1855 h 2337"/>
                <a:gd name="T66" fmla="*/ 1603 w 2416"/>
                <a:gd name="T67" fmla="*/ 1787 h 2337"/>
                <a:gd name="T68" fmla="*/ 1651 w 2416"/>
                <a:gd name="T69" fmla="*/ 1712 h 2337"/>
                <a:gd name="T70" fmla="*/ 1695 w 2416"/>
                <a:gd name="T71" fmla="*/ 1633 h 2337"/>
                <a:gd name="T72" fmla="*/ 2205 w 2416"/>
                <a:gd name="T73" fmla="*/ 1592 h 2337"/>
                <a:gd name="T74" fmla="*/ 2203 w 2416"/>
                <a:gd name="T75" fmla="*/ 1604 h 2337"/>
                <a:gd name="T76" fmla="*/ 2195 w 2416"/>
                <a:gd name="T77" fmla="*/ 1637 h 2337"/>
                <a:gd name="T78" fmla="*/ 2181 w 2416"/>
                <a:gd name="T79" fmla="*/ 1686 h 2337"/>
                <a:gd name="T80" fmla="*/ 2161 w 2416"/>
                <a:gd name="T81" fmla="*/ 1746 h 2337"/>
                <a:gd name="T82" fmla="*/ 2134 w 2416"/>
                <a:gd name="T83" fmla="*/ 1814 h 2337"/>
                <a:gd name="T84" fmla="*/ 2102 w 2416"/>
                <a:gd name="T85" fmla="*/ 1886 h 2337"/>
                <a:gd name="T86" fmla="*/ 2061 w 2416"/>
                <a:gd name="T87" fmla="*/ 1955 h 2337"/>
                <a:gd name="T88" fmla="*/ 2011 w 2416"/>
                <a:gd name="T89" fmla="*/ 2017 h 2337"/>
                <a:gd name="T90" fmla="*/ 1954 w 2416"/>
                <a:gd name="T91" fmla="*/ 2068 h 2337"/>
                <a:gd name="T92" fmla="*/ 1829 w 2416"/>
                <a:gd name="T93" fmla="*/ 2148 h 2337"/>
                <a:gd name="T94" fmla="*/ 1705 w 2416"/>
                <a:gd name="T95" fmla="*/ 2212 h 2337"/>
                <a:gd name="T96" fmla="*/ 1596 w 2416"/>
                <a:gd name="T97" fmla="*/ 2265 h 2337"/>
                <a:gd name="T98" fmla="*/ 1539 w 2416"/>
                <a:gd name="T99" fmla="*/ 2291 h 2337"/>
                <a:gd name="T100" fmla="*/ 1474 w 2416"/>
                <a:gd name="T101" fmla="*/ 2314 h 2337"/>
                <a:gd name="T102" fmla="*/ 1408 w 2416"/>
                <a:gd name="T103" fmla="*/ 2331 h 2337"/>
                <a:gd name="T104" fmla="*/ 1346 w 2416"/>
                <a:gd name="T105" fmla="*/ 2337 h 2337"/>
                <a:gd name="T106" fmla="*/ 73 w 2416"/>
                <a:gd name="T107" fmla="*/ 2335 h 2337"/>
                <a:gd name="T108" fmla="*/ 35 w 2416"/>
                <a:gd name="T109" fmla="*/ 2320 h 2337"/>
                <a:gd name="T110" fmla="*/ 9 w 2416"/>
                <a:gd name="T111" fmla="*/ 2292 h 2337"/>
                <a:gd name="T112" fmla="*/ 0 w 2416"/>
                <a:gd name="T113" fmla="*/ 2255 h 2337"/>
                <a:gd name="T114" fmla="*/ 8 w 2416"/>
                <a:gd name="T115" fmla="*/ 2211 h 2337"/>
                <a:gd name="T116" fmla="*/ 623 w 2416"/>
                <a:gd name="T117" fmla="*/ 542 h 2337"/>
                <a:gd name="T118" fmla="*/ 674 w 2416"/>
                <a:gd name="T119" fmla="*/ 458 h 2337"/>
                <a:gd name="T120" fmla="*/ 738 w 2416"/>
                <a:gd name="T121" fmla="*/ 377 h 2337"/>
                <a:gd name="T122" fmla="*/ 810 w 2416"/>
                <a:gd name="T123" fmla="*/ 306 h 2337"/>
                <a:gd name="T124" fmla="*/ 882 w 2416"/>
                <a:gd name="T125" fmla="*/ 251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16" h="2337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8" name="Freeform 26">
            <a:extLst>
              <a:ext uri="{FF2B5EF4-FFF2-40B4-BE49-F238E27FC236}">
                <a16:creationId xmlns:a16="http://schemas.microsoft.com/office/drawing/2014/main" id="{B746DB92-DDC6-2643-B3E9-C3CCB1ED8711}"/>
              </a:ext>
            </a:extLst>
          </p:cNvPr>
          <p:cNvSpPr>
            <a:spLocks noEditPoints="1"/>
          </p:cNvSpPr>
          <p:nvPr/>
        </p:nvSpPr>
        <p:spPr bwMode="auto">
          <a:xfrm>
            <a:off x="6549005" y="3730542"/>
            <a:ext cx="355600" cy="695325"/>
          </a:xfrm>
          <a:custGeom>
            <a:avLst/>
            <a:gdLst>
              <a:gd name="T0" fmla="*/ 765 w 1790"/>
              <a:gd name="T1" fmla="*/ 1570 h 3502"/>
              <a:gd name="T2" fmla="*/ 778 w 1790"/>
              <a:gd name="T3" fmla="*/ 1793 h 3502"/>
              <a:gd name="T4" fmla="*/ 871 w 1790"/>
              <a:gd name="T5" fmla="*/ 1683 h 3502"/>
              <a:gd name="T6" fmla="*/ 1004 w 1790"/>
              <a:gd name="T7" fmla="*/ 1655 h 3502"/>
              <a:gd name="T8" fmla="*/ 1083 w 1790"/>
              <a:gd name="T9" fmla="*/ 1817 h 3502"/>
              <a:gd name="T10" fmla="*/ 1132 w 1790"/>
              <a:gd name="T11" fmla="*/ 1601 h 3502"/>
              <a:gd name="T12" fmla="*/ 942 w 1790"/>
              <a:gd name="T13" fmla="*/ 1469 h 3502"/>
              <a:gd name="T14" fmla="*/ 660 w 1790"/>
              <a:gd name="T15" fmla="*/ 1357 h 3502"/>
              <a:gd name="T16" fmla="*/ 517 w 1790"/>
              <a:gd name="T17" fmla="*/ 1673 h 3502"/>
              <a:gd name="T18" fmla="*/ 667 w 1790"/>
              <a:gd name="T19" fmla="*/ 1992 h 3502"/>
              <a:gd name="T20" fmla="*/ 775 w 1790"/>
              <a:gd name="T21" fmla="*/ 1920 h 3502"/>
              <a:gd name="T22" fmla="*/ 640 w 1790"/>
              <a:gd name="T23" fmla="*/ 1673 h 3502"/>
              <a:gd name="T24" fmla="*/ 777 w 1790"/>
              <a:gd name="T25" fmla="*/ 1421 h 3502"/>
              <a:gd name="T26" fmla="*/ 1068 w 1790"/>
              <a:gd name="T27" fmla="*/ 1401 h 3502"/>
              <a:gd name="T28" fmla="*/ 1239 w 1790"/>
              <a:gd name="T29" fmla="*/ 1629 h 3502"/>
              <a:gd name="T30" fmla="*/ 1133 w 1790"/>
              <a:gd name="T31" fmla="*/ 1903 h 3502"/>
              <a:gd name="T32" fmla="*/ 1228 w 1790"/>
              <a:gd name="T33" fmla="*/ 1980 h 3502"/>
              <a:gd name="T34" fmla="*/ 1365 w 1790"/>
              <a:gd name="T35" fmla="*/ 1673 h 3502"/>
              <a:gd name="T36" fmla="*/ 1223 w 1790"/>
              <a:gd name="T37" fmla="*/ 1357 h 3502"/>
              <a:gd name="T38" fmla="*/ 942 w 1790"/>
              <a:gd name="T39" fmla="*/ 1203 h 3502"/>
              <a:gd name="T40" fmla="*/ 1276 w 1790"/>
              <a:gd name="T41" fmla="*/ 1340 h 3502"/>
              <a:gd name="T42" fmla="*/ 1414 w 1790"/>
              <a:gd name="T43" fmla="*/ 1673 h 3502"/>
              <a:gd name="T44" fmla="*/ 1279 w 1790"/>
              <a:gd name="T45" fmla="*/ 2000 h 3502"/>
              <a:gd name="T46" fmla="*/ 1090 w 1790"/>
              <a:gd name="T47" fmla="*/ 2385 h 3502"/>
              <a:gd name="T48" fmla="*/ 1166 w 1790"/>
              <a:gd name="T49" fmla="*/ 2179 h 3502"/>
              <a:gd name="T50" fmla="*/ 1288 w 1790"/>
              <a:gd name="T51" fmla="*/ 2232 h 3502"/>
              <a:gd name="T52" fmla="*/ 1346 w 1790"/>
              <a:gd name="T53" fmla="*/ 2232 h 3502"/>
              <a:gd name="T54" fmla="*/ 1468 w 1790"/>
              <a:gd name="T55" fmla="*/ 2179 h 3502"/>
              <a:gd name="T56" fmla="*/ 1543 w 1790"/>
              <a:gd name="T57" fmla="*/ 2385 h 3502"/>
              <a:gd name="T58" fmla="*/ 1637 w 1790"/>
              <a:gd name="T59" fmla="*/ 2187 h 3502"/>
              <a:gd name="T60" fmla="*/ 1768 w 1790"/>
              <a:gd name="T61" fmla="*/ 2213 h 3502"/>
              <a:gd name="T62" fmla="*/ 1789 w 1790"/>
              <a:gd name="T63" fmla="*/ 3085 h 3502"/>
              <a:gd name="T64" fmla="*/ 1779 w 1790"/>
              <a:gd name="T65" fmla="*/ 3164 h 3502"/>
              <a:gd name="T66" fmla="*/ 1707 w 1790"/>
              <a:gd name="T67" fmla="*/ 3330 h 3502"/>
              <a:gd name="T68" fmla="*/ 1511 w 1790"/>
              <a:gd name="T69" fmla="*/ 3473 h 3502"/>
              <a:gd name="T70" fmla="*/ 1163 w 1790"/>
              <a:gd name="T71" fmla="*/ 3487 h 3502"/>
              <a:gd name="T72" fmla="*/ 934 w 1790"/>
              <a:gd name="T73" fmla="*/ 3373 h 3502"/>
              <a:gd name="T74" fmla="*/ 858 w 1790"/>
              <a:gd name="T75" fmla="*/ 3263 h 3502"/>
              <a:gd name="T76" fmla="*/ 768 w 1790"/>
              <a:gd name="T77" fmla="*/ 3106 h 3502"/>
              <a:gd name="T78" fmla="*/ 630 w 1790"/>
              <a:gd name="T79" fmla="*/ 2864 h 3502"/>
              <a:gd name="T80" fmla="*/ 521 w 1790"/>
              <a:gd name="T81" fmla="*/ 2667 h 3502"/>
              <a:gd name="T82" fmla="*/ 507 w 1790"/>
              <a:gd name="T83" fmla="*/ 2517 h 3502"/>
              <a:gd name="T84" fmla="*/ 636 w 1790"/>
              <a:gd name="T85" fmla="*/ 2496 h 3502"/>
              <a:gd name="T86" fmla="*/ 816 w 1790"/>
              <a:gd name="T87" fmla="*/ 2700 h 3502"/>
              <a:gd name="T88" fmla="*/ 615 w 1790"/>
              <a:gd name="T89" fmla="*/ 2011 h 3502"/>
              <a:gd name="T90" fmla="*/ 469 w 1790"/>
              <a:gd name="T91" fmla="*/ 1673 h 3502"/>
              <a:gd name="T92" fmla="*/ 608 w 1790"/>
              <a:gd name="T93" fmla="*/ 1340 h 3502"/>
              <a:gd name="T94" fmla="*/ 942 w 1790"/>
              <a:gd name="T95" fmla="*/ 1203 h 3502"/>
              <a:gd name="T96" fmla="*/ 639 w 1790"/>
              <a:gd name="T97" fmla="*/ 188 h 3502"/>
              <a:gd name="T98" fmla="*/ 1056 w 1790"/>
              <a:gd name="T99" fmla="*/ 141 h 3502"/>
              <a:gd name="T100" fmla="*/ 1625 w 1790"/>
              <a:gd name="T101" fmla="*/ 46 h 3502"/>
              <a:gd name="T102" fmla="*/ 1558 w 1790"/>
              <a:gd name="T103" fmla="*/ 2034 h 3502"/>
              <a:gd name="T104" fmla="*/ 161 w 1790"/>
              <a:gd name="T105" fmla="*/ 2902 h 3502"/>
              <a:gd name="T106" fmla="*/ 3 w 1790"/>
              <a:gd name="T107" fmla="*/ 2744 h 3502"/>
              <a:gd name="T108" fmla="*/ 71 w 1790"/>
              <a:gd name="T109" fmla="*/ 46 h 3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790" h="3502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AADAD4-616D-6CEE-D772-7CF2103560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086E2-EDE4-EDDD-5646-DA3E500D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10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1137E-BEBE-A552-E453-EA7204BFB79D}"/>
              </a:ext>
            </a:extLst>
          </p:cNvPr>
          <p:cNvSpPr txBox="1"/>
          <p:nvPr/>
        </p:nvSpPr>
        <p:spPr>
          <a:xfrm>
            <a:off x="3106480" y="2388205"/>
            <a:ext cx="51308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US" sz="48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40731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2666</TotalTime>
  <Words>1811</Words>
  <Application>Microsoft Office PowerPoint</Application>
  <PresentationFormat>Widescreen</PresentationFormat>
  <Paragraphs>142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Devansh Singh</cp:lastModifiedBy>
  <cp:revision>125</cp:revision>
  <dcterms:created xsi:type="dcterms:W3CDTF">2024-06-03T04:50:38Z</dcterms:created>
  <dcterms:modified xsi:type="dcterms:W3CDTF">2025-11-11T10:40:27Z</dcterms:modified>
</cp:coreProperties>
</file>